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6400800" cy="64008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D'ETUDES  •  CETUD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8778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 et mise en oeuvre d'une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decisionnelle pour l'analyse et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l'optimisation du transport urbain de Dakar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 +  Machine Learning  au service de la mobilite urbaine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4434840"/>
            <a:ext cx="292608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 par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Ibtihel Abdellaoui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Encadrants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[Encadrant academique] / [Encadrant CETUD]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Annee universitaire 2025 - 2026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5440680"/>
            <a:ext cx="724205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440680"/>
            <a:ext cx="72420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66037" y="544068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6037" y="544068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09037" y="5440680"/>
            <a:ext cx="799186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09037" y="5440680"/>
            <a:ext cx="799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Knowage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27094" y="5440680"/>
            <a:ext cx="799186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7094" y="5440680"/>
            <a:ext cx="799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45152" y="5440680"/>
            <a:ext cx="649224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5440680"/>
            <a:ext cx="649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13248" y="5440680"/>
            <a:ext cx="1174090" cy="384048"/>
          </a:xfrm>
          <a:prstGeom prst="roundRect">
            <a:avLst>
              <a:gd name="adj" fmla="val 50000"/>
            </a:avLst>
          </a:prstGeom>
          <a:solidFill>
            <a:srgbClr val="162C44"/>
          </a:solidFill>
          <a:ln w="12700">
            <a:solidFill>
              <a:srgbClr val="3350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13248" y="5440680"/>
            <a:ext cx="11740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presentation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600200" y="1874520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7" name="Image 0" descr="/sessions/laughing-focused-lamport/mnt/outputs/pptx_pfe/icons_out/bullsey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582" y="2002902"/>
            <a:ext cx="237012" cy="237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331720" y="183794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331720" y="2167128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CETUD, problematique, objectifs, methodologie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624328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2624328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1600200" y="2715768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3" name="Image 1" descr="/sessions/laughing-focused-lamport/mnt/outputs/pptx_pfe/icons_out/search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582" y="2844150"/>
            <a:ext cx="237012" cy="2370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31720" y="2679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conception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331720" y="3008376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KPIs, modele decisionnel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3465576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3465576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Shape 14"/>
          <p:cNvSpPr/>
          <p:nvPr/>
        </p:nvSpPr>
        <p:spPr>
          <a:xfrm>
            <a:off x="1600200" y="3557016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9" name="Image 2" descr="/sessions/laughing-focused-lamport/mnt/outputs/pptx_pfe/icons_out/cogs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582" y="3685398"/>
            <a:ext cx="237012" cy="2370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331720" y="35204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technique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331720" y="3849624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Environnement, ETL Talend, entrepot PostgreSQL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40080" y="4306824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68680" y="4306824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Shape 19"/>
          <p:cNvSpPr/>
          <p:nvPr/>
        </p:nvSpPr>
        <p:spPr>
          <a:xfrm>
            <a:off x="1600200" y="4398264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5" name="Image 3" descr="/sessions/laughing-focused-lamport/mnt/outputs/pptx_pfe/icons_out/brain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582" y="4526646"/>
            <a:ext cx="237012" cy="23701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331720" y="4361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2331720" y="4690872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recommandation, anomalies, risques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0080" y="514807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68680" y="5148072"/>
            <a:ext cx="822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DE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Shape 24"/>
          <p:cNvSpPr/>
          <p:nvPr/>
        </p:nvSpPr>
        <p:spPr>
          <a:xfrm>
            <a:off x="1600200" y="5239512"/>
            <a:ext cx="493776" cy="493776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1" name="Image 4" descr="/sessions/laughing-focused-lamport/mnt/outputs/pptx_pfe/icons_out/char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8582" y="5367894"/>
            <a:ext cx="237012" cy="23701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331720" y="520293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Restitution &amp; demonstration</a:t>
            </a:r>
            <a:endParaRPr lang="en-US" sz="1700" dirty="0"/>
          </a:p>
        </p:txBody>
      </p:sp>
      <p:sp>
        <p:nvSpPr>
          <p:cNvPr id="33" name="Text 26"/>
          <p:cNvSpPr/>
          <p:nvPr/>
        </p:nvSpPr>
        <p:spPr>
          <a:xfrm>
            <a:off x="2331720" y="553212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Knowage, application web, perspectives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bullsey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du projet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CETUD, problematique, objectifs et methodologie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CETUD : organisme d'accueil &amp; problematique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build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000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CETUD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Executif des Transports Urbains de Dakar : autorite organisatrice de la mobilite urbaine dans l'agglomeration dakaroise.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</a:t>
            </a:r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planifier, reguler et ameliorer l'offre de transport (bus, cars rapides, TER, BRT) au service des citoyens.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457200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Besoin : </a:t>
            </a:r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exploiter les donnees d'enquete et de trafic existantes pour fonder les decisions sur des faits, pas des intuitions.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45352" y="1783080"/>
            <a:ext cx="5303520" cy="4160520"/>
          </a:xfrm>
          <a:prstGeom prst="roundRect">
            <a:avLst>
              <a:gd name="adj" fmla="val 175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9672" y="2057400"/>
            <a:ext cx="548640" cy="54864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3" name="Image 1" descr="/sessions/laughing-focused-lamport/mnt/outputs/pptx_pfe/icons_out/warning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318" y="220004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problematique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19672" y="26974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CETUD dispose de donnees riches (EMD, comptages de trafic) mais dispersees, non structurees et sous-exploitees.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19672" y="36576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transformer ces donnees brutes en informations decisionnelles fiables, et aller au-dela du reporting grace au Machine Learning ?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519672" y="51206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Double reponse : un systeme decisionnel (BI) et des modeles predictifs (ML).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search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457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Analyser les besoins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182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les decideurs CETUD et leurs besoins analytiques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10312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1" name="Image 1" descr="/sessions/laughing-focused-lamport/mnt/outputs/pptx_pfe/icons_out/sitemap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366" y="22457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Modeliser l'entrepot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617720" y="3182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 schema decisionnel en constellation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10312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6" name="Image 2" descr="/sessions/laughing-focused-lamport/mnt/outputs/pptx_pfe/icons_out/cogs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686" y="224576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7889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Construire l'ETL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21040" y="318211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Alimenter l'entrepot via Talend depuis les sources EMD/trafic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25196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1" name="Image 3" descr="/sessions/laughing-focused-lamport/mnt/outputs/pptx_pfe/icons_out/chart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" y="43946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Restituer les KPIs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14400" y="5330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 BI pour le pilotage de la mobilite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25196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6" name="Image 4" descr="/sessions/laughing-focused-lamport/mnt/outputs/pptx_pfe/icons_out/brain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366" y="439460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Aller au-dela du reporting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617720" y="5330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 et detection d'anomalies par ML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977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251960"/>
            <a:ext cx="548640" cy="54864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1" name="Image 5" descr="/sessions/laughing-focused-lamport/mnt/outputs/pptx_pfe/icons_out/laptop_orang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686" y="439460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49377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Livrer une application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21040" y="53309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interface React pour citoyens et decideurs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Methodologie GIMSI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gims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5120640" cy="4032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80760" y="182880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309360" y="203911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7" name="Text 4"/>
          <p:cNvSpPr/>
          <p:nvPr/>
        </p:nvSpPr>
        <p:spPr>
          <a:xfrm>
            <a:off x="6309360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03720" y="19019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903720" y="22494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donnees sources disponibles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80760" y="283464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09360" y="304495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3044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903720" y="2907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Conception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903720" y="3255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decisionnel en constellation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80760" y="384048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309360" y="405079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903720" y="39136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903720" y="426110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Talend, entrepot PostgreSQL, cockpit Knowage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080760" y="4846320"/>
            <a:ext cx="5468112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09360" y="5056632"/>
            <a:ext cx="420624" cy="420624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22" name="Text 19"/>
          <p:cNvSpPr/>
          <p:nvPr/>
        </p:nvSpPr>
        <p:spPr>
          <a:xfrm>
            <a:off x="6309360" y="5056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903720" y="49194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Amelioration permanente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903720" y="52669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Modeles ML, application web, perspectives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Methodologie de gestion de projet : Scrum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complement de GIMSI (cadrage decisionnel), le pilotage operationnel du projet a suivi une approche agile Scrum, organisee en sprints iteratifs.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59636" y="2697480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7" name="Image 0" descr="/sessions/laughing-focused-lamport/mnt/outputs/pptx_pfe/icons_out/clipboard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7037" y="2844881"/>
            <a:ext cx="272125" cy="2721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88920" y="2423160"/>
            <a:ext cx="365760" cy="36576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9" name="Text 6"/>
          <p:cNvSpPr/>
          <p:nvPr/>
        </p:nvSpPr>
        <p:spPr>
          <a:xfrm>
            <a:off x="27889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34290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de produit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4672" y="3931920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priorisee des besoins et fonctionnalites (BI, ETL, ML, application) a livrer.</a:t>
            </a:r>
            <a:endParaRPr lang="en-US" sz="1080" dirty="0"/>
          </a:p>
        </p:txBody>
      </p:sp>
      <p:pic>
        <p:nvPicPr>
          <p:cNvPr id="12" name="Image 1" descr="/sessions/laughing-focused-lamport/mnt/outputs/pptx_pfe/icons_out/arrow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696" y="3703320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93008" y="242316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12564" y="2697480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5" name="Image 2" descr="/sessions/laughing-focused-lamport/mnt/outputs/pptx_pfe/icons_out/tasks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965" y="2844881"/>
            <a:ext cx="272125" cy="27212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41848" y="2423160"/>
            <a:ext cx="365760" cy="36576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7" name="Text 12"/>
          <p:cNvSpPr/>
          <p:nvPr/>
        </p:nvSpPr>
        <p:spPr>
          <a:xfrm>
            <a:off x="5641848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657600" y="34290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657600" y="3931920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courtes dediees a un lot de fonctionnalites (ex. : un job ETL, un modele ML).</a:t>
            </a:r>
            <a:endParaRPr lang="en-US" sz="1080" dirty="0"/>
          </a:p>
        </p:txBody>
      </p:sp>
      <p:pic>
        <p:nvPicPr>
          <p:cNvPr id="20" name="Image 3" descr="/sessions/laughing-focused-lamport/mnt/outputs/pptx_pfe/icons_out/arrowrigh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3703320"/>
            <a:ext cx="164592" cy="164592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345936" y="242316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365492" y="2697480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3" name="Image 4" descr="/sessions/laughing-focused-lamport/mnt/outputs/pptx_pfe/icons_out/check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2893" y="2844881"/>
            <a:ext cx="272125" cy="27212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494776" y="2423160"/>
            <a:ext cx="365760" cy="36576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25" name="Text 18"/>
          <p:cNvSpPr/>
          <p:nvPr/>
        </p:nvSpPr>
        <p:spPr>
          <a:xfrm>
            <a:off x="8494776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510528" y="34290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Revues de sprint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510528" y="3931920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des livrables et recueil des retours en fin de chaque iteration.</a:t>
            </a:r>
            <a:endParaRPr lang="en-US" sz="1080" dirty="0"/>
          </a:p>
        </p:txBody>
      </p:sp>
      <p:pic>
        <p:nvPicPr>
          <p:cNvPr id="28" name="Image 5" descr="/sessions/laughing-focused-lamport/mnt/outputs/pptx_pfe/icons_out/arrowrigh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8552" y="3703320"/>
            <a:ext cx="164592" cy="16459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9198864" y="242316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10218420" y="2697480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1" name="Image 6" descr="/sessions/laughing-focused-lamport/mnt/outputs/pptx_pfe/icons_out/chartline_orang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5821" y="2844881"/>
            <a:ext cx="272125" cy="27212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11347704" y="2423160"/>
            <a:ext cx="365760" cy="36576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33" name="Text 24"/>
          <p:cNvSpPr/>
          <p:nvPr/>
        </p:nvSpPr>
        <p:spPr>
          <a:xfrm>
            <a:off x="11347704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9363456" y="3429000"/>
            <a:ext cx="2276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Amelioration continue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9363456" y="3931920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du backlog et du modele en fonction des retours obtenus.</a:t>
            </a:r>
            <a:endParaRPr lang="en-US" sz="1080" dirty="0"/>
          </a:p>
        </p:txBody>
      </p:sp>
      <p:sp>
        <p:nvSpPr>
          <p:cNvPr id="36" name="Shape 27"/>
          <p:cNvSpPr/>
          <p:nvPr/>
        </p:nvSpPr>
        <p:spPr>
          <a:xfrm>
            <a:off x="640080" y="5486400"/>
            <a:ext cx="10908792" cy="822960"/>
          </a:xfrm>
          <a:prstGeom prst="roundRect">
            <a:avLst>
              <a:gd name="adj" fmla="val 8889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914400" y="54864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 : l'ajout de la table de faits Fait_Accessibilite et de ses 3 dimensions en cours de projet, suite a un besoin identifie lors d'une revue de sprint.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search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&amp; conception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Decideurs, besoins, KPIs et modele decisionnel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Decideurs cibles et besoins identifies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6" name="Image 0" descr="/sessions/laughing-focused-lamport/mnt/outputs/pptx_pfe/icons_out/user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71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Directeur de planification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0120" y="39319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l'offre, comprendre la demande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ASSOCIE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60120" y="4846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de deplacements par jour et par zone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8288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29400" y="2148840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14" name="Image 1" descr="/sessions/laughing-focused-lamport/mnt/outputs/pptx_pfe/icons_out/cogs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821" y="231526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29400" y="2971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Responsable d'exploitation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629400" y="3657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629400" y="39319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horaires et frequences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629400" y="4572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ASSOCIE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629400" y="48463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de pointe, charge par creneau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donnees sources mobilisees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13 415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enquetes (EMD)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3008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3 176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657600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menages enquetes (EMD)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45936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5936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10528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comptage de trafic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98864" y="182880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98864" y="1993392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37 248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363456" y="288036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de trafic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10908792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069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Blocs de variables exploites dans l'EMD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Geographie du domicile (quartier, strate, district)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Caracteristiques du menage (taille, logement, equipement)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Deplacements individuels (motif, mode, duree, cout)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aux transports et services (ecole, daara)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Problemes de quartier (manque de TC, inondations, enclavement)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des donnees (EDA) &amp; dictionnaire de donnees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8521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9659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discovery (notebook Jupyter)</a:t>
            </a:r>
            <a:endParaRPr lang="en-US" sz="1500" dirty="0"/>
          </a:p>
        </p:txBody>
      </p:sp>
      <p:pic>
        <p:nvPicPr>
          <p:cNvPr id="6" name="Image 0" descr="/sessions/laughing-focused-lamport/mnt/outputs/pptx_pfe/icons_out/check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50545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4140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Volumetrie &amp; structure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2588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de la volumetrie et de la structure des 4 tables sources</a:t>
            </a:r>
            <a:endParaRPr lang="en-US" sz="1080" dirty="0"/>
          </a:p>
        </p:txBody>
      </p:sp>
      <p:pic>
        <p:nvPicPr>
          <p:cNvPr id="9" name="Image 1" descr="/sessions/laughing-focused-lamport/mnt/outputs/pptx_pfe/icons_out/check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8269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1912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325880" y="3474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des nulls colonne par colonne (ex. 104/231 cols. pour Menage)</a:t>
            </a:r>
            <a:endParaRPr lang="en-US" sz="1080" dirty="0"/>
          </a:p>
        </p:txBody>
      </p:sp>
      <p:pic>
        <p:nvPicPr>
          <p:cNvPr id="12" name="Image 2" descr="/sessions/laughing-focused-lamport/mnt/outputs/pptx_pfe/icons_out/check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0599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9684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aberrantes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32588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des outliers (regle IQR) sur les variables numeriques</a:t>
            </a:r>
            <a:endParaRPr lang="en-US" sz="1080" dirty="0"/>
          </a:p>
        </p:txBody>
      </p:sp>
      <p:pic>
        <p:nvPicPr>
          <p:cNvPr id="15" name="Image 3" descr="/sessions/laughing-focused-lamport/mnt/outputs/pptx_pfe/icons_out/check_oran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3717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7457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325880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de l'absence de doublons stricts dans les exports sources</a:t>
            </a:r>
            <a:endParaRPr lang="en-US" sz="1080" dirty="0"/>
          </a:p>
        </p:txBody>
      </p:sp>
      <p:sp>
        <p:nvSpPr>
          <p:cNvPr id="18" name="Text 12"/>
          <p:cNvSpPr/>
          <p:nvPr/>
        </p:nvSpPr>
        <p:spPr>
          <a:xfrm>
            <a:off x="914400" y="55961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: EDA_CETUD_DataDiscovery.ipynb -- execute sur les 4 fichiers sources reels.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702552" y="1783080"/>
            <a:ext cx="4846320" cy="4434840"/>
          </a:xfrm>
          <a:prstGeom prst="roundRect">
            <a:avLst>
              <a:gd name="adj" fmla="val 1649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976872" y="2057400"/>
            <a:ext cx="548640" cy="54864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21" name="Image 4" descr="/sessions/laughing-focused-lamport/mnt/outputs/pptx_pfe/icons_out/layer_oran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518" y="2200046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2668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Dossier "CETUD DATA"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6976872" y="26974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en complement du rapport, ce dossier regroupe :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6976872" y="3063240"/>
            <a:ext cx="4297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sources bruts (Excel .xls/.xlsx et CSV)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Dictionnaire de donnees (Dictionnaire_Donnees_CETUD.xlsx) : colonne, description metier, mapping vers le modele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EDA et ses resultats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d'ecran de la structure des tables sous pgAdmin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Specification des indicateurs cles (KPIs)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d'accessibilite composite (0-100)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Duree de marche jusqu'a l'arret TC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 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Diversite des modes de TC disponibles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pts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749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inondable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0" y="3749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 pts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4297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mode disponible en cas de pluie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4297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 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846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 abusive en periode de pluie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 pts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36792" y="1828800"/>
            <a:ext cx="5212080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11112" y="2057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Typologie des zones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11112" y="2670048"/>
            <a:ext cx="237744" cy="237744"/>
          </a:xfrm>
          <a:prstGeom prst="ellipse">
            <a:avLst/>
          </a:prstGeom>
          <a:solidFill>
            <a:srgbClr val="1E8E5A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 desservie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92640" y="26060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75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11112" y="3200400"/>
            <a:ext cx="237744" cy="237744"/>
          </a:xfrm>
          <a:prstGeom prst="ellipse">
            <a:avLst/>
          </a:prstGeom>
          <a:solidFill>
            <a:srgbClr val="E6B800"/>
          </a:solidFill>
          <a:ln/>
        </p:spPr>
      </p:sp>
      <p:sp>
        <p:nvSpPr>
          <p:cNvPr id="22" name="Text 20"/>
          <p:cNvSpPr/>
          <p:nvPr/>
        </p:nvSpPr>
        <p:spPr>
          <a:xfrm>
            <a:off x="6995160" y="3136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92640" y="31363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50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11112" y="3730752"/>
            <a:ext cx="237744" cy="237744"/>
          </a:xfrm>
          <a:prstGeom prst="ellipse">
            <a:avLst/>
          </a:prstGeom>
          <a:solidFill>
            <a:srgbClr val="E07B39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3666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Sous-desservie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0" y="366674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&gt;= 25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11112" y="4261104"/>
            <a:ext cx="237744" cy="237744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419709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92640" y="419709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11112" y="49834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complementaires : vulnerabilite climatique, impact sur l'education.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&amp; CONCEPTION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Modele decisionnel en constellation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modele_constell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5486400" cy="46451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783080"/>
            <a:ext cx="5193792" cy="4645152"/>
          </a:xfrm>
          <a:prstGeom prst="roundRect">
            <a:avLst>
              <a:gd name="adj" fmla="val 15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6294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tables de faits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29400" y="221284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Fait_Comptage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Fait_Deplacement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Fait_IndividuMenage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Fait_Accessibilite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629400" y="31272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dimensions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29400" y="3419856"/>
            <a:ext cx="45720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Dim_Site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Dim_Temps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Dim_Motif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Dim_Individu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Dim_Mode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Dim_Menage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Dim_Geographie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Dim_Service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Dim_Difficulte</a:t>
            </a:r>
            <a:endParaRPr lang="en-US" sz="1000" dirty="0"/>
          </a:p>
          <a:p>
            <a:pPr marL="342900" indent="-342900">
              <a:spcAft>
                <a:spcPts val="150"/>
              </a:spcAft>
              <a:buSzPct val="100000"/>
              <a:buChar char="•"/>
            </a:pPr>
            <a:r>
              <a:rPr lang="en-US" sz="1000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Dim_Transport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29400" y="544068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Fait_Accessibilite et ses 3 dimensions ont ete ajoutes en cours de projet pour repondre au besoin d'analyse de l'accessibilite aux services.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cog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technique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Environnement, ETL Talend et entrepot PostgreSQL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 de travail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python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81" y="2360249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&amp; Colab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132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et nettoyage des donnees</a:t>
            </a:r>
            <a:endParaRPr lang="en-US" sz="880" dirty="0"/>
          </a:p>
        </p:txBody>
      </p:sp>
      <p:sp>
        <p:nvSpPr>
          <p:cNvPr id="9" name="Shape 6"/>
          <p:cNvSpPr/>
          <p:nvPr/>
        </p:nvSpPr>
        <p:spPr>
          <a:xfrm>
            <a:off x="22402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974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1" name="Image 1" descr="/sessions/laughing-focused-lamport/mnt/outputs/pptx_pfe/icons_out/cub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881" y="236024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134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3134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: extraction, transformation, chargement</a:t>
            </a:r>
            <a:endParaRPr lang="en-US" sz="880" dirty="0"/>
          </a:p>
        </p:txBody>
      </p:sp>
      <p:sp>
        <p:nvSpPr>
          <p:cNvPr id="14" name="Shape 10"/>
          <p:cNvSpPr/>
          <p:nvPr/>
        </p:nvSpPr>
        <p:spPr>
          <a:xfrm>
            <a:off x="38404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2976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6" name="Image 2" descr="/sessions/laughing-focused-lamport/mnt/outputs/pptx_pfe/icons_out/databas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81" y="2360249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136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9136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Entrepot de donnees (schema DW)</a:t>
            </a:r>
            <a:endParaRPr lang="en-US" sz="880" dirty="0"/>
          </a:p>
        </p:txBody>
      </p:sp>
      <p:sp>
        <p:nvSpPr>
          <p:cNvPr id="19" name="Shape 14"/>
          <p:cNvSpPr/>
          <p:nvPr/>
        </p:nvSpPr>
        <p:spPr>
          <a:xfrm>
            <a:off x="54406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8978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1" name="Image 3" descr="/sessions/laughing-focused-lamport/mnt/outputs/pptx_pfe/icons_out/char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281" y="2360249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138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Knowage BI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5138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decisionnel et restitution des KPIs</a:t>
            </a:r>
            <a:endParaRPr lang="en-US" sz="880" dirty="0"/>
          </a:p>
        </p:txBody>
      </p:sp>
      <p:sp>
        <p:nvSpPr>
          <p:cNvPr id="24" name="Shape 18"/>
          <p:cNvSpPr/>
          <p:nvPr/>
        </p:nvSpPr>
        <p:spPr>
          <a:xfrm>
            <a:off x="70408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26" name="Image 4" descr="/sessions/laughing-focused-lamport/mnt/outputs/pptx_pfe/icons_out/server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5481" y="2360249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140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71140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exposant les modeles ML</a:t>
            </a:r>
            <a:endParaRPr lang="en-US" sz="880" dirty="0"/>
          </a:p>
        </p:txBody>
      </p:sp>
      <p:sp>
        <p:nvSpPr>
          <p:cNvPr id="29" name="Shape 22"/>
          <p:cNvSpPr/>
          <p:nvPr/>
        </p:nvSpPr>
        <p:spPr>
          <a:xfrm>
            <a:off x="86410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0982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1" name="Image 5" descr="/sessions/laughing-focused-lamport/mnt/outputs/pptx_pfe/icons_out/reac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5681" y="2360249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142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87142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citoyens / decideurs</a:t>
            </a:r>
            <a:endParaRPr lang="en-US" sz="880" dirty="0"/>
          </a:p>
        </p:txBody>
      </p:sp>
      <p:sp>
        <p:nvSpPr>
          <p:cNvPr id="34" name="Shape 26"/>
          <p:cNvSpPr/>
          <p:nvPr/>
        </p:nvSpPr>
        <p:spPr>
          <a:xfrm>
            <a:off x="10241280" y="1965960"/>
            <a:ext cx="1481328" cy="1965960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10698480" y="2212848"/>
            <a:ext cx="566928" cy="566928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36" name="Image 6" descr="/sessions/laughing-focused-lamport/mnt/outputs/pptx_pfe/icons_out/tasks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5881" y="2360249"/>
            <a:ext cx="272125" cy="2721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31443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0314432" y="3401568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en sprints iteratifs</a:t>
            </a:r>
            <a:endParaRPr lang="en-US" sz="880" dirty="0"/>
          </a:p>
        </p:txBody>
      </p:sp>
      <p:sp>
        <p:nvSpPr>
          <p:cNvPr id="39" name="Shape 30"/>
          <p:cNvSpPr/>
          <p:nvPr/>
        </p:nvSpPr>
        <p:spPr>
          <a:xfrm>
            <a:off x="640080" y="4206240"/>
            <a:ext cx="10908792" cy="1737360"/>
          </a:xfrm>
          <a:prstGeom prst="roundRect">
            <a:avLst>
              <a:gd name="adj" fmla="val 421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40" name="Text 31"/>
          <p:cNvSpPr/>
          <p:nvPr/>
        </p:nvSpPr>
        <p:spPr>
          <a:xfrm>
            <a:off x="914400" y="443484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chaine outillee de bout en bout : de la donnee brute (fichiers EMD/trafic) jusqu'a l'application web, en passant par l'ETL, l'entrepot de donnees, le cockpit BI et les modeles de Machine Learning.</a:t>
            </a:r>
            <a:endParaRPr lang="en-US" sz="1400" dirty="0"/>
          </a:p>
        </p:txBody>
      </p:sp>
      <p:sp>
        <p:nvSpPr>
          <p:cNvPr id="41" name="Text 3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oeuvre de l'ETL avec Talend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talend/tmap_dep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400800" cy="27340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617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 tMap du job Fait_Deplacement : jointures sur Dim_Motif, Dim_Individu et Dim_Mode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223760" y="1828800"/>
            <a:ext cx="4325112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98080" y="2011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en 2 niveaux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498080" y="251460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1000" y="24780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001000" y="280720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SA_individu, SA_menage, SA_deplacement : chargement brut filtre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498080" y="35661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01000" y="352958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chargement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01000" y="38587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tMap : jointures, transformations, calculs -&gt; Faits &amp; Dimensions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7498080" y="4709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Composants cles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98080" y="502920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tFileInputExcel  •  tFilterColumns  •  tMap  •  tDBInput  •  tDBOutput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OEUVRE TECHNIQUE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de l'entrepot sous PostgreSQL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pg/Fact_compt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828800"/>
            <a:ext cx="2606040" cy="3721608"/>
          </a:xfrm>
          <a:prstGeom prst="rect">
            <a:avLst/>
          </a:prstGeom>
        </p:spPr>
      </p:pic>
      <p:pic>
        <p:nvPicPr>
          <p:cNvPr id="5" name="Image 1" descr="/sessions/laughing-focused-lamport/mnt/outputs/rapport_pfe/figures/pg/dim_ge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49040" y="1828800"/>
            <a:ext cx="3749040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5596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Fact_Comptage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749040" y="5029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Dim_Geographie (507 zones)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7818120" y="1828800"/>
            <a:ext cx="3730752" cy="4114800"/>
          </a:xfrm>
          <a:prstGeom prst="roundRect">
            <a:avLst>
              <a:gd name="adj" fmla="val 196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092440" y="2103120"/>
            <a:ext cx="502920" cy="50292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0" name="Image 2" descr="/sessions/laughing-focused-lamport/mnt/outputs/pptx_pfe/icons_out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199" y="2233879"/>
            <a:ext cx="241402" cy="2414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32520" y="2148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 via pgAdmin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8092440" y="2743200"/>
            <a:ext cx="3337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dedie DW, conventions Dim_ / Fact_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Cles primaires/etrangeres coherentes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des volumes apres chargement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des valeurs manquantes/aberrantes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fact_access dediee a l'accessibilite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brain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modeles de Machine Learning au service de la mobilite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des usagers (K-Means)</a:t>
            </a:r>
            <a:endParaRPr lang="en-US" sz="3000" dirty="0"/>
          </a:p>
        </p:txBody>
      </p:sp>
      <p:pic>
        <p:nvPicPr>
          <p:cNvPr id="4" name="Image 0" descr="/sessions/laughing-focused-lamport/mnt/outputs/rapport_pfe/figures/ml/choix_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6126480" cy="2148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0233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k=5 (methode du coude + silhouette ~ 0.31)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4434840"/>
            <a:ext cx="6126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segments identifies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49377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TC reguliers  •  Actifs motorises  •  Etudiants mobilite douce  •  Pietons de proximite  •  Travailleurs informels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995160" y="1828800"/>
            <a:ext cx="4553712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69480" y="2011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269480" y="24688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sociodemographiques + mobilite (EMD)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imputation mediane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non supervise, k=5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Caracterisation des clusters (heatmap)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269480" y="4160520"/>
            <a:ext cx="3977640" cy="0"/>
          </a:xfrm>
          <a:prstGeom prst="line">
            <a:avLst/>
          </a:prstGeom>
          <a:noFill/>
          <a:ln w="12700">
            <a:solidFill>
              <a:srgbClr val="33506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69480" y="43434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0,31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269480" y="5074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de silhouette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 de mode de transport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Classifier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supervisee multi-classes : transport en commun, voiture, taxi/clando, marche, moto.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9184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arbres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712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291840" y="37124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133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413308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553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45537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 (5 plis)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2578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production : le modele retourne un top 3 des modes les plus probables, enrichi de statistiques de duree et de cout.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23760" y="1828800"/>
            <a:ext cx="4325112" cy="1965960"/>
          </a:xfrm>
          <a:prstGeom prst="roundRect">
            <a:avLst>
              <a:gd name="adj" fmla="val 372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23760" y="2148840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90,6 %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223760" y="306324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23760" y="3977640"/>
            <a:ext cx="4325112" cy="1965960"/>
          </a:xfrm>
          <a:prstGeom prst="roundRect">
            <a:avLst>
              <a:gd name="adj" fmla="val 372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23760" y="4297680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0,88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223760" y="521208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d'anomalies de trafic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Consensus pondere de 3 algorithmes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Z-Score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8221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extremes univariees par site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23317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08576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08576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08576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8576" y="38221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multivariee par isolement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28432" y="233172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02752" y="2514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0,35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02752" y="31272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302752" y="34564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Outlier Factor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02752" y="38221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par densite locale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84632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consensus &gt;= 0,6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reduction significative des faux positifs par rapport a un algorithme unique. Un clustering spatial DBSCAN (eps ~ 500 m) distingue ensuite les hotspots structurels des incidents isoles.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du risque d'inaccessibilite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 Classifier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composite construit a partir de 7 indicateurs terrain (distance TC, inondation, enclavement, acces sante...), seuil au 65e percentile.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42900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: imputation -&gt; encodage -&gt; normalisation -&gt; SMOTE -&gt; validation croisee stratifiee (4 algorithmes compares).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les plus determinantes : distance a pied jusqu'a l'arret TC, duree d'acces aux soins de sante.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223760" y="1828800"/>
            <a:ext cx="4325112" cy="1261872"/>
          </a:xfrm>
          <a:prstGeom prst="roundRect">
            <a:avLst>
              <a:gd name="adj" fmla="val 579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52360" y="193852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0,921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509760" y="182880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23760" y="3246120"/>
            <a:ext cx="4325112" cy="1261872"/>
          </a:xfrm>
          <a:prstGeom prst="roundRect">
            <a:avLst>
              <a:gd name="adj" fmla="val 579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0" y="335584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88,3 %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509760" y="324612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23760" y="4663440"/>
            <a:ext cx="4325112" cy="1261872"/>
          </a:xfrm>
          <a:prstGeom prst="roundRect">
            <a:avLst>
              <a:gd name="adj" fmla="val 5797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52360" y="4773168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90,6 %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509760" y="4663440"/>
            <a:ext cx="19202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ARTIFICIELLE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Synthese des modeles de Machine Learning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292608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  <a:gridCol w="2926080"/>
                <a:gridCol w="258775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 (k=5)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supervise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Segmentation des usagers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~ 0,31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 de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~ 90,6 %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 + Isolation Forest + LOF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d'anomalies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Anomalies de trafic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 pondere &gt;= 0,6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d'inaccessibilite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3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 AUC = 0,921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120640"/>
            <a:ext cx="10908792" cy="1005840"/>
          </a:xfrm>
          <a:prstGeom prst="roundRect">
            <a:avLst>
              <a:gd name="adj" fmla="val 7273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51206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L'ensemble des modeles est serialise (joblib) et expose via l'API FastAPI consommee par l'application web.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29184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162C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5" name="Image 0" descr="/sessions/laughing-focused-lamport/mnt/outputs/pptx_pfe/icons_out/chart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83257"/>
            <a:ext cx="416966" cy="41696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3246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Restitution &amp; demonstration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29968" y="40690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Knowage et application web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Cockpit decisionnel Knowage BI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5" name="Image 0" descr="/sessions/laughing-focused-lamport/mnt/outputs/rapport_pfe/figures/kpis/DS_Trafic_Horai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938528"/>
            <a:ext cx="2459736" cy="1783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Trafic horaire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65576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8" name="Image 1" descr="/sessions/laughing-focused-lamport/mnt/outputs/rapport_pfe/figures/kpis/DS_FluxZon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75304" y="1938528"/>
            <a:ext cx="2459736" cy="1783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75304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par zones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91072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11" name="Image 2" descr="/sessions/laughing-focused-lamport/mnt/outputs/rapport_pfe/figures/kpis/DS_Acces_Service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0" y="1938528"/>
            <a:ext cx="2459736" cy="1783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0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services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9116568" y="1828800"/>
            <a:ext cx="267919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pic>
        <p:nvPicPr>
          <p:cNvPr id="14" name="Image 3" descr="/sessions/laughing-focused-lamport/mnt/outputs/rapport_pfe/figures/kpis/DS_Demo_Sex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26296" y="1938528"/>
            <a:ext cx="2459736" cy="1783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226296" y="3776472"/>
            <a:ext cx="2459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Demographie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640080" y="4343400"/>
            <a:ext cx="10908792" cy="1600200"/>
          </a:xfrm>
          <a:prstGeom prst="roundRect">
            <a:avLst>
              <a:gd name="adj" fmla="val 4571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914400" y="452628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feuillets thematiques : Accueil, Trafic, Deplacements, Demographie, Accessibilite — directement connectes a l'entrepot PostgreSQL pour une restitution en quasi temps reel des indicateurs.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cles restitues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13 415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034540" y="3035808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Individus EMD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5112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25112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3 176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719572" y="3035808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Menages EMD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10144" y="18288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10144" y="2057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9404604" y="3035808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10144" y="31546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comptage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5935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41879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37 248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2034540" y="5166360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85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trafic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25112" y="395935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25112" y="41879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507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5719572" y="5166360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5285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geographiques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10144" y="3959352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010144" y="4187952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9404604" y="5166360"/>
            <a:ext cx="73152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0144" y="528523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analysees (risque)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web :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67128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6" name="Image 0" descr="/sessions/laughing-focused-lamport/mnt/outputs/pptx_pfe/icons_out/server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33354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057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FastAPI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83080" y="248716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endpoints REST, validation Pydantic, modeles ML charges via joblib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493008"/>
            <a:ext cx="640080" cy="64008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11" name="Image 1" descr="/sessions/laughing-focused-lamport/mnt/outputs/pptx_pfe/icons_out/arrowright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6594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383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 (JSON)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783080" y="381304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synchrone Frontend &lt;-&gt; Backend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572000"/>
            <a:ext cx="10908792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818888"/>
            <a:ext cx="640080" cy="640080"/>
          </a:xfrm>
          <a:prstGeom prst="ellipse">
            <a:avLst/>
          </a:prstGeom>
          <a:solidFill>
            <a:srgbClr val="1F3B57"/>
          </a:solidFill>
          <a:ln/>
        </p:spPr>
      </p:sp>
      <p:pic>
        <p:nvPicPr>
          <p:cNvPr id="16" name="Image 2" descr="/sessions/laughing-focused-lamport/mnt/outputs/pptx_pfe/icons_out/react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498530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709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React.js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83080" y="513892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ThemeProvider, RBAC, pages citoyen et decideurs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Principaux endpoints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/recommander  •  GET /zones-risque  •  GET /api/anomalies/summary  •  GET /api/segmentation/profils  •  POST /predict-inaccessibility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&amp;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utilisateurs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EAF0F6"/>
          </a:solidFill>
          <a:ln/>
        </p:spPr>
      </p:sp>
      <p:pic>
        <p:nvPicPr>
          <p:cNvPr id="6" name="Image 0" descr="/sessions/laughing-focused-lamport/mnt/outputs/pptx_pfe/icons_out/users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934" y="22576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 citoyen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WelcomePage : accueil et identite visuelle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FormPage : profil de mobilite (avec controle contextuel par age)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: top 3 des modes + duree/cout estimes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03120"/>
            <a:ext cx="594360" cy="59436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1" name="Image 1" descr="/sessions/laughing-focused-lamport/mnt/outputs/pptx_pfe/icons_out/shield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206" y="22576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194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Espace decideurs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83464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VueGenerale : tableau de bord de synthese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ZonesRisquePage : cartographie des 41 zones a risque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AnomalyDashboard : sites de comptage et hotspots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SegmentationPage &amp; SimulateurRisque : analyse avancee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MlInsights : transparence et auditabilite des modeles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perspectives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FBEAE5"/>
          </a:solidFill>
          <a:ln/>
        </p:spPr>
      </p:sp>
      <p:pic>
        <p:nvPicPr>
          <p:cNvPr id="6" name="Image 0" descr="/sessions/laughing-focused-lamport/mnt/outputs/pptx_pfe/icons_out/warnin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2457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assumees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 2019, la plus recente disponible publiquement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donnees temps reel (capteurs/GPS)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simplifiee (PFE demonstratif)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tests automatises (validation manuelle)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45352" y="1828800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1F3B57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03120"/>
            <a:ext cx="548640" cy="54864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11" name="Image 1" descr="/sessions/laughing-focused-lamport/mnt/outputs/pptx_pfe/icons_out/rocket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318" y="224576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2194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19672" y="274320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temps reel (operateurs de transport)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Docker + CI/CD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renforcee (JWT, bcrypt)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: LSTM trafic, GNN reseau de transport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7C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double dimension decisionnelle et predictive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630168" cy="3200400"/>
          </a:xfrm>
          <a:prstGeom prst="roundRect">
            <a:avLst>
              <a:gd name="adj" fmla="val 2286"/>
            </a:avLst>
          </a:prstGeom>
          <a:solidFill>
            <a:srgbClr val="162C44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86000"/>
            <a:ext cx="594360" cy="59436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7" name="Image 0" descr="/sessions/laughing-focused-lamport/mnt/outputs/pptx_pfe/icons_out/sitemap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654" y="24405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0175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 classique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34747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en constellation, ETL Talend, entrepot PostgreSQL, cockpit Knowage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011680"/>
            <a:ext cx="3630168" cy="3200400"/>
          </a:xfrm>
          <a:prstGeom prst="roundRect">
            <a:avLst>
              <a:gd name="adj" fmla="val 2286"/>
            </a:avLst>
          </a:prstGeom>
          <a:solidFill>
            <a:srgbClr val="162C44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2286000"/>
            <a:ext cx="594360" cy="59436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12" name="Image 1" descr="/sessions/laughing-focused-lamport/mnt/outputs/pptx_pfe/icons_out/brain_or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414" y="24405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0175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54880" y="34747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recommandation, detection d'anomalies, prediction de risque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29600" y="2011680"/>
            <a:ext cx="3630168" cy="3200400"/>
          </a:xfrm>
          <a:prstGeom prst="roundRect">
            <a:avLst>
              <a:gd name="adj" fmla="val 2286"/>
            </a:avLst>
          </a:prstGeom>
          <a:solidFill>
            <a:srgbClr val="162C44"/>
          </a:solidFill>
          <a:ln/>
          <a:effectLst>
            <a:outerShdw sx="100000" sy="100000" kx="0" ky="0" algn="bl" rotWithShape="0" blurRad="177800" dist="50800" dir="5400000">
              <a:srgbClr val="0B1A2B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49640" y="2286000"/>
            <a:ext cx="594360" cy="594360"/>
          </a:xfrm>
          <a:prstGeom prst="ellipse">
            <a:avLst/>
          </a:prstGeom>
          <a:solidFill>
            <a:srgbClr val="284A6B"/>
          </a:solidFill>
          <a:ln/>
        </p:spPr>
      </p:sp>
      <p:pic>
        <p:nvPicPr>
          <p:cNvPr id="17" name="Image 2" descr="/sessions/laughing-focused-lamport/mnt/outputs/pptx_pfe/icons_out/laptop_or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174" y="244053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017520"/>
            <a:ext cx="2990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complete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49640" y="3474720"/>
            <a:ext cx="2990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FastAPI + interface React pour citoyens et decideurs du CETUD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solide pour accompagner le CETUD vers une mobilite urbaine plus efficace et plus inclusive.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60175" y="6400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6400800" cy="64008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62C44"/>
          </a:solidFill>
          <a:ln/>
        </p:spPr>
      </p:sp>
      <p:sp>
        <p:nvSpPr>
          <p:cNvPr id="4" name="Shape 2"/>
          <p:cNvSpPr/>
          <p:nvPr/>
        </p:nvSpPr>
        <p:spPr>
          <a:xfrm>
            <a:off x="5458968" y="2011680"/>
            <a:ext cx="1280160" cy="1280160"/>
          </a:xfrm>
          <a:prstGeom prst="ellipse">
            <a:avLst/>
          </a:prstGeom>
          <a:solidFill>
            <a:srgbClr val="162C44"/>
          </a:solidFill>
          <a:ln/>
        </p:spPr>
      </p:sp>
      <p:pic>
        <p:nvPicPr>
          <p:cNvPr id="5" name="Image 0" descr="/sessions/laughing-focused-lamport/mnt/outputs/pptx_pfe/icons_out/handshake_or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810" y="2344522"/>
            <a:ext cx="614477" cy="6144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611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4389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mise en oeuvre d'une solution decisionnelle - CETUD</dc:title>
  <dc:subject>PptxGenJS Presentation</dc:subject>
  <dc:creator>Ibtihel Abdellaoui</dc:creator>
  <cp:lastModifiedBy>Ibtihel Abdellaoui</cp:lastModifiedBy>
  <cp:revision>1</cp:revision>
  <dcterms:created xsi:type="dcterms:W3CDTF">2026-06-23T21:37:16Z</dcterms:created>
  <dcterms:modified xsi:type="dcterms:W3CDTF">2026-06-23T21:37:16Z</dcterms:modified>
</cp:coreProperties>
</file>