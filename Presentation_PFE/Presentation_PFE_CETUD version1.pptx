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6400800" cy="64008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D'ETUDES  •  CETUD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 et mise en oeuvre d'une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decisionnelle pour l'analyse et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l'optimisation du transport urbain de Dakar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 +  Machine Learning  au service de la mobilite urbaine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4434840"/>
            <a:ext cx="2926080" cy="0"/>
          </a:xfrm>
          <a:prstGeom prst="line">
            <a:avLst/>
          </a:prstGeom>
          <a:noFill/>
          <a:ln w="12700">
            <a:solidFill>
              <a:srgbClr val="3350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 par 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Ibtihel Abdellaoui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Encadrants 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[Encadrant academique] / [Encadrant CETUD]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 universitaire 2025 - 2026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5440680"/>
            <a:ext cx="724205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440680"/>
            <a:ext cx="7242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66037" y="5440680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6037" y="54406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09037" y="5440680"/>
            <a:ext cx="799186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9037" y="5440680"/>
            <a:ext cx="799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27094" y="5440680"/>
            <a:ext cx="799186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7094" y="5440680"/>
            <a:ext cx="799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45152" y="5440680"/>
            <a:ext cx="649224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5440680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13248" y="5440680"/>
            <a:ext cx="1174090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13248" y="5440680"/>
            <a:ext cx="11740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presentation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600200" y="1874520"/>
            <a:ext cx="493776" cy="49377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7" name="Image 0" descr="/sessions/laughing-focused-lamport/mnt/outputs/pptx_pfe/icons_out/bullsey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582" y="2002902"/>
            <a:ext cx="237012" cy="237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31720" y="18379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du projet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331720" y="216712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CETUD, problematique, objectifs, methodologie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624328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2624328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1600200" y="2715768"/>
            <a:ext cx="493776" cy="49377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3" name="Image 1" descr="/sessions/laughing-focused-lamport/mnt/outputs/pptx_pfe/icons_out/searc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582" y="2844150"/>
            <a:ext cx="237012" cy="2370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31720" y="26791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&amp; conception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331720" y="3008376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Decideurs, besoins, KPIs, modele decisionnel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465576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3465576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1600200" y="3557016"/>
            <a:ext cx="493776" cy="49377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9" name="Image 2" descr="/sessions/laughing-focused-lamport/mnt/outputs/pptx_pfe/icons_out/cog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582" y="3685398"/>
            <a:ext cx="237012" cy="2370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331720" y="3520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oeuvre technique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2331720" y="3849624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Environnement, ETL Talend, entrepot PostgreSQL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4306824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68680" y="4306824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Shape 19"/>
          <p:cNvSpPr/>
          <p:nvPr/>
        </p:nvSpPr>
        <p:spPr>
          <a:xfrm>
            <a:off x="1600200" y="4398264"/>
            <a:ext cx="493776" cy="49377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5" name="Image 3" descr="/sessions/laughing-focused-lamport/mnt/outputs/pptx_pfe/icons_out/brain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582" y="4526646"/>
            <a:ext cx="237012" cy="2370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331720" y="43616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artificielle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2331720" y="4690872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recommandation, anomalies, risques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40080" y="5148072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68680" y="5148072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0" name="Shape 24"/>
          <p:cNvSpPr/>
          <p:nvPr/>
        </p:nvSpPr>
        <p:spPr>
          <a:xfrm>
            <a:off x="1600200" y="5239512"/>
            <a:ext cx="493776" cy="49377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1" name="Image 4" descr="/sessions/laughing-focused-lamport/mnt/outputs/pptx_pfe/icons_out/char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8582" y="5367894"/>
            <a:ext cx="237012" cy="2370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331720" y="520293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Restitution &amp; demonstration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2331720" y="553212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Knowage, application web, perspectives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5" name="Image 0" descr="/sessions/laughing-focused-lamport/mnt/outputs/pptx_pfe/icons_out/bullsey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du projet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29968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CETUD, problematique, objectifs et methodologie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CETUD : organisme d'accueil &amp; problematique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" name="Image 0" descr="/sessions/laughing-focused-lamport/mnt/outputs/pptx_pfe/icons_out/build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000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CETUD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Executif des Transports Urbains de Dakar : autorite organisatrice de la mobilite urbaine dans l'agglomeration dakaroise.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657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 </a:t>
            </a:r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planifier, reguler et ameliorer l'offre de transport (bus, cars rapides, TER, BRT) au service des citoyens.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572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: </a:t>
            </a:r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exploiter les donnees d'enquete et de trafic existantes pour fonder les decisions sur des faits, pas des intuitions.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45352" y="178308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19672" y="2057400"/>
            <a:ext cx="548640" cy="54864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13" name="Image 1" descr="/sessions/laughing-focused-lamport/mnt/outputs/pptx_pfe/icons_out/warning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318" y="220004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problematique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519672" y="26974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CETUD dispose de donnees riches (EMD, comptages de trafic) mais dispersees, non structurees et sous-exploitees.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519672" y="36576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transformer ces donnees brutes en informations decisionnelles fiables, et aller au-dela du reporting grace au Machine Learning ?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519672" y="5120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Double reponse : un systeme decisionnel (BI) et des modeles predictifs (ML).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" name="Image 0" descr="/sessions/laughing-focused-lamport/mnt/outputs/pptx_pfe/icons_out/search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457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Analyser les besoins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31821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decideurs CETUD et leurs besoins analytiques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10312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1" name="Image 1" descr="/sessions/laughing-focused-lamport/mnt/outputs/pptx_pfe/icons_out/sitemap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366" y="22457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Modeliser l'entrepot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7720" y="31821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 schema decisionnel en constellation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10312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6" name="Image 2" descr="/sessions/laughing-focused-lamport/mnt/outputs/pptx_pfe/icons_out/cogs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224576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Construire l'ETL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21040" y="31821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Alimenter l'entrepot via Talend depuis les sources EMD/trafic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25196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1" name="Image 3" descr="/sessions/laughing-focused-lamport/mnt/outputs/pptx_pfe/icons_out/chart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46" y="439460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937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Restituer les KPIs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53309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Knowage BI pour le pilotage de la mobilite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25196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6" name="Image 4" descr="/sessions/laughing-focused-lamport/mnt/outputs/pptx_pfe/icons_out/brain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366" y="439460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937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Aller au-dela du reporting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17720" y="53309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recommandation et detection d'anomalies par ML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425196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1" name="Image 5" descr="/sessions/laughing-focused-lamport/mnt/outputs/pptx_pfe/icons_out/laptop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686" y="439460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4937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Livrer une application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21040" y="53309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+ interface React pour citoyens et decideurs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Methodologie GIMSI</a:t>
            </a:r>
            <a:endParaRPr lang="en-US" sz="3000" dirty="0"/>
          </a:p>
        </p:txBody>
      </p:sp>
      <p:pic>
        <p:nvPicPr>
          <p:cNvPr id="4" name="Image 0" descr="/sessions/laughing-focused-lamport/mnt/outputs/rapport_pfe/figures/gims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5120640" cy="4032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1828800"/>
            <a:ext cx="54681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09360" y="2039112"/>
            <a:ext cx="420624" cy="420624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7" name="Text 4"/>
          <p:cNvSpPr/>
          <p:nvPr/>
        </p:nvSpPr>
        <p:spPr>
          <a:xfrm>
            <a:off x="6309360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03720" y="1901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903720" y="22494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Decideurs, besoins, donnees sources disponibles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80760" y="2834640"/>
            <a:ext cx="54681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3044952"/>
            <a:ext cx="420624" cy="420624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3044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03720" y="29077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903720" y="32552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decisionnel en constellation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80760" y="3840480"/>
            <a:ext cx="54681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09360" y="4050792"/>
            <a:ext cx="420624" cy="420624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0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903720" y="39136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oeuvre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903720" y="42611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Talend, entrepot PostgreSQL, cockpit Knowage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080760" y="4846320"/>
            <a:ext cx="54681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309360" y="5056632"/>
            <a:ext cx="420624" cy="420624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22" name="Text 19"/>
          <p:cNvSpPr/>
          <p:nvPr/>
        </p:nvSpPr>
        <p:spPr>
          <a:xfrm>
            <a:off x="6309360" y="5056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903720" y="4919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Amelioration permanente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903720" y="52669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Modeles ML, application web, perspectives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5" name="Image 0" descr="/sessions/laughing-focused-lamport/mnt/outputs/pptx_pfe/icons_out/search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&amp; conception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29968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Decideurs, besoins, KPIs et modele decisionnel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Decideurs cibles et besoins identifies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30168" cy="411480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1F3B57"/>
          </a:solidFill>
          <a:ln/>
        </p:spPr>
      </p:sp>
      <p:pic>
        <p:nvPicPr>
          <p:cNvPr id="6" name="Image 0" descr="/sessions/laughing-focused-lamport/mnt/outputs/pptx_pfe/icons_out/user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3152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7180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Directeur de planification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65760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60120" y="3931920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l'offre, comprendre la demande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457200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ASSOCIE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60120" y="48463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de deplacements par jour et par zone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34840" y="1828800"/>
            <a:ext cx="3630168" cy="411480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2148840"/>
            <a:ext cx="640080" cy="640080"/>
          </a:xfrm>
          <a:prstGeom prst="ellipse">
            <a:avLst/>
          </a:prstGeom>
          <a:solidFill>
            <a:srgbClr val="1F3B57"/>
          </a:solidFill>
          <a:ln/>
        </p:spPr>
      </p:sp>
      <p:pic>
        <p:nvPicPr>
          <p:cNvPr id="14" name="Image 1" descr="/sessions/laughing-focused-lamport/mnt/outputs/pptx_pfe/icons_out/cogs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301" y="231526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54880" y="297180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Responsable d'exploitation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754880" y="365760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754880" y="3931920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horaires et frequences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754880" y="457200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ASSOCIE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754880" y="48463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de pointe, charge par creneau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229600" y="1828800"/>
            <a:ext cx="3630168" cy="411480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549640" y="2148840"/>
            <a:ext cx="640080" cy="640080"/>
          </a:xfrm>
          <a:prstGeom prst="ellipse">
            <a:avLst/>
          </a:prstGeom>
          <a:solidFill>
            <a:srgbClr val="1F3B57"/>
          </a:solidFill>
          <a:ln/>
        </p:spPr>
      </p:sp>
      <p:pic>
        <p:nvPicPr>
          <p:cNvPr id="22" name="Image 2" descr="/sessions/laughing-focused-lamport/mnt/outputs/pptx_pfe/icons_out/brain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061" y="2315261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49640" y="297180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 de modelisation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549640" y="365760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549640" y="3931920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Segmenter, predire, modeliser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8549640" y="457200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ASSOCIE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549640" y="48463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de mobilite, scores de risque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donnees sources mobilisees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9339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37 248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04672" y="28803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individus enquetes (EMD)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3008" y="18288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199339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4 521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0" y="28803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menages enquetes (EMD)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45936" y="18288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45936" y="199339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10528" y="28803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de comptage de trafic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98864" y="18288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98864" y="199339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775 480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363456" y="28803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de trafic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090879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Blocs de variables exploites dans l'EMD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Geographie du domicile (quartier, strate, district)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Caracteristiques du menage (taille, logement, equipement)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Deplacements individuels (motif, mode, duree, cout)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Accessibilite aux transports et services (ecole, daara)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Problemes de quartier (manque de TC, inondations, enclavement)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Specification des indicateurs cles (KPIs)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d'accessibilite composite (0-100)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Duree de marche jusqu'a l'arret TC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 pts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Diversite des modes de TC disponibles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pts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inondable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 pts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mode disponible en cas de pluie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0" y="4297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 pts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 abusive en periode de pluie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 pts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36792" y="182880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11112" y="2057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Typologie des zones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11112" y="2670048"/>
            <a:ext cx="237744" cy="237744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desservie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9264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75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11112" y="3200400"/>
            <a:ext cx="237744" cy="237744"/>
          </a:xfrm>
          <a:prstGeom prst="ellipse">
            <a:avLst/>
          </a:prstGeom>
          <a:solidFill>
            <a:srgbClr val="E6B800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3136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92640" y="31363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50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11112" y="3730752"/>
            <a:ext cx="237744" cy="237744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36667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Sous-desservie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92640" y="36667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25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11112" y="4261104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41970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92640" y="41970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11112" y="49834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complementaires : vulnerabilite climatique, impact sur l'education.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Modele decisionnel en constellation</a:t>
            </a:r>
            <a:endParaRPr lang="en-US" sz="3000" dirty="0"/>
          </a:p>
        </p:txBody>
      </p:sp>
      <p:pic>
        <p:nvPicPr>
          <p:cNvPr id="4" name="Image 0" descr="/sessions/laughing-focused-lamport/mnt/outputs/rapport_pfe/figures/modele_constel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5486400" cy="46451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783080"/>
            <a:ext cx="5193792" cy="4645152"/>
          </a:xfrm>
          <a:prstGeom prst="roundRect">
            <a:avLst>
              <a:gd name="adj" fmla="val 15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2940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tables de faits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629400" y="22860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Fait_Comptage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Fait_Deplacement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Fait_IndividuMenage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2940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dimensions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629400" y="356616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Dim_Site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Dim_Temps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Dim_Motif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Dim_Individu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Dim_Mode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Dim_Menage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Dim_Geographie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29400" y="525780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une constellation ? Les processus de comptage de trafic et d'enquete menages-deplacements ont des granularites differentes mais partagent des dimensions communes (site, temps, geographie).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5" name="Image 0" descr="/sessions/laughing-focused-lamport/mnt/outputs/pptx_pfe/icons_out/cog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oeuvre technique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29968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Environnement, ETL Talend et entrepot PostgreSQL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OEUVRE TECHNIQUE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Environnement de travail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" name="Image 0" descr="/sessions/laughing-focused-lamport/mnt/outputs/pptx_pfe/icons_out/pyth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81" y="236024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&amp; Colab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32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et nettoyage des donnees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22402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974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1" name="Image 1" descr="/sessions/laughing-focused-lamport/mnt/outputs/pptx_pfe/icons_out/cub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81" y="236024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134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3134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: extraction, transformation, chargement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38404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976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6" name="Image 2" descr="/sessions/laughing-focused-lamport/mnt/outputs/pptx_pfe/icons_out/databas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81" y="236024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136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39136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Entrepot de donnees (schema DW)</a:t>
            </a:r>
            <a:endParaRPr lang="en-US" sz="880" dirty="0"/>
          </a:p>
        </p:txBody>
      </p:sp>
      <p:sp>
        <p:nvSpPr>
          <p:cNvPr id="19" name="Shape 14"/>
          <p:cNvSpPr/>
          <p:nvPr/>
        </p:nvSpPr>
        <p:spPr>
          <a:xfrm>
            <a:off x="54406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8978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1" name="Image 3" descr="/sessions/laughing-focused-lamport/mnt/outputs/pptx_pfe/icons_out/char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281" y="236024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138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Knowage BI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5138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decisionnel et restitution des KPIs</a:t>
            </a:r>
            <a:endParaRPr lang="en-US" sz="880" dirty="0"/>
          </a:p>
        </p:txBody>
      </p:sp>
      <p:sp>
        <p:nvSpPr>
          <p:cNvPr id="24" name="Shape 18"/>
          <p:cNvSpPr/>
          <p:nvPr/>
        </p:nvSpPr>
        <p:spPr>
          <a:xfrm>
            <a:off x="70408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6" name="Image 4" descr="/sessions/laughing-focused-lamport/mnt/outputs/pptx_pfe/icons_out/server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5481" y="2360249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140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71140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exposant les modeles ML</a:t>
            </a:r>
            <a:endParaRPr lang="en-US" sz="880" dirty="0"/>
          </a:p>
        </p:txBody>
      </p:sp>
      <p:sp>
        <p:nvSpPr>
          <p:cNvPr id="29" name="Shape 22"/>
          <p:cNvSpPr/>
          <p:nvPr/>
        </p:nvSpPr>
        <p:spPr>
          <a:xfrm>
            <a:off x="86410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0982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1" name="Image 5" descr="/sessions/laughing-focused-lamport/mnt/outputs/pptx_pfe/icons_out/reac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5681" y="2360249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142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87142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citoyens / decideurs</a:t>
            </a:r>
            <a:endParaRPr lang="en-US" sz="880" dirty="0"/>
          </a:p>
        </p:txBody>
      </p:sp>
      <p:sp>
        <p:nvSpPr>
          <p:cNvPr id="34" name="Shape 26"/>
          <p:cNvSpPr/>
          <p:nvPr/>
        </p:nvSpPr>
        <p:spPr>
          <a:xfrm>
            <a:off x="102412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6984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6" name="Image 6" descr="/sessions/laughing-focused-lamport/mnt/outputs/pptx_pfe/icons_out/tasks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5881" y="2360249"/>
            <a:ext cx="272125" cy="27212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3144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103144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en sprints iteratifs</a:t>
            </a:r>
            <a:endParaRPr lang="en-US" sz="880" dirty="0"/>
          </a:p>
        </p:txBody>
      </p:sp>
      <p:sp>
        <p:nvSpPr>
          <p:cNvPr id="39" name="Shape 30"/>
          <p:cNvSpPr/>
          <p:nvPr/>
        </p:nvSpPr>
        <p:spPr>
          <a:xfrm>
            <a:off x="640080" y="4206240"/>
            <a:ext cx="10908792" cy="1737360"/>
          </a:xfrm>
          <a:prstGeom prst="roundRect">
            <a:avLst>
              <a:gd name="adj" fmla="val 4211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40" name="Text 31"/>
          <p:cNvSpPr/>
          <p:nvPr/>
        </p:nvSpPr>
        <p:spPr>
          <a:xfrm>
            <a:off x="914400" y="44348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chaine outillee de bout en bout : de la donnee brute (fichiers EMD/trafic) jusqu'a l'application web, en passant par l'ETL, l'entrepot de donnees, le cockpit BI et les modeles de Machine Learning.</a:t>
            </a:r>
            <a:endParaRPr lang="en-US" sz="1400" dirty="0"/>
          </a:p>
        </p:txBody>
      </p:sp>
      <p:sp>
        <p:nvSpPr>
          <p:cNvPr id="41" name="Text 32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OEUVRE TECHNIQUE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oeuvre de l'ETL avec Talend</a:t>
            </a:r>
            <a:endParaRPr lang="en-US" sz="3000" dirty="0"/>
          </a:p>
        </p:txBody>
      </p:sp>
      <p:pic>
        <p:nvPicPr>
          <p:cNvPr id="4" name="Image 0" descr="/sessions/laughing-focused-lamport/mnt/outputs/rapport_pfe/figures/talend/tmap_dep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6400800" cy="2734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617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 tMap du job Fait_Deplacement : jointures sur Dim_Motif, Dim_Individu et Dim_Mode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223760" y="1828800"/>
            <a:ext cx="4325112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en 2 niveaux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498080" y="251460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01000" y="24780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01000" y="28072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SA_individu, SA_menage, SA_deplacement : chargement brut filtre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498080" y="356616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01000" y="3529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 chargement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01000" y="38587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tMap : jointures, transformations, calculs -&gt; Faits &amp; Dimensions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7498080" y="4709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Composants cles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498080" y="50292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tFileInputExcel  •  tFilterColumns  •  tMap  •  tDBInput  •  tDBOutput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OEUVRE TECHNIQUE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de l'entrepot sous PostgreSQL</a:t>
            </a:r>
            <a:endParaRPr lang="en-US" sz="3000" dirty="0"/>
          </a:p>
        </p:txBody>
      </p:sp>
      <p:pic>
        <p:nvPicPr>
          <p:cNvPr id="4" name="Image 0" descr="/sessions/laughing-focused-lamport/mnt/outputs/rapport_pfe/figures/pg/Fact_compt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828800"/>
            <a:ext cx="2606040" cy="3721608"/>
          </a:xfrm>
          <a:prstGeom prst="rect">
            <a:avLst/>
          </a:prstGeom>
        </p:spPr>
      </p:pic>
      <p:pic>
        <p:nvPicPr>
          <p:cNvPr id="5" name="Image 1" descr="/sessions/laughing-focused-lamport/mnt/outputs/rapport_pfe/figures/pg/dim_ge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49040" y="1828800"/>
            <a:ext cx="3749040" cy="3154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5596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Fact_Comptage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3749040" y="5029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Dim_Geographie (507 zones)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7818120" y="1828800"/>
            <a:ext cx="3730752" cy="4114800"/>
          </a:xfrm>
          <a:prstGeom prst="roundRect">
            <a:avLst>
              <a:gd name="adj" fmla="val 1961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092440" y="2103120"/>
            <a:ext cx="502920" cy="50292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10" name="Image 2" descr="/sessions/laughing-focused-lamport/mnt/outputs/pptx_pfe/icons_out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199" y="2233879"/>
            <a:ext cx="241402" cy="2414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3252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 via pgAdmin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092440" y="2743200"/>
            <a:ext cx="3337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dedie DW, conventions Dim_ / Fact_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Cles primaires/etrangeres coherentes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des volumes apres chargement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des valeurs manquantes/aberrantes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fact_access dediee a l'accessibilite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5" name="Image 0" descr="/sessions/laughing-focused-lamport/mnt/outputs/pptx_pfe/icons_out/brain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artificielle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29968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modeles de Machine Learning au service de la mobilite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des usagers (K-Means)</a:t>
            </a:r>
            <a:endParaRPr lang="en-US" sz="3000" dirty="0"/>
          </a:p>
        </p:txBody>
      </p:sp>
      <p:pic>
        <p:nvPicPr>
          <p:cNvPr id="4" name="Image 0" descr="/sessions/laughing-focused-lamport/mnt/outputs/rapport_pfe/figures/ml/choix_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6126480" cy="2148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0233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k=5 (methode du coude + silhouette ~ 0.31)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40080" y="4434840"/>
            <a:ext cx="6126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segments identifies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493776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TC reguliers  •  Actifs motorises  •  Etudiants mobilite douce  •  Pietons de proximite  •  Travailleurs informels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995160" y="1828800"/>
            <a:ext cx="4553712" cy="4114800"/>
          </a:xfrm>
          <a:prstGeom prst="roundRect">
            <a:avLst>
              <a:gd name="adj" fmla="val 1778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6948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269480" y="246888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sociodemographiques + mobilite (EMD)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 imputation mediane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non supervise, k=5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Caracterisation des clusters (heatmap)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269480" y="4160520"/>
            <a:ext cx="3977640" cy="0"/>
          </a:xfrm>
          <a:prstGeom prst="line">
            <a:avLst/>
          </a:prstGeom>
          <a:noFill/>
          <a:ln w="12700">
            <a:solidFill>
              <a:srgbClr val="3350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69480" y="4343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0,31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269480" y="5074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de silhouette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 de mode de transport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3093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Classifier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supervisee multi-classes : transport en commun, voiture, taxi/clando, marche, moto.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9184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arbres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712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91840" y="37124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133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91840" y="41330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4553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91840" y="45537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 (5 plis)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52578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production : le modele retourne un top 3 des modes les plus probables, enrichi de statistiques de duree et de cout.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23760" y="1828800"/>
            <a:ext cx="4325112" cy="1965960"/>
          </a:xfrm>
          <a:prstGeom prst="roundRect">
            <a:avLst>
              <a:gd name="adj" fmla="val 3721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2148840"/>
            <a:ext cx="4325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90,6 %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223760" y="306324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3977640"/>
            <a:ext cx="4325112" cy="1965960"/>
          </a:xfrm>
          <a:prstGeom prst="roundRect">
            <a:avLst>
              <a:gd name="adj" fmla="val 3721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23760" y="4297680"/>
            <a:ext cx="4325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0,88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223760" y="521208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(macro)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d'anomalies de trafic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Consensus pondere de 3 algorithmes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14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127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Z-Score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82219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extremes univariees par site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4256" y="23317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08576" y="2514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08576" y="3127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0857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Forest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08576" y="382219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multivariee par isolement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28432" y="23317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02752" y="2514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02752" y="3127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02752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Outlier Factor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02752" y="382219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par densite locale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10908792" cy="1188720"/>
          </a:xfrm>
          <a:prstGeom prst="roundRect">
            <a:avLst>
              <a:gd name="adj" fmla="val 6154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consensus &gt;= 0,6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reduction significative des faux positifs par rapport a un algorithme unique. Un clustering spatial DBSCAN (eps ~ 500 m) distingue ensuite les hotspots structurels des incidents isoles.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du risque d'inaccessibilite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3093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Classifier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composite construit a partir de 7 indicateurs terrain (distance TC, inondation, enclavement, acces sante...), seuil au 65e percentile.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: imputation -&gt; encodage -&gt; normalisation -&gt; SMOTE -&gt; validation croisee stratifiee (4 algorithmes compares).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les plus determinantes : distance a pied jusqu'a l'arret TC, duree d'acces aux soins de sante.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223760" y="1828800"/>
            <a:ext cx="4325112" cy="1261872"/>
          </a:xfrm>
          <a:prstGeom prst="roundRect">
            <a:avLst>
              <a:gd name="adj" fmla="val 5797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52360" y="193852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0,921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509760" y="1828800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23760" y="3246120"/>
            <a:ext cx="4325112" cy="1261872"/>
          </a:xfrm>
          <a:prstGeom prst="roundRect">
            <a:avLst>
              <a:gd name="adj" fmla="val 5797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52360" y="335584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88,3 %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509760" y="3246120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23760" y="4663440"/>
            <a:ext cx="4325112" cy="1261872"/>
          </a:xfrm>
          <a:prstGeom prst="roundRect">
            <a:avLst>
              <a:gd name="adj" fmla="val 5797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52360" y="477316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90,6 %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509760" y="4663440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Synthese des modeles de Machine Learning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2926080"/>
        </p:xfrm>
        <a:graphic>
          <a:graphicData uri="http://schemas.openxmlformats.org/drawingml/2006/table">
            <a:tbl>
              <a:tblPr/>
              <a:tblGrid>
                <a:gridCol w="3108960"/>
                <a:gridCol w="2286000"/>
                <a:gridCol w="2926080"/>
                <a:gridCol w="25877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(k=5)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supervise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des usagers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~ 0,31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Recommandation de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~ 90,6 %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 + Isolation Forest + LOF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d'anomalies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Anomalies de trafic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Consensus pondere &gt;= 0,6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d'inaccessibilite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AUC = 0,921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120640"/>
            <a:ext cx="10908792" cy="1005840"/>
          </a:xfrm>
          <a:prstGeom prst="roundRect">
            <a:avLst>
              <a:gd name="adj" fmla="val 727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51206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L'ensemble des modeles est serialise (joblib) et expose via l'API FastAPI consommee par l'application web.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5" name="Image 0" descr="/sessions/laughing-focused-lamport/mnt/outputs/pptx_pfe/icons_out/chart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Restitution &amp; demonstration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29968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Knowage et application web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Cockpit decisionnel Knowage BI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pic>
        <p:nvPicPr>
          <p:cNvPr id="5" name="Image 0" descr="/sessions/laughing-focused-lamport/mnt/outputs/rapport_pfe/figures/kpis/DS_Trafic_Horai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938528"/>
            <a:ext cx="2459736" cy="1783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3776472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horaire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65576" y="18288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pic>
        <p:nvPicPr>
          <p:cNvPr id="8" name="Image 1" descr="/sessions/laughing-focused-lamport/mnt/outputs/rapport_pfe/figures/kpis/DS_FluxZon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75304" y="1938528"/>
            <a:ext cx="2459736" cy="1783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75304" y="3776472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par zones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91072" y="18288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pic>
        <p:nvPicPr>
          <p:cNvPr id="11" name="Image 2" descr="/sessions/laughing-focused-lamport/mnt/outputs/rapport_pfe/figures/kpis/DS_Acces_Service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0" y="1938528"/>
            <a:ext cx="2459736" cy="1783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0" y="3776472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Accessibilite services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9116568" y="18288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pic>
        <p:nvPicPr>
          <p:cNvPr id="14" name="Image 3" descr="/sessions/laughing-focused-lamport/mnt/outputs/rapport_pfe/figures/kpis/DS_Demo_Sex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26296" y="1938528"/>
            <a:ext cx="2459736" cy="17830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26296" y="3776472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Demographie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640080" y="4343400"/>
            <a:ext cx="10908792" cy="1600200"/>
          </a:xfrm>
          <a:prstGeom prst="roundRect">
            <a:avLst>
              <a:gd name="adj" fmla="val 4571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914400" y="45262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feuillets thematiques : Accueil, Trafic, Deplacements, Demographie, Accessibilite — directement connectes a l'entrepot PostgreSQL pour une restitution en quasi temps reel des indicateurs.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cles restitues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574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37 248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034540" y="3035808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54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Individus EMD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25112" y="20574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4 521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719572" y="3035808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3154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Menages EMD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10144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10144" y="20574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9404604" y="3035808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0144" y="3154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de comptage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59352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18795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775 480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2034540" y="5166360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2852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trafic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25112" y="3959352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25112" y="418795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507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5719572" y="5166360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25112" y="52852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geographiques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10144" y="3959352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10144" y="418795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9404604" y="5166360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0144" y="52852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analysees (risque)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web :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67128"/>
            <a:ext cx="640080" cy="640080"/>
          </a:xfrm>
          <a:prstGeom prst="ellipse">
            <a:avLst/>
          </a:prstGeom>
          <a:solidFill>
            <a:srgbClr val="1F3B57"/>
          </a:solidFill>
          <a:ln/>
        </p:spPr>
      </p:sp>
      <p:pic>
        <p:nvPicPr>
          <p:cNvPr id="6" name="Image 0" descr="/sessions/laughing-focused-lamport/mnt/outputs/pptx_pfe/icons_out/server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33354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57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FastAPI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48716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endpoints REST, validation Pydantic, modeles ML charges via joblib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493008"/>
            <a:ext cx="640080" cy="64008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1" name="Image 1" descr="/sessions/laughing-focused-lamport/mnt/outputs/pptx_pfe/icons_out/arrowrigh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65942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383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 (JSON)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783080" y="381304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synchrone Frontend &lt;-&gt; Backend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572000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818888"/>
            <a:ext cx="640080" cy="640080"/>
          </a:xfrm>
          <a:prstGeom prst="ellipse">
            <a:avLst/>
          </a:prstGeom>
          <a:solidFill>
            <a:srgbClr val="1F3B57"/>
          </a:solidFill>
          <a:ln/>
        </p:spPr>
      </p:sp>
      <p:pic>
        <p:nvPicPr>
          <p:cNvPr id="16" name="Image 2" descr="/sessions/laughing-focused-lamport/mnt/outputs/pptx_pfe/icons_out/react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498530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709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React.js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83080" y="51389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ThemeProvider, RBAC, pages citoyen et decideurs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Principaux endpoints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/recommander  •  GET /zones-risque  •  GET /api/anomalies/summary  •  GET /api/segmentation/profils  •  POST /predict-inaccessibility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utilisateurs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94360" cy="59436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" name="Image 0" descr="/sessions/laughing-focused-lamport/mnt/outputs/pptx_pfe/icons_out/user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22576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citoyen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WelcomePage : accueil et identite visuelle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FormPage : profil de mobilite (avec controle contextuel par age)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: top 3 des modes + duree/cout estimes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103120"/>
            <a:ext cx="594360" cy="59436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11" name="Image 1" descr="/sessions/laughing-focused-lamport/mnt/outputs/pptx_pfe/icons_out/shield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206" y="22576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51192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Espace decideurs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19672" y="283464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VueGenerale : tableau de bord de synthese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ZonesRisquePage : cartographie des 41 zones a risque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AnomalyDashboard : sites de comptage et hotspots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SegmentationPage &amp; SimulateurRisque : analyse avancee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MlInsights : transparence et auditabilite des modeles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et perspectives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FBEAE5"/>
          </a:solidFill>
          <a:ln/>
        </p:spPr>
      </p:sp>
      <p:pic>
        <p:nvPicPr>
          <p:cNvPr id="6" name="Image 0" descr="/sessions/laughing-focused-lamport/mnt/outputs/pptx_pfe/icons_out/warn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457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94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assumees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 2019, la plus recente disponible publiquement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donnees temps reel (capteurs/GPS)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simplifiee (PFE demonstratif)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tests automatises (validation manuelle)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103120"/>
            <a:ext cx="548640" cy="54864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11" name="Image 1" descr="/sessions/laughing-focused-lamport/mnt/outputs/pptx_pfe/icons_out/rocket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318" y="22457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51192" y="2194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19672" y="274320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temps reel (operateurs de transport)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Docker + CI/CD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renforcee (JWT, bcrypt)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: LSTM trafic, GNN reseau de transport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double dimension decisionnelle et predictive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630168" cy="3200400"/>
          </a:xfrm>
          <a:prstGeom prst="roundRect">
            <a:avLst>
              <a:gd name="adj" fmla="val 2286"/>
            </a:avLst>
          </a:prstGeom>
          <a:solidFill>
            <a:srgbClr val="162C44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86000"/>
            <a:ext cx="594360" cy="59436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7" name="Image 0" descr="/sessions/laughing-focused-lamport/mnt/outputs/pptx_pfe/icons_out/sitemap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654" y="24405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01752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classique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347472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en constellation, ETL Talend, entrepot PostgreSQL, cockpit Knowage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2011680"/>
            <a:ext cx="3630168" cy="3200400"/>
          </a:xfrm>
          <a:prstGeom prst="roundRect">
            <a:avLst>
              <a:gd name="adj" fmla="val 2286"/>
            </a:avLst>
          </a:prstGeom>
          <a:solidFill>
            <a:srgbClr val="162C44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2286000"/>
            <a:ext cx="594360" cy="59436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12" name="Image 1" descr="/sessions/laughing-focused-lamport/mnt/outputs/pptx_pfe/icons_out/brain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414" y="244053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301752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54880" y="347472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recommandation, detection d'anomalies, prediction de risque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0" y="2011680"/>
            <a:ext cx="3630168" cy="3200400"/>
          </a:xfrm>
          <a:prstGeom prst="roundRect">
            <a:avLst>
              <a:gd name="adj" fmla="val 2286"/>
            </a:avLst>
          </a:prstGeom>
          <a:solidFill>
            <a:srgbClr val="162C44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49640" y="2286000"/>
            <a:ext cx="594360" cy="59436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17" name="Image 2" descr="/sessions/laughing-focused-lamport/mnt/outputs/pptx_pfe/icons_out/laptop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174" y="244053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301752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complete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49640" y="347472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+ interface React pour citoyens et decideurs du CETUD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solide pour accompagner le CETUD vers une mobilite urbaine plus efficace et plus inclusive.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6400800" cy="64008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4" name="Shape 2"/>
          <p:cNvSpPr/>
          <p:nvPr/>
        </p:nvSpPr>
        <p:spPr>
          <a:xfrm>
            <a:off x="5458968" y="2011680"/>
            <a:ext cx="1280160" cy="128016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5" name="Image 0" descr="/sessions/laughing-focused-lamport/mnt/outputs/pptx_pfe/icons_out/handshak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810" y="2344522"/>
            <a:ext cx="614477" cy="6144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611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Conception et mise en oeuvre d'une solution decisionnelle - CETUD</dc:title>
  <dc:subject>PptxGenJS Presentation</dc:subject>
  <dc:creator>Ibtihel Abdellaoui</dc:creator>
  <cp:lastModifiedBy>Ibtihel Abdellaoui</cp:lastModifiedBy>
  <cp:revision>1</cp:revision>
  <dcterms:created xsi:type="dcterms:W3CDTF">2026-06-23T09:59:08Z</dcterms:created>
  <dcterms:modified xsi:type="dcterms:W3CDTF">2026-06-23T09:59:08Z</dcterms:modified>
</cp:coreProperties>
</file>