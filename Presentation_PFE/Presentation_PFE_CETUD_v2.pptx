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D'ETUDES  •  CETUD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mise en oeuvre d'une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decisionnelle pour l'analyse et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l'optimisation du transport urbain de Dakar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+  Machine Learning  au service de la mobilite urbaine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Ibtihel Abdellaoui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[Encadrant academique] / [Encadrant CETUD]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724205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724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6037" y="54406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6037" y="5440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09037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9037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7094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7094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544068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544068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5440680"/>
            <a:ext cx="1174090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5440680"/>
            <a:ext cx="117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/sessions/laughing-focused-lamport/mnt/outputs/pptx_pfe/icons_out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582" y="20029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8379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31720" y="2167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6243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2715768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3" name="Image 1" descr="/sessions/laughing-focused-lamport/mnt/outputs/pptx_pfe/icons_out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82" y="284415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331720" y="300837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4655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3557016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9" name="Image 2" descr="/sessions/laughing-focused-lamport/mnt/outputs/pptx_pfe/icons_out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582" y="3685398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331720" y="384962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30682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430682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4398264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5" name="Image 3" descr="/sessions/laughing-focused-lamport/mnt/outputs/pptx_pfe/icons_out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82" y="4526646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331720" y="469087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1480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514807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600200" y="5239512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4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582" y="5367894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331720" y="5202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331720" y="55321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ullsey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 et methodologie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CETUD : organisme d'accueil &amp; problematique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CETUD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Executif des Transports Urbains de Dakar : autorite organisatrice de la mobilite urbaine dans l'agglomeration dakaroise.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planifier, reguler et ameliorer l'offre de transport (bus, cars rapides, TER, BRT) au service des citoyens.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donnees d'enquete et de trafic existantes pour fonder les decisions sur des faits, pas des intuitions.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3" name="Image 1" descr="/sessions/laughing-focused-lamport/mnt/outputs/pptx_pfe/icons_out/warning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00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problematique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19672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CETUD dispose de donnees riches (EMD, comptages de trafic) mais dispersees, non structurees et sous-exploitees.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19672" y="3657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19672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Double reponse : un systeme decisionnel (BI) et des modeles predictifs (ML).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les besoins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decideurs CETUD et leurs besoins analytiques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Modeliser l'entrepot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schema decisionnel en constellation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45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l'ETL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l'entrepot via Talend depuis les sources EMD/trafic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 les KPIs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BI pour le pilotage de la mobilite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 au-dela du reporting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 et detection d'anomalies par ML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Livrer une application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GIMSI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gim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120640" cy="4032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82880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203911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03720" y="2249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donnees sources disponibles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83464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304495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3720" y="2907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0372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decisionnel en constellation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84048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405079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372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03720" y="4261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Talend, entrepot PostgreSQL, cockpit Knowage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484632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505663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03720" y="4919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Amelioration permanente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037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ML, application web, perspectives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 et modele decisionnel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Decideurs cibles et besoins identifies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de planification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l'offre, comprendre la demande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deplacements par jour et par zone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4" name="Image 1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d'exploitation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94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2940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horaires et frequences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2940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pointe, charge par creneau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donnees sources mobilisees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enquetes (EMD)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enquetes (EMD)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 de trafic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98864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63456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de trafic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de variables exploites dans l'EMD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 du domicile (quartier, strate, district)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du menage (taille, logement, equipement)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Deplacements individuels (motif, mode, duree, cout)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aux transports et services (ecole, daara)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de quartier (manque de TC, inondations, enclavement)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 des indicateurs cles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d'accessibilite composite (0-100)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de marche jusqu'a l'arret TC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Diversite des modes de TC disponibles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inondable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disponible en cas de pluie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abusive en periode de pluie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182880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Typologie des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1112" y="2670048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1112" y="3200400"/>
            <a:ext cx="237744" cy="237744"/>
          </a:xfrm>
          <a:prstGeom prst="ellipse">
            <a:avLst/>
          </a:prstGeom>
          <a:solidFill>
            <a:srgbClr val="E6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3136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3730752"/>
            <a:ext cx="237744" cy="23774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Sous-desservie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25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1112" y="4261104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4197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983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decisionnel en constellation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odele_constel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486400" cy="4645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783080"/>
            <a:ext cx="5193792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tables de faits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29400" y="2286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Fait_Comptage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Fait_Deplacement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Fait_IndividuMenage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294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dimensions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29400" y="35661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Dim_Site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Dim_Motif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Dim_Individu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29400" y="5257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constellation ? Les processus de comptage de trafic et d'enquete menages-deplacements ont des granularites differentes mais partagent des dimensions communes (site, temps, geographie).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 et entrepot PostgreSQL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Colab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et nettoyage des donnees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240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cu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8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13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: extraction, transformation, chargement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38404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81" y="23602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Entrepot de donnees (schema DW)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4406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978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81" y="23602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Knowage BI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138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decisionnel et restitution des KPIs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70408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serv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81" y="236024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140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140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exposant les modeles ML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8641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98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reac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81" y="236024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14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14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citoyens / decideurs</a:t>
            </a:r>
            <a:endParaRPr lang="en-US" sz="880" dirty="0"/>
          </a:p>
        </p:txBody>
      </p:sp>
      <p:sp>
        <p:nvSpPr>
          <p:cNvPr id="34" name="Shape 26"/>
          <p:cNvSpPr/>
          <p:nvPr/>
        </p:nvSpPr>
        <p:spPr>
          <a:xfrm>
            <a:off x="10241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98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" name="Image 6" descr="/sessions/laughing-focused-lamport/mnt/outputs/pptx_pfe/icons_out/task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5881" y="2360249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14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14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en sprints iteratifs</a:t>
            </a:r>
            <a:endParaRPr lang="en-US" sz="880" dirty="0"/>
          </a:p>
        </p:txBody>
      </p:sp>
      <p:sp>
        <p:nvSpPr>
          <p:cNvPr id="39" name="Shape 30"/>
          <p:cNvSpPr/>
          <p:nvPr/>
        </p:nvSpPr>
        <p:spPr>
          <a:xfrm>
            <a:off x="640080" y="420624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de l'ETL avec Talend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talend/tmap_de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400800" cy="2734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tMap du job Fait_Deplacement : jointures sur Dim_Motif, Dim_Individu et Dim_Mode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23760" y="1828800"/>
            <a:ext cx="43251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2 niveaux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98080" y="25146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28072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SA_individu, SA_menage, SA_deplacement : chargement brut filtre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chargement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: jointures, transformations, calculs -&gt; Faits &amp; Dimensions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49808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cles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tFileInputExcel  •  tFilterColumns  •  tMap  •  tDBInput  •  tDBOutput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 l'entrepot sous PostgreSQL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pg/Fact_comp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2606040" cy="3721608"/>
          </a:xfrm>
          <a:prstGeom prst="rect">
            <a:avLst/>
          </a:prstGeom>
        </p:spPr>
      </p:pic>
      <p:pic>
        <p:nvPicPr>
          <p:cNvPr id="5" name="Image 1" descr="/sessions/laughing-focused-lamport/mnt/outputs/rapport_pfe/figures/pg/dim_ge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828800"/>
            <a:ext cx="374904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96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Fact_Comptage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74904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 (507 zones)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818120" y="1828800"/>
            <a:ext cx="3730752" cy="4114800"/>
          </a:xfrm>
          <a:prstGeom prst="roundRect">
            <a:avLst>
              <a:gd name="adj" fmla="val 196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0" name="Image 2" descr="/sessions/laughing-focused-lamport/mnt/outputs/pptx_pfe/icons_out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22338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25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 via pgAdmin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092440" y="27432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dedie DW, conventions Dim_ / Fact_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Cles primaires/etrangeres coherentes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 volumes apres chargement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valeurs manquantes/aberrantes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fact_access dediee a l'accessibilite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modeles de Machine Learning au service de la mobilite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usagers (K-Means)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l/choix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12648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k=5 (methode du coude + silhouette ~ 0.31)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6126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segments identifies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TC reguliers  •  Actifs motorises  •  Etudiants mobilite douce  •  Pietons de proximite  •  Travailleurs informels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182880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6948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sociodemographiques + mobilite (EMD)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imputation mediane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non supervise, k=5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Caracterisation des clusters (heatmap)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4160520"/>
            <a:ext cx="397764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6948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mode de transport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supervisee multi-classes : transport en commun, voiture, taxi/clando, marche, moto.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 plis)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214884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23760" y="30632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397764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429768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223760" y="52120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d'anomalies de trafic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pondere de 3 algorithmes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extremes univariees par 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multivariee par isolement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02752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Outlier Factor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 densite locale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consensus &gt;= 0,6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reduction significative des faux positifs par rapport a un algorithme unique. Un clustering spatial DBSCAN (eps ~ 500 m) distingue ensuite les hotspots structurels des incidents isoles.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du risque d'inaccessibilite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construit a partir de 7 indicateurs terrain (distance TC, inondation, enclavement, acces sante...), seuil au 65e percentile.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imputation -&gt; encodage -&gt; normalisation -&gt; SMOTE -&gt; validation croisee stratifiee (4 algorithmes compares).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determinantes : distance a pied jusqu'a l'arret TC, duree d'acces aux soins de sante.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19385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09760" y="182880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24612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355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09760" y="324612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66344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47731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509760" y="46634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Synthese des modeles de Machine Learning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92608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des usagers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~ 0,31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~ 90,6 %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+ Isolation Forest + LOF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d'anomalies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de trafic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pondere &gt;=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d'inaccessibilite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 = 0,921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modeles est serialise (joblib) et expose via l'API FastAPI consommee par l'application web.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et application web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decisionnel Knowage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5" name="Image 0" descr="/sessions/laughing-focused-lamport/mnt/outputs/rapport_pfe/figures/kpis/DS_Trafic_Horai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938528"/>
            <a:ext cx="2459736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horaire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65576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8" name="Image 1" descr="/sessions/laughing-focused-lamport/mnt/outputs/rapport_pfe/figures/kpis/DS_FluxZ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75304" y="1938528"/>
            <a:ext cx="2459736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5304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par zones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91072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1" name="Image 2" descr="/sessions/laughing-focused-lamport/mnt/outputs/rapport_pfe/figures/kpis/DS_Acces_Servic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1938528"/>
            <a:ext cx="2459736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services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16568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4" name="Image 3" descr="/sessions/laughing-focused-lamport/mnt/outputs/rapport_pfe/figures/kpis/DS_Demo_Sex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26296" y="1938528"/>
            <a:ext cx="2459736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40080" y="434340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feuillets thematiques : Accueil, Trafic, Deplacements, Demographie, Accessibilite — directement connectes a l'entrepot PostgreSQL pour une restitution en quasi temps reel des indicateurs.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cles restitues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34540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EMD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719572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EMD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0144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404604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034540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trafic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25112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719572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0144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404604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analysees (risque)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serve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335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487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validation Pydantic, modeles ML charges via joblib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93008"/>
            <a:ext cx="640080" cy="64008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659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(JSON)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83080" y="38130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Frontend &lt;-&gt; Backend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1888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6" name="Image 2" descr="/sessions/laughing-focused-lamport/mnt/outputs/pptx_pfe/icons_out/reac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React.js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5138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ThemeProvider, RBAC, pages citoyen et decideurs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endpoints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/recommander  •  GET /zones-risque  •  GET /api/anomalies/summary  •  GET /api/segmentation/profils  •  POST /predict-inaccessibility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citoyen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 : accueil et identite visuelle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 : profil de mobilite (avec controle contextuel par age)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top 3 des modes + duree/cout estimes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94360" cy="5943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shiel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06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decideurs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VueGenerale : tableau de bord de synthese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ZonesRisquePage : cartographie des 41 zones a risque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AnomalyDashboard : sites de comptage et hotspots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SegmentationPage &amp; SimulateurRisque : analyse avancee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MlInsights : transparence et auditabilite des modeles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6" name="Image 0" descr="/sessions/laughing-focused-lamport/mnt/outputs/pptx_pfe/icons_out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2019, la plus recente disponible publiquement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 temps reel (capteurs/GPS)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simplifiee (PFE demonstratif)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automatises (validation manuelle)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rocke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temps reel (operateurs de transport)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+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renforcee (JWT, bcrypt)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LSTM trafic, GNN reseau de transport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double dimension decisionnelle et predictive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7" name="Image 0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4405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classique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en constellation, ETL Talend, entrepot PostgreSQL, cockpit Knowage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2" name="Image 1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detection d'anomalies, prediction de risque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7" name="Image 2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74" y="24405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complete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 du CETUD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accompagner le CETUD vers une mobilite urbaine plus efficace et plus inclusive.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2011680"/>
            <a:ext cx="1280160" cy="12801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5" name="Image 0" descr="/sessions/laughing-focused-lamport/mnt/outputs/pptx_pfe/icons_out/handshak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10" y="23445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11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mise en oeuvre d'une solution decisionnelle - CETUD</dc:title>
  <dc:subject>PptxGenJS Presentation</dc:subject>
  <dc:creator>Ibtihel Abdellaoui</dc:creator>
  <cp:lastModifiedBy>Ibtihel Abdellaoui</cp:lastModifiedBy>
  <cp:revision>1</cp:revision>
  <dcterms:created xsi:type="dcterms:W3CDTF">2026-06-23T20:42:12Z</dcterms:created>
  <dcterms:modified xsi:type="dcterms:W3CDTF">2026-06-23T20:42:12Z</dcterms:modified>
</cp:coreProperties>
</file>