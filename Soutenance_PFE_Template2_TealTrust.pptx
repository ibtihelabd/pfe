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EAF6F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108960" cy="3108960"/>
          </a:xfrm>
          <a:prstGeom prst="ellipse">
            <a:avLst/>
          </a:prstGeom>
          <a:solidFill>
            <a:srgbClr val="EAF6F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D'ETUDES  •  CETUD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9418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et mise en oeuvre d'une solution decisionnelle pour l'analyse et l'optimisation du transport urbain de Dakar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 + Machine Learning au service de la mobilite urbaine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5852160" cy="1051560"/>
          </a:xfrm>
          <a:prstGeom prst="roundRect">
            <a:avLst>
              <a:gd name="adj" fmla="val 6957"/>
            </a:avLst>
          </a:prstGeom>
          <a:solidFill>
            <a:srgbClr val="EAF6F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 par : Ibtihel Abdellaoui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Encadrants : [Encadrant academique] / [Encadrant CETUD]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Annee universitaire 2025 - 2026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de la presentation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029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0" y="1920240"/>
            <a:ext cx="5486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CETUD, problematique, objectifs, methodologie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712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761488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conception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2761488"/>
            <a:ext cx="5486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Decideurs, besoins, KPIs, modele decisionnel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1246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02736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oeuvre technique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3602736"/>
            <a:ext cx="5486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Environnement, ETL Talend, entrepot PostgreSQL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553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443984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4443984"/>
            <a:ext cx="5486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recommandation, anomalies, risques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285232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&amp; demonstration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5285232"/>
            <a:ext cx="5486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Knowage, application web, perspectives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83464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Contexte du projet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CETUD, problematique, objectifs et methodologie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CETUD : organisme d'accueil &amp; problematique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CETUD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 Executif des Transports Urbains de Dakar : autorite organisatrice de la mobilite urbaine dans l'agglomeration dakaroise.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: planifier, reguler et ameliorer l'offre de transport (bus, cars rapides, TER, BRT) au service des citoyens.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: exploiter les donnees d'enquete et de trafic existantes pour fonder les decisions sur des faits, pas des intuitions.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65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problematique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CETUD dispose de donnees riches (EMD, comptages de trafic) mais dispersees, non structurees et sous-exploitees.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transformer ces donnees brutes en informations decisionnelles fiables, et aller au-dela du reporting grace au Machine Learning 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Double reponse : un systeme decisionnel (BI) et des modeles predictifs (ML).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Objectifs du projet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282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05282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les besoins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decideurs CETUD et leurs besoins analytiques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186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80186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Modeliser l'entrepot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 schema decisionnel en constellation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090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55090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l'ETL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Alimenter l'entrepot via Talend depuis les sources EMD/trafic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2828" y="32735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2052828" y="3273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Restituer les KPIs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4251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Knowage BI pour le pilotage de la mobilite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1868" y="32735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801868" y="3273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au-dela du reporting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26280" y="4251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recommandation et detection d'anomalies par ML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0908" y="32735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9550908" y="3273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Livrer une application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75320" y="4251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 + interface React pour citoyens et decideurs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Methodologie GIMSI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7" name="Shape 5"/>
          <p:cNvSpPr/>
          <p:nvPr/>
        </p:nvSpPr>
        <p:spPr>
          <a:xfrm>
            <a:off x="1536192" y="182880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536192" y="18288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Decideurs, besoins, donnees sources disponibles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0832" y="182880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8288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 decisionnel en constellation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5472" y="182880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05472" y="18288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oeuvre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Talend, entrepot PostgreSQL, cockpit Knowage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40112" y="182880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0112" y="18288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Amelioration permanente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Modeles ML, application web, perspectives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Methodologie de gestion de projet : Scrum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complement de GIMSI (cadrage decisionnel), le pilotage operationnel du projet a suivi une approche agile Scrum, organisee en sprints iteratifs.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9" name="Shape 7"/>
          <p:cNvSpPr/>
          <p:nvPr/>
        </p:nvSpPr>
        <p:spPr>
          <a:xfrm>
            <a:off x="1536192" y="260604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36192" y="26060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de produit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priorisee des besoins et fonctionnalites (BI, ETL, ML, application) a livrer.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28803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2" y="26060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26060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9776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 courtes dediees a un lot de fonctionnalites (ex. : un job ETL, un modele ML).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5472" y="260604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205472" y="26060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Revues de sprint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9776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des livrables et recueil des retours en fin de chaque iteration.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52560" y="28803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AF6F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40112" y="26060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40112" y="26060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3544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Amelioration continue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39776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Ajustement du backlog et du modele en fonction des retours obtenus.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concret : l'ajout de la table de faits Fait_Accessibilite et de ses 3 dimensions en cours de projet, suite a un besoin identifie lors d'une revue de sprint.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83464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Analyse &amp; conception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Decideurs, besoins, KPIs et modele decisionnel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CONCEPTION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Decideurs cibles et besoins identifies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Directeur de planification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 l'offre, comprendre la demande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114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ASSOCIE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440740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de deplacements par jour et par zone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9202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240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Responsable d'exploitation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20840" y="301752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1089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340156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Ajuster horaires et frequences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40233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4114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ASSOCIE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440740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Heures de pointe, charge par creneau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CONCEPTION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donnees sources mobilisees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928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13 415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individus enquetes (EMD)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928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3 176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menages enquetes (EMD)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8928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de comptage de trafic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782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18928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37 248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9154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de trafic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Blocs de variables exploites dans l'EMD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Geographie du domicile (quartier, strate, district)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Caracteristiques du menage (taille, logement, equipement)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Deplacements individuels (motif, mode, duree, cout)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Accessibilite aux transports et services (ecole, daara)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Problemes de quartier (manque de TC, inondations, enclavement)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CONCEPTION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Exploration des donnees (EDA) &amp; dictionnaire de donnees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discovery (notebook Jupyter)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Volumetrie &amp; structure -- verification de la volumetrie et de la structure des 4 tables sources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manquantes -- detection des nulls colonne par colonne (ex. 104/231 cols. pour Menage)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aberrantes -- detection des outliers (regle IQR) sur les variables numeriques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 -- verification de l'absence de doublons stricts dans les exports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65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Dossier "CETUD DATA"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sources bruts (Excel .xls/.xlsx et CSV)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Dictionnaire de donnees (Dictionnaire_Donnees_CETUD.xlsx) : colonne, description metier, mapping vers le modele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EDA et ses resultats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d'ecran de la structure des tables sous pgAdmin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63093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: EDA_CETUD_DataDiscovery.ipynb -- execute sur les 4 fichiers sources reels.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CONCEPTION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Specification des indicateurs cles (KPIs)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Score d'accessibilite composite (0-100)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Duree de marche jusqu'a l'arret TC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4231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 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Diversite des modes de TC disponibles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inondable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337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-25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mode disponible en cas de pluie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 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Tarification abusive en periode de pluie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42519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 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24028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4688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desservie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&gt;= 75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29400" y="30632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0" y="3063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&gt;= 50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29400" y="36576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Sous-desservie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0" y="3657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&gt;= 25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29400" y="42519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0" y="4251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 25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206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complementaires : vulnerabilite climatique, impact sur l'education.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83464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Mise en oeuvre technique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Environnement, ETL Talend et entrepot PostgreSQL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CONCEPTION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Modele decisionnel en constellation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tables de faits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Fait_Comptage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9806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Fait_Deplacement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558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Fait_IndividuMenage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1363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Fait_Accessibilite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dimensions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2240280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24028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2798064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79806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Dim_Temps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355848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3558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Dim_Motif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913632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91363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Dim_Individu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471416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47141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Dim_Mode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5029200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50292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Dim_Menage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5586984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558698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Dim_Geographie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6144768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614476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Dim_Service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6702552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6702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Dim_Difficulte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7260336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726033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Dim_Transport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76986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76986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Fait_Accessibilite et ses 3 dimensions ont ete ajoutes en cours de projet pour repondre au besoin d'analyse de l'accessibilite aux services.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OEUVRE 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Environnement de travail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282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05282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Colab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et nettoyage des donnees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186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80186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: extraction, transformation, chargement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090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55090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Entrepot de donnees (schema DW)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2828" y="32735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2052828" y="3273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Knowage BI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4251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decisionnel et restitution des KPIs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1868" y="32735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801868" y="3273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26280" y="4251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exposant les modeles ML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0908" y="32735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9550908" y="3273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75320" y="4251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citoyens / decideurs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66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2828" y="496519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2052828" y="4965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5550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5943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projet en sprints iteratifs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6949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69494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chaine outillee de bout en bout : de la donnee brute (fichiers EMD/trafic) jusqu'a l'application web, en passant par l'ETL, l'entrepot de donnees, le cockpit BI et les modeles de Machine Learning.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OEUVRE 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Mise en oeuvre de l'ETL avec Talend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 tMap du job Fait_Deplacement : jointures sur Dim_Motif, Dim_Individu et Dim_Mode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743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 en 2 niveaux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4617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Staging Area -- SA_individu, SA_menage, SA_deplacement : chargement brut filtre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Zone de chargement -- tMap : jointures, transformations, calculs -&gt; Faits &amp; Dimensions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46888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74320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743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Composants cles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0" y="3337560"/>
            <a:ext cx="4617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tFileInputExcel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tFilterColumns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tDBInput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tDBOutput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OEUVRE 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Implementation de l'entrepot sous PostgreSQL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Fact_Comptage / Dim_Geographie (507 zones) -- verifie via pgAdmin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Bonnes pratiques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dedie DW, conventions Dim_ / Fact_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7530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Cles primaires/etrangeres coherentes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33088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330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des volumes apres chargement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46888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Qualite des donnees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3017520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0175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des valeurs manquantes/aberrantes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575304"/>
            <a:ext cx="5257800" cy="43891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57530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fact_access dediee a l'accessibilite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Segmentation des usagers (K-Means)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k=5 (methode du coude + silhouette ~ 0.31)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segments identifies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410712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Actifs TC reguliers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96512" y="2971800"/>
            <a:ext cx="2944368" cy="41148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096512" y="297180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Actifs motorises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2971800"/>
            <a:ext cx="4187952" cy="411480"/>
          </a:xfrm>
          <a:prstGeom prst="roundRect">
            <a:avLst>
              <a:gd name="adj" fmla="val 4888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297180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Etudiants mobilite douce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03152" y="297180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1503152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Pietons de proximite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206472" y="2971800"/>
            <a:ext cx="3877056" cy="41148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15206472" y="2971800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Travailleurs informels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361188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sociodemographiques + mobilite (EMD)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41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" y="402336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+ imputation mediane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5312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453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" y="443484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non supervise, k=5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6460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64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" y="484632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Caracterisation des clusters (heatmap)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2514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0,31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49808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de silhouette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83464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Intelligence artificielle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modeles de Machine Learning au service de la mobilite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Recommandation de mode de transport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 -- Classification supervisee multi-classes : transport en commun, voiture, taxi/clando, marche, moto.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92240" cy="411480"/>
          </a:xfrm>
          <a:prstGeom prst="roundRect">
            <a:avLst>
              <a:gd name="adj" fmla="val 17778"/>
            </a:avLst>
          </a:prstGeom>
          <a:solidFill>
            <a:srgbClr val="EAF6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arbres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6492240" cy="411480"/>
          </a:xfrm>
          <a:prstGeom prst="roundRect">
            <a:avLst>
              <a:gd name="adj" fmla="val 17778"/>
            </a:avLst>
          </a:prstGeom>
          <a:solidFill>
            <a:srgbClr val="EAF6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6492240" cy="411480"/>
          </a:xfrm>
          <a:prstGeom prst="roundRect">
            <a:avLst>
              <a:gd name="adj" fmla="val 17778"/>
            </a:avLst>
          </a:prstGeom>
          <a:solidFill>
            <a:srgbClr val="EAF6F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class_weight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5204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6492240" cy="411480"/>
          </a:xfrm>
          <a:prstGeom prst="roundRect">
            <a:avLst>
              <a:gd name="adj" fmla="val 17778"/>
            </a:avLst>
          </a:prstGeom>
          <a:solidFill>
            <a:srgbClr val="EAF6F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023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 (5 plis)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177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 : le modele retourne un top 3 des modes les plus probables, enrichi de statistiques de duree et de cout.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2514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90,6 %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49808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38862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3977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0,88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49808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(macro)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d'anomalies de trafic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Consensus pondere de 3 algorithmes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extremes univariees par 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5146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0,40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multivariee par isolement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5146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0,35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Outlier Factor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par densite locale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de consensus &gt;= 0,6 -&gt; reduction significative des faux positifs par rapport a un algorithme unique. Un clustering spatial DBSCAN (eps ~ 500 m) distingue ensuite les hotspots structurels des incidents isoles.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Prediction du risque d'inaccessibilite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Classifier -- Score composite construit a partir de 7 indicateurs terrain (distance TC, inondation, enclavement, acces sante...), seuil au 65e percentile.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: imputation -&gt; encodage -&gt; normalisation -&gt; SMOTE -&gt; validation croisee stratifiee (4 algorithmes compares). Variables les plus determinantes : distance a pied jusqu'a l'arret TC, duree d'acces aux soins de sante.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2514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0,921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9808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38862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3977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88,3 %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9808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52578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5349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90,6 %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98080" y="5943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Synthese des modeles de Machine Learning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  <a:gridCol w="32004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 (k=5)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supervise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Segmentation des usagers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Silhouette ~ 0,31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Recommandation de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~ 90,6 %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Z-Score + Isolation Forest + LOF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d'anomalies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Anomalies de trafic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 pondere &gt;= 0,6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d'inaccessibilite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 AUC = 0,921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12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L'ensemble des modeles est serialise (joblib) et expose via l'API FastAPI consommee par l'application web.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83464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Restitution &amp; demonstration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Knowage et application web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&amp;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Cockpit decisionnel Knowage BI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Trafic horaire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par zones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Accessibilite services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0116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69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feuillets thematiques : Accueil, Trafic, Deplacements, Demographie, Accessibilite -- directement connectes a l'entrepot PostgreSQL pour une restitution en quasi temps reel des indicateurs.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&amp;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KPIs cles restitues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13 415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Individus EMD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2402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3 176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Menages EMD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2402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de comptage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51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37 248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31520" y="5166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trafic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3977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4251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480560" y="5166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geographiques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3977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251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229600" y="5166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analysees (risque)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&amp;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 web : architecture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282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05282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FastAPI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endpoints REST, validation Pydantic, modeles ML charges via joblib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186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80186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(JSON)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synchrone Frontend &lt;-&gt; 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0908" y="158191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550908" y="1581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167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React.js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ThemeProvider, RBAC, pages citoyen et decideurs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661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Principaux endpoints : POST /recommander  •  GET /zones-risque  •  GET /api/anomalies/summary  •  GET /api/segmentation/profils  •  POST /predict-inaccessibility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&amp;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Parcours utilisateurs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Parcours citoyen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WelcomePage : accueil et identite visuelle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FormPage : profil de mobilite (avec controle contextuel par age)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 : top 3 des modes + duree/cout estimes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65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Espace decideurs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VueGenerale : tableau de bord de synthese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ZonesRisquePage : cartographie des 41 zones a risque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AnomalyDashboard : sites de comptage et hotspots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SegmentationPage &amp; SimulateurRisque : analyse avancee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MlInsights : transparence et auditabilite des modeles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Limites et perspectives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Limites assumees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EMD 2019, la plus recente disponible publiquement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donnees temps reel (capteurs/GPS)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simplifiee (PFE demonstratif)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tests automatises (validation manuelle)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65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Perspectives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temps reel (operateurs de transport)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 Docker + CI/CD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renforcee (JWT, bcrypt)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: LSTM trafic, GNN reseau de transport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429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Une double dimension decisionnelle et predictive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8882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9888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 classique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 en constellation, ETL Talend, entrepot PostgreSQL, cockpit Knowage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7860" y="16916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7378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recommandation, detection d'anomalies, prediction de risque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8690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4869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2468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485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 complete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21040" y="306324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 + interface React pour citoyens et decideurs du CETUD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864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4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base solide pour accompagner le CETUD vers une mobilite urbaine plus efficace et plus inclusive.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4206240" cy="4206240"/>
          </a:xfrm>
          <a:prstGeom prst="ellipse">
            <a:avLst/>
          </a:prstGeom>
          <a:solidFill>
            <a:srgbClr val="02485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- CETUD</dc:title>
  <dc:subject>PptxGenJS Presentation</dc:subject>
  <dc:creator>Ibtihel Abdellaoui</dc:creator>
  <cp:lastModifiedBy>Ibtihel Abdellaoui</cp:lastModifiedBy>
  <cp:revision>1</cp:revision>
  <dcterms:created xsi:type="dcterms:W3CDTF">2026-06-29T15:23:55Z</dcterms:created>
  <dcterms:modified xsi:type="dcterms:W3CDTF">2026-06-29T15:23:55Z</dcterms:modified>
</cp:coreProperties>
</file>