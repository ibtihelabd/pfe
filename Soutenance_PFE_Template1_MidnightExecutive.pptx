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D'ETUDES  •  CETUD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mise en oeuvre d'une solution decisionnelle pour l'analyse et l'optimisation du transport urbain de Dakar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+ Machine Learning au service de la mobilite urbaine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Ibtihel Abdellaoui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5445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[Encadrant academique] / [Encadrant CETUD]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83717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580644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58064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920240" y="1920240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212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10515600" cy="0"/>
          </a:xfrm>
          <a:prstGeom prst="line">
            <a:avLst/>
          </a:prstGeom>
          <a:noFill/>
          <a:ln w="12700">
            <a:solidFill>
              <a:srgbClr val="151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61488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20240" y="2761488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761488"/>
            <a:ext cx="5212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11296"/>
            <a:ext cx="10515600" cy="0"/>
          </a:xfrm>
          <a:prstGeom prst="line">
            <a:avLst/>
          </a:prstGeom>
          <a:noFill/>
          <a:ln w="12700">
            <a:solidFill>
              <a:srgbClr val="151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0273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3602736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602736"/>
            <a:ext cx="5212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352544"/>
            <a:ext cx="10515600" cy="0"/>
          </a:xfrm>
          <a:prstGeom prst="line">
            <a:avLst/>
          </a:prstGeom>
          <a:noFill/>
          <a:ln w="12700">
            <a:solidFill>
              <a:srgbClr val="151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43984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20240" y="4443984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443984"/>
            <a:ext cx="5212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93792"/>
            <a:ext cx="10515600" cy="0"/>
          </a:xfrm>
          <a:prstGeom prst="line">
            <a:avLst/>
          </a:prstGeom>
          <a:noFill/>
          <a:ln w="12700">
            <a:solidFill>
              <a:srgbClr val="151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85232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920240" y="5285232"/>
            <a:ext cx="4206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5285232"/>
            <a:ext cx="5212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5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 et methodologie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CETUD : organisme d'accueil &amp; problematique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CETUD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Executif des Transports Urbains de Dakar : autorite organisatrice de la mobilite urbaine dans l'agglomeration dakaroise.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planifier, reguler et ameliorer l'offre de transport (bus, cars rapides, TER, BRT) au service des citoyens.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exploiter les donnees d'enquete et de trafic existantes pour fonder les decisions sur des faits, pas des intuitions.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problematique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CETUD dispose de donnees riches (EMD, comptages de trafic) mais dispersees, non structurees et sous-exploitees.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Double reponse : un systeme decisionnel (BI) et des modeles predictifs (ML).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besoins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decideurs CETUD et leurs besoins analytiques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Modeliser l'entrepot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schema decisionnel en constellation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l'ETL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l'entrepot via Talend depuis les sources EMD/trafic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les KPIs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BI pour le pilotage de la mobilite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au-dela du reporting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 et detection d'anomalies par ML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532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2396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une application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GIMSI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donnees sources disponibles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8745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6160" y="3429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decisionnel en constellation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429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Talend, entrepot PostgreSQL, cockpit Knowage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2560" y="18745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3544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Amelioration permanente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342900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ML, application web, perspectives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de gestion de projet : Scrum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complement de GIMSI (cadrage decisionnel), le pilotage operationnel du projet a suivi une approche agile Scrum, organisee en sprints iteratifs.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produit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priorisee des besoins et fonctionnalites (BI, ETL, ML, application) a livrer.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265176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42062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courtes dediees a un lot de fonctionnalites (ex. : un job ETL, un modele ML).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de sprint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2062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des livrables et recueil des retours en fin de chaque iteration.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52560" y="265176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4F7F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8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3544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Amelioration continue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35440" y="42062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du backlog et du modele en fonction des retours obtenus.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: l'ajout de la table de faits Fait_Accessibilite et de ses 3 dimensions en cours de projet, suite a un besoin identifie lors d'une revue de sprint.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5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 et modele decisionnel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Decideurs cibles et besoins identifies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de planification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558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l'offre, comprendre la demande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31596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deplacements par jour et par zone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201168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86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d'exploitation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06324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33558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horaires et frequences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402336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31596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pointe, charge par creneau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donnees sources mobilisees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enquetes (EMD)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9385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5786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enquetes (EMD)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9385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5786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 de trafic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182880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9385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915400" y="25786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de trafic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de variables exploites dans l'EMD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 du domicile (quartier, strate, district)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du menage (taille, logement, equipement)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Deplacements individuels (motif, mode, duree, cout)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aux transports et services (ecole, daara)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de quartier (manque de TC, inondations, enclavement)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donnees (EDA) &amp; dictionnaire de donnees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discovery (notebook Jupyter)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Volumetrie &amp; structure -- verification de la volumetrie et de la structure des 4 tables sources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-- detection des nulls colonne par colonne (ex. 104/231 cols. pour Menage)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-- detection des outliers (regle IQR) sur les variables numeriques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-- verification de l'absence de doublons stricts dans les exports sources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 "CETUD DATA"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sources bruts (Excel .xls/.xlsx et CSV)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 de donnees (Dictionnaire_Donnees_CETUD.xlsx) : colonne, description metier, mapping vers le modele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EDA et ses resultats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d'ecran de la structure des tables sous pgAdmin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6355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: EDA_CETUD_DataDiscovery.ipynb -- execute sur les 4 fichiers sources reels.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 des indicateurs cles (KPIs)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d'accessibilite composite (0-100)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de marche jusqu'a l'arret TC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0" y="24688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pts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Diversite des modes de TC disponibles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inondable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pts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disponible en cas de pluie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abusive en periode de pluie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42976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pts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228600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5146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75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108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4128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703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Sous-desservie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25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297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663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5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 et entrepot PostgreSQL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decisionnel en constellation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tables de faits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Fait_Comptage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169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Fait_Deplacement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021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Fait_IndividuMenage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87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dimensions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3317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Dim_Site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916936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9169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502152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5021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Dim_Motif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0873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087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Dim_Individu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672584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6725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525780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257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5843016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58430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6428232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64282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Dim_Service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701344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7013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Dim_Difficulte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55080" y="7598664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75986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Dim_Transport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61264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1264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 et ses 3 dimensions ont ete ajoutes en cours de projet pour repondre au besoin d'analyse de l'accessibilite aux services.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travail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Colab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et nettoyage des donnees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: extraction, transformation, chargement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Entrepot de donnees (schema DW)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 BI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decisionnel et restitution des KPIs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exposant les modeles ML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532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2396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4187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citoyens / decideurs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2588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58338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en sprints iteratifs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68122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6812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de l'ETL avec Talend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tMap du job Fait_Deplacement : jointures sur Dim_Motif, Dim_Individu et Dim_Mode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257800" cy="3657600"/>
          </a:xfrm>
          <a:prstGeom prst="roundRect">
            <a:avLst>
              <a:gd name="adj" fmla="val 15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2 niveaux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Staging Area -- SA_individu, SA_menage, SA_deplacement : chargement brut filtre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Zone de chargement -- tMap : jointures, transformations, calculs -&gt; Faits &amp; Dimensions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560320"/>
            <a:ext cx="5257800" cy="3657600"/>
          </a:xfrm>
          <a:prstGeom prst="roundRect">
            <a:avLst>
              <a:gd name="adj" fmla="val 15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cles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tFileInputExcel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tFilterColumns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tDBInput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tDBOutput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 l'entrepot sous PostgreSQL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Fact_Comptage / Dim_Geographie (507 zones) -- verifie via pgAdmin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dedie DW, conventions Dim_ / Fact_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941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Cles primaires/etrangeres coherentes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9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 volumes apres chargement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256032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Qualite des donnees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valeurs manquantes/aberrantes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694176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6941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fact_access dediee a l'accessibilite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usagers (K-Means)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k=5 (methode du coude + silhouette ~ 0.31)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segments identifies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584448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TC reguliers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0248" y="3063240"/>
            <a:ext cx="3090672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4270248" y="30632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motorises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3063240"/>
            <a:ext cx="4407408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306324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Etudiants mobilite douce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042648" y="3063240"/>
            <a:ext cx="3749040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/>
        </p:spPr>
      </p:sp>
      <p:sp>
        <p:nvSpPr>
          <p:cNvPr id="16" name="Text 14"/>
          <p:cNvSpPr/>
          <p:nvPr/>
        </p:nvSpPr>
        <p:spPr>
          <a:xfrm>
            <a:off x="12042648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Pietons de proximite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5928848" y="3063240"/>
            <a:ext cx="4078224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15928848" y="3063240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 informels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703320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sociodemographiques + mobilite (EMD)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087368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imputation mediane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471416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non supervise, k=5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828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82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4855464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Caracterisation des clusters (heatmap)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26060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697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5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modeles de Machine Learning au service de la mobilite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mode de transport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-- Classification supervisee multi-classes : transport en commun, voiture, taxi/clando, marche, moto.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6492240" cy="41148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6060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6492240" cy="41148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108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6492240" cy="41148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611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6492240" cy="41148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114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 plis)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91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26060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697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06640" y="39776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4663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d'anomalies de trafic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pondere de 3 algorithmes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extremes univariees par 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794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multivariee par isolement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3774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7532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794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 densite locale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006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consensus &gt;= 0,6 -&gt; reduction significative des faux positifs par rapport a un algorithme unique. Un clustering spatial DBSCAN (eps ~ 500 m) distingue ensuite les hotspots structurels des incidents isoles.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du risque d'inaccessibilite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-- Score composite construit a partir de 7 indicateurs terrain (distance TC, inondation, enclavement, acces sante...), seuil au 65e percentile.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imputation -&gt; encodage -&gt; normalisation -&gt; SMOTE -&gt; validation croisee stratifiee (4 algorithmes compares). Variables les plus determinantes : distance a pied jusqu'a l'arret TC, duree d'acces aux soins de sante.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26060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697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39776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0" y="4663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53492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5440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6035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Synthese des modeles de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  <a:gridCol w="32004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des usagers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~ 0,31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~ 90,6 %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+ Isolation Forest + LOF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d'anomalies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de trafic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pondere &gt;= 0,6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d'inaccessibilite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 = 0,921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0352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3035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modeles est serialise (joblib) et expose via l'API FastAPI consommee par l'application web.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5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et application 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decisionnel Knowage BI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2468880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2377440"/>
            <a:ext cx="640080" cy="6400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horaire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468880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377440"/>
            <a:ext cx="640080" cy="6400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par zones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468880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2377440"/>
            <a:ext cx="640080" cy="6400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services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2103120"/>
            <a:ext cx="2468880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2377440"/>
            <a:ext cx="640080" cy="6400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feuillets thematiques : Accueil, Trafic, Deplacements, Demographie, Accessibilite -- directement connectes a l'entrepot PostgreSQL pour une restitution en quasi temps reel des indicateurs.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cles restitues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3774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3774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4F7F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434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trafic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406908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3434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480560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406908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4F7F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3434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29600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analysees (risque)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validation Pydantic, modeles ML charges via joblib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(JSON)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Frontend &lt;-&gt; Backend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057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React.js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542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ThemeProvider, RBAC, pages citoyen et decideurs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204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endpoints : POST /recommander  •  GET /zones-risque  •  GET /api/anomalies/summary  •  GET /api/segmentation/profils  •  POST /predict-inaccessibility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citoyen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 : accueil et identite visuelle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 : profil de mobilite (avec controle contextuel par age)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top 3 des modes + duree/cout estimes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decideurs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VueGenerale : tableau de bord de synthese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ZonesRisquePage : cartographie des 41 zones a risque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AnomalyDashboard : sites de comptage et hotspots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SegmentationPage &amp; SimulateurRisque : analyse avancee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MlInsights : transparence et auditabilite des modeles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assumees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2019, la plus recente disponible publiquement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 temps reel (capteurs/GPS)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simplifiee (PFE demonstratif)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automatises (validation manuelle)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1B23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temps reel (operateurs de transport)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+ CI/CD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renforcee (JWT, bcrypt)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LSTM trafic, GNN reseau de transport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double dimension decisionnelle et predictive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classique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en constellation, ETL Talend, entrepot PostgreSQL, cockpit Knowage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detection d'anomalies, prediction de risque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complete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 du CETUD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56692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406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accompagner le CETUD vers une mobilite urbaine plus efficace et plus inclusive.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37744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- CETUD</dc:title>
  <dc:subject>PptxGenJS Presentation</dc:subject>
  <dc:creator>Ibtihel Abdellaoui</dc:creator>
  <cp:lastModifiedBy>Ibtihel Abdellaoui</cp:lastModifiedBy>
  <cp:revision>1</cp:revision>
  <dcterms:created xsi:type="dcterms:W3CDTF">2026-06-29T15:23:55Z</dcterms:created>
  <dcterms:modified xsi:type="dcterms:W3CDTF">2026-06-29T15:23:55Z</dcterms:modified>
</cp:coreProperties>
</file>