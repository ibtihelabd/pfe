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Je m'appelle Ibtihel Abdellaoui, étudiante en Master Informatique à ESPRIT. Je vais vous présenter mon projet de fin d'études réalisé au sein de SIMAC, en partenariat avec le CETUD — le Centre d'Étude et de Coordination des Transports Urbains de Dakar. Le projet s'intitule TransportDakar : un système d'intelligence décisionnelle pour la mobilité urbaine à Dakar. L'objectif principal est de transformer les données de transport dakaroises en aide à la décision concrète, à la fois pour les citoyens et pour les décideurs du CETUD.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plan de notre présentation en sept parties : contexte et problématique, architecture globale, données et modèle décisionnel, les quatre modèles de Machine Learning, le cockpit Knowage, l'application web, et enfin les résultats et perspectives.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CETUD est l'organisme en charge de la planification des transports urbains à Dakar. La problématique est triple : des données EMD et trafic non exploitées ensemble, l'absence d'outil BI pour orienter les décisions, et 9 zones sur 41 en risque élevé d'inaccessibilité sans diagnostic structuré. Notre objectif : construire une chaîne décisionnelle complète de la donnée brute à l'aide à la décision opérationnelle.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se décompose en cinq couches : les sources de données brutes EMD et trafic, l'ETL Talend avec 13 jobs, le Data Warehouse PostgreSQL en constellation, les quatre modèles ML en Python, et la restitution via le cockpit Knowage et l'application web React/FastAPI.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sources : l'EMD 2019 avec 37 248 individus et 775 000 observations de trafic sur 49 sites. Le modèle décisionnel adopte une constellation avec quatre tables de faits — Trafic, Déplacement, Accessibilité, Individu — et quinze dimensions partagées.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modèles ML ont été développés. M1 : Random Forest de recommandation transport pour les citoyens, 87% de précision. M2 : Random Forest de prédiction d'inaccessibilité pour les décideurs, 85% précision. M3 : système de détection d'anomalies combinant trois algorithmes avec consensus 2/3, 90.6% d'accord. M4 : K-Means en 5 clusters pour segmenter les usagers.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M3 combine trois algorithmes pour détecter les anomalies de trafic. Isolation Forest, LOF et Z-Score. Une anomalie n'est retenue que si au moins 2 modèles sur 3 la signalent. Ce consensus atteint 90.6% d'accord inter-modèles. Résultat : 723 anomalies confirmées sur 37 248 observations, sur 35 des 49 sites routiers analysés.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cockpit Knowage restitue les indicateurs via 6 sheets thématiques. Accueil sert de hub de navigation. Trafic visualise les 775 000 observations sur 49 sites. Déplacements analyse les flux et coûts. Démographie dresse le profil des enquêtés. Accessibilité affiche les scores et zones à risque. Le sheet IA expose les métriques de performance. Tout est connecté directement au Data Warehouse PostgreSQL, avec mode clair et sombre.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L'application web repose sur quatre couches. Le frontend React avec ThemeProvider dark/light et auth JWT. L'API FastAPI avec 9 endpoints REST, validation Pydantic et Swagger. Les modèles ML sérialisés avec joblib chargés au démarrage. Et le Data Warehouse PostgreSQL. Un contrôle d'accès RBAC distingue trois rôles : citoyen, chef d'exploitation et directeur de planification.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parcours citoyen se déroule en quatre étapes. Accueil TransportDakar, formulaire de profil avec validation contextuelle dynamique, recommandation du top 3 des modes de transport avec durée et coût, et enfin une page d'avis citoyen pour noter sa satisfaction et laisser un commentaire. Toute l'interface supporte le mode clair et le mode sombre.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L'espace décideurs regroupe sept modules. Les pages Zones à Risque et Anomalies Trafic intègrent un bouton d'export PDF pour télécharger les rapports directement. Le Simulateur de Risque permet d'évaluer une zone hypothétique en temps réel. ML Insights et Évolution Temporelle sont réservés au directeur de planification pour l'auditabilité des modèles et l'analyse prospective.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bilan chiffré : côté ML, 87% pour la recommandation, 85% pour l'inaccessibilité, 90.6% pour les anomalies, silhouette 0.68 pour la segmentation. Le DW contient 4 tables de faits, 15 dimensions, 775 480 lignes trafic. L'application expose 9 endpoints, 7 pages décideurs avec export PDF, et le cockpit compte 6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axes d'amélioration ont été identifiés : intégration de données temps réel via GPS et IoT, modèles LSTM pour prévision trafic, application mobile PWA, extension à d'autres villes africaines, intégration API officielle CETUD, et génération automatisée de rapports mensuels.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TransportDakar livre une chaîne décisionnelle complète et opérationnelle : un Data Warehouse structuré, quatre modèles ML performants, un cockpit Knowage à 6 sheets, et une application web pour citoyens et décideurs avec export PDF intégré. L'objectif de transformer la donnée brute en intelligence au service de la mobilité durable à Dakar est atteint. Je vous remercie pour votre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vous remercie. Je suis disponible pour répondre à toutes vos questions concernant les choix algorithmiques, l'architecture technique, les résultats obtenus ou les perspectives de déploiement.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6583680" y="-1097280"/>
            <a:ext cx="4572000" cy="4572000"/>
          </a:xfrm>
          <a:prstGeom prst="ellipse">
            <a:avLst/>
          </a:prstGeom>
          <a:solidFill>
            <a:srgbClr val="FF6B35">
              <a:alpha val="12000"/>
            </a:srgbClr>
          </a:solidFill>
          <a:ln w="12700">
            <a:solidFill>
              <a:srgbClr val="FF6B35">
                <a:alpha val="30000"/>
              </a:srgbClr>
            </a:solidFill>
            <a:prstDash val="solid"/>
          </a:ln>
        </p:spPr>
      </p:sp>
      <p:sp>
        <p:nvSpPr>
          <p:cNvPr id="3" name="Shape 1"/>
          <p:cNvSpPr/>
          <p:nvPr/>
        </p:nvSpPr>
        <p:spPr>
          <a:xfrm>
            <a:off x="7406640" y="-274320"/>
            <a:ext cx="2560320" cy="2560320"/>
          </a:xfrm>
          <a:prstGeom prst="ellipse">
            <a:avLst/>
          </a:prstGeom>
          <a:solidFill>
            <a:srgbClr val="FF6B35">
              <a:alpha val="22000"/>
            </a:srgbClr>
          </a:solidFill>
          <a:ln w="12700">
            <a:solidFill>
              <a:srgbClr val="FF6B35">
                <a:alpha val="40000"/>
              </a:srgbClr>
            </a:solidFill>
            <a:prstDash val="solid"/>
          </a:ln>
        </p:spPr>
      </p:sp>
      <p:sp>
        <p:nvSpPr>
          <p:cNvPr id="4" name="Shape 2"/>
          <p:cNvSpPr/>
          <p:nvPr/>
        </p:nvSpPr>
        <p:spPr>
          <a:xfrm>
            <a:off x="457200" y="914400"/>
            <a:ext cx="1645920" cy="292608"/>
          </a:xfrm>
          <a:prstGeom prst="roundRect">
            <a:avLst>
              <a:gd name="adj" fmla="val 25000"/>
            </a:avLst>
          </a:prstGeom>
          <a:solidFill>
            <a:srgbClr val="FF6B35"/>
          </a:solidFill>
          <a:ln w="12700">
            <a:solidFill>
              <a:srgbClr val="FF6B35"/>
            </a:solidFill>
            <a:prstDash val="solid"/>
          </a:ln>
        </p:spPr>
      </p:sp>
      <p:sp>
        <p:nvSpPr>
          <p:cNvPr id="5" name="Text 3"/>
          <p:cNvSpPr/>
          <p:nvPr/>
        </p:nvSpPr>
        <p:spPr>
          <a:xfrm>
            <a:off x="457200" y="914400"/>
            <a:ext cx="1645920" cy="292608"/>
          </a:xfrm>
          <a:prstGeom prst="rect">
            <a:avLst/>
          </a:prstGeom>
          <a:noFill/>
          <a:ln/>
        </p:spPr>
        <p:txBody>
          <a:bodyPr wrap="square" lIns="0" tIns="0" rIns="0" bIns="0" rtlCol="0" anchor="ctr"/>
          <a:lstStyle/>
          <a:p>
            <a:pPr algn="ctr" indent="0" marL="0">
              <a:buNone/>
            </a:pPr>
            <a:r>
              <a:rPr lang="en-US" sz="800" b="1" dirty="0">
                <a:solidFill>
                  <a:srgbClr val="F9FAFB"/>
                </a:solidFill>
                <a:latin typeface="Calibri" pitchFamily="34" charset="0"/>
                <a:ea typeface="Calibri" pitchFamily="34" charset="-122"/>
                <a:cs typeface="Calibri" pitchFamily="34" charset="-120"/>
              </a:rPr>
              <a:t>PFE 2024 – 2025</a:t>
            </a:r>
            <a:endParaRPr lang="en-US" sz="800" dirty="0"/>
          </a:p>
        </p:txBody>
      </p:sp>
      <p:sp>
        <p:nvSpPr>
          <p:cNvPr id="6" name="Text 4"/>
          <p:cNvSpPr/>
          <p:nvPr/>
        </p:nvSpPr>
        <p:spPr>
          <a:xfrm>
            <a:off x="457200" y="1325880"/>
            <a:ext cx="7772400" cy="868680"/>
          </a:xfrm>
          <a:prstGeom prst="rect">
            <a:avLst/>
          </a:prstGeom>
          <a:noFill/>
          <a:ln/>
        </p:spPr>
        <p:txBody>
          <a:bodyPr wrap="square" lIns="0" tIns="0" rIns="0" bIns="0" rtlCol="0" anchor="ctr"/>
          <a:lstStyle/>
          <a:p>
            <a:pPr indent="0" marL="0">
              <a:buNone/>
            </a:pPr>
            <a:r>
              <a:rPr lang="en-US" sz="5400" b="1" dirty="0">
                <a:solidFill>
                  <a:srgbClr val="FF6B35"/>
                </a:solidFill>
                <a:latin typeface="Calibri" pitchFamily="34" charset="0"/>
                <a:ea typeface="Calibri" pitchFamily="34" charset="-122"/>
                <a:cs typeface="Calibri" pitchFamily="34" charset="-120"/>
              </a:rPr>
              <a:t>TransportDakar</a:t>
            </a:r>
            <a:endParaRPr lang="en-US" sz="5400" dirty="0"/>
          </a:p>
        </p:txBody>
      </p:sp>
      <p:sp>
        <p:nvSpPr>
          <p:cNvPr id="7" name="Text 5"/>
          <p:cNvSpPr/>
          <p:nvPr/>
        </p:nvSpPr>
        <p:spPr>
          <a:xfrm>
            <a:off x="457200" y="2176272"/>
            <a:ext cx="6858000" cy="822960"/>
          </a:xfrm>
          <a:prstGeom prst="rect">
            <a:avLst/>
          </a:prstGeom>
          <a:noFill/>
          <a:ln/>
        </p:spPr>
        <p:txBody>
          <a:bodyPr wrap="square" lIns="0" tIns="0" rIns="0" bIns="0" rtlCol="0" anchor="ctr"/>
          <a:lstStyle/>
          <a:p>
            <a:pPr indent="0" marL="0">
              <a:buNone/>
            </a:pPr>
            <a:r>
              <a:rPr lang="en-US" sz="2000" dirty="0">
                <a:solidFill>
                  <a:srgbClr val="F9FAFB"/>
                </a:solidFill>
                <a:latin typeface="Calibri" pitchFamily="34" charset="0"/>
                <a:ea typeface="Calibri" pitchFamily="34" charset="-122"/>
                <a:cs typeface="Calibri" pitchFamily="34" charset="-120"/>
              </a:rPr>
              <a:t>Système d'Intelligence Décisionnelle</a:t>
            </a:r>
            <a:endParaRPr lang="en-US" sz="2000" dirty="0"/>
          </a:p>
          <a:p>
            <a:pPr indent="0" marL="0">
              <a:buNone/>
            </a:pPr>
            <a:r>
              <a:rPr lang="en-US" sz="2000" dirty="0">
                <a:solidFill>
                  <a:srgbClr val="F9FAFB"/>
                </a:solidFill>
                <a:latin typeface="Calibri" pitchFamily="34" charset="0"/>
                <a:ea typeface="Calibri" pitchFamily="34" charset="-122"/>
                <a:cs typeface="Calibri" pitchFamily="34" charset="-120"/>
              </a:rPr>
              <a:t>pour la Mobilité Urbaine à Dakar</a:t>
            </a:r>
            <a:endParaRPr lang="en-US" sz="2000" dirty="0"/>
          </a:p>
        </p:txBody>
      </p:sp>
      <p:sp>
        <p:nvSpPr>
          <p:cNvPr id="8" name="Shape 6"/>
          <p:cNvSpPr/>
          <p:nvPr/>
        </p:nvSpPr>
        <p:spPr>
          <a:xfrm>
            <a:off x="457200" y="3063240"/>
            <a:ext cx="3200400" cy="36576"/>
          </a:xfrm>
          <a:prstGeom prst="rect">
            <a:avLst/>
          </a:prstGeom>
          <a:solidFill>
            <a:srgbClr val="FF6B35"/>
          </a:solidFill>
          <a:ln w="12700">
            <a:solidFill>
              <a:srgbClr val="FF6B35"/>
            </a:solidFill>
            <a:prstDash val="solid"/>
          </a:ln>
        </p:spPr>
      </p:sp>
      <p:sp>
        <p:nvSpPr>
          <p:cNvPr id="9" name="Text 7"/>
          <p:cNvSpPr/>
          <p:nvPr/>
        </p:nvSpPr>
        <p:spPr>
          <a:xfrm>
            <a:off x="457200" y="3200400"/>
            <a:ext cx="4572000" cy="347472"/>
          </a:xfrm>
          <a:prstGeom prst="rect">
            <a:avLst/>
          </a:prstGeom>
          <a:noFill/>
          <a:ln/>
        </p:spPr>
        <p:txBody>
          <a:bodyPr wrap="square" lIns="0" tIns="0" rIns="0" bIns="0" rtlCol="0" anchor="ctr"/>
          <a:lstStyle/>
          <a:p>
            <a:pPr indent="0" marL="0">
              <a:buNone/>
            </a:pPr>
            <a:r>
              <a:rPr lang="en-US" sz="1500" b="1" dirty="0">
                <a:solidFill>
                  <a:srgbClr val="F9FAFB"/>
                </a:solidFill>
                <a:latin typeface="Calibri" pitchFamily="34" charset="0"/>
                <a:ea typeface="Calibri" pitchFamily="34" charset="-122"/>
                <a:cs typeface="Calibri" pitchFamily="34" charset="-120"/>
              </a:rPr>
              <a:t>Ibtihel Abdellaoui</a:t>
            </a:r>
            <a:endParaRPr lang="en-US" sz="1500" dirty="0"/>
          </a:p>
        </p:txBody>
      </p:sp>
      <p:sp>
        <p:nvSpPr>
          <p:cNvPr id="10" name="Text 8"/>
          <p:cNvSpPr/>
          <p:nvPr/>
        </p:nvSpPr>
        <p:spPr>
          <a:xfrm>
            <a:off x="457200" y="3547872"/>
            <a:ext cx="5486400" cy="256032"/>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Encadrante ESPRIT : </a:t>
            </a:r>
            <a:pPr indent="0" marL="0">
              <a:buNone/>
            </a:pPr>
            <a:r>
              <a:rPr lang="en-US" sz="1100" dirty="0">
                <a:solidFill>
                  <a:srgbClr val="F9FAFB"/>
                </a:solidFill>
                <a:latin typeface="Calibri" pitchFamily="34" charset="0"/>
                <a:ea typeface="Calibri" pitchFamily="34" charset="-122"/>
                <a:cs typeface="Calibri" pitchFamily="34" charset="-120"/>
              </a:rPr>
              <a:t>Mme Zeineb Maatoug</a:t>
            </a:r>
            <a:endParaRPr lang="en-US" sz="1100" dirty="0"/>
          </a:p>
        </p:txBody>
      </p:sp>
      <p:sp>
        <p:nvSpPr>
          <p:cNvPr id="11" name="Text 9"/>
          <p:cNvSpPr/>
          <p:nvPr/>
        </p:nvSpPr>
        <p:spPr>
          <a:xfrm>
            <a:off x="457200" y="3803904"/>
            <a:ext cx="5486400" cy="256032"/>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Encadrant SIMAC : </a:t>
            </a:r>
            <a:pPr indent="0" marL="0">
              <a:buNone/>
            </a:pPr>
            <a:r>
              <a:rPr lang="en-US" sz="1100" dirty="0">
                <a:solidFill>
                  <a:srgbClr val="F9FAFB"/>
                </a:solidFill>
                <a:latin typeface="Calibri" pitchFamily="34" charset="0"/>
                <a:ea typeface="Calibri" pitchFamily="34" charset="-122"/>
                <a:cs typeface="Calibri" pitchFamily="34" charset="-120"/>
              </a:rPr>
              <a:t>M. Mohamed Ben Hassine</a:t>
            </a:r>
            <a:endParaRPr lang="en-US" sz="1100" dirty="0"/>
          </a:p>
        </p:txBody>
      </p:sp>
      <p:sp>
        <p:nvSpPr>
          <p:cNvPr id="12" name="Text 10"/>
          <p:cNvSpPr/>
          <p:nvPr/>
        </p:nvSpPr>
        <p:spPr>
          <a:xfrm>
            <a:off x="457200" y="4480560"/>
            <a:ext cx="8229600" cy="256032"/>
          </a:xfrm>
          <a:prstGeom prst="rect">
            <a:avLst/>
          </a:prstGeom>
          <a:noFill/>
          <a:ln/>
        </p:spPr>
        <p:txBody>
          <a:bodyPr wrap="square" lIns="0" tIns="0" rIns="0" bIns="0" rtlCol="0" anchor="ctr"/>
          <a:lstStyle/>
          <a:p>
            <a:pPr algn="l" indent="0" marL="0">
              <a:buNone/>
            </a:pPr>
            <a:r>
              <a:rPr lang="en-US" sz="1000" dirty="0">
                <a:solidFill>
                  <a:srgbClr val="4B5563"/>
                </a:solidFill>
                <a:latin typeface="Calibri" pitchFamily="34" charset="0"/>
                <a:ea typeface="Calibri" pitchFamily="34" charset="-122"/>
                <a:cs typeface="Calibri" pitchFamily="34" charset="-120"/>
              </a:rPr>
              <a:t>SIMAC  ·  CETUD  ·  ESPRIT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457200" y="256032"/>
            <a:ext cx="1005840" cy="64008"/>
          </a:xfrm>
          <a:prstGeom prst="rect">
            <a:avLst/>
          </a:prstGeom>
          <a:solidFill>
            <a:srgbClr val="FF6B35"/>
          </a:solidFill>
          <a:ln w="12700">
            <a:solidFill>
              <a:srgbClr val="FF6B35"/>
            </a:solidFill>
            <a:prstDash val="solid"/>
          </a:ln>
        </p:spPr>
      </p:sp>
      <p:sp>
        <p:nvSpPr>
          <p:cNvPr id="3" name="Text 1"/>
          <p:cNvSpPr/>
          <p:nvPr/>
        </p:nvSpPr>
        <p:spPr>
          <a:xfrm>
            <a:off x="457200" y="365760"/>
            <a:ext cx="8229600" cy="411480"/>
          </a:xfrm>
          <a:prstGeom prst="rect">
            <a:avLst/>
          </a:prstGeom>
          <a:noFill/>
          <a:ln/>
        </p:spPr>
        <p:txBody>
          <a:bodyPr wrap="square" lIns="0" tIns="0" rIns="0" bIns="0" rtlCol="0" anchor="ctr"/>
          <a:lstStyle/>
          <a:p>
            <a:pPr indent="0" marL="0">
              <a:buNone/>
            </a:pPr>
            <a:r>
              <a:rPr lang="en-US" sz="2600" b="1" dirty="0">
                <a:solidFill>
                  <a:srgbClr val="F9FAFB"/>
                </a:solidFill>
                <a:latin typeface="Calibri" pitchFamily="34" charset="0"/>
                <a:ea typeface="Calibri" pitchFamily="34" charset="-122"/>
                <a:cs typeface="Calibri" pitchFamily="34" charset="-120"/>
              </a:rPr>
              <a:t>Plan de la présentation</a:t>
            </a:r>
            <a:endParaRPr lang="en-US" sz="2600" dirty="0"/>
          </a:p>
        </p:txBody>
      </p:sp>
      <p:sp>
        <p:nvSpPr>
          <p:cNvPr id="4" name="Text 2"/>
          <p:cNvSpPr/>
          <p:nvPr/>
        </p:nvSpPr>
        <p:spPr>
          <a:xfrm>
            <a:off x="0" y="4892040"/>
            <a:ext cx="9144000" cy="256032"/>
          </a:xfrm>
          <a:prstGeom prst="rect">
            <a:avLst/>
          </a:prstGeom>
          <a:noFill/>
          <a:ln/>
        </p:spPr>
        <p:txBody>
          <a:bodyPr wrap="square" lIns="0" tIns="0" rIns="0" bIns="0" rtlCol="0" anchor="ctr"/>
          <a:lstStyle/>
          <a:p>
            <a:pPr algn="ctr" indent="0" marL="0">
              <a:buNone/>
            </a:pPr>
            <a:r>
              <a:rPr lang="en-US" sz="800" dirty="0">
                <a:solidFill>
                  <a:srgbClr val="374151"/>
                </a:solidFill>
                <a:latin typeface="Calibri" pitchFamily="34" charset="0"/>
                <a:ea typeface="Calibri" pitchFamily="34" charset="-122"/>
                <a:cs typeface="Calibri" pitchFamily="34" charset="-120"/>
              </a:rPr>
              <a:t>ESPRIT · SIMAC · CETUD  |  2 / 18</a:t>
            </a:r>
            <a:endParaRPr lang="en-US" sz="800" dirty="0"/>
          </a:p>
        </p:txBody>
      </p:sp>
      <p:sp>
        <p:nvSpPr>
          <p:cNvPr id="5" name="Shape 3"/>
          <p:cNvSpPr/>
          <p:nvPr/>
        </p:nvSpPr>
        <p:spPr>
          <a:xfrm>
            <a:off x="457200" y="960120"/>
            <a:ext cx="4114800" cy="713232"/>
          </a:xfrm>
          <a:prstGeom prst="roundRect">
            <a:avLst>
              <a:gd name="adj" fmla="val 15385"/>
            </a:avLst>
          </a:prstGeom>
          <a:solidFill>
            <a:srgbClr val="1C2333"/>
          </a:solidFill>
          <a:ln/>
          <a:effectLst>
            <a:outerShdw sx="100000" sy="100000" kx="0" ky="0" algn="bl" rotWithShape="0" blurRad="177800" dist="50800" dir="2700000">
              <a:srgbClr val="000000">
                <a:alpha val="35000"/>
              </a:srgbClr>
            </a:outerShdw>
          </a:effectLst>
        </p:spPr>
      </p:sp>
      <p:sp>
        <p:nvSpPr>
          <p:cNvPr id="6" name="Text 4"/>
          <p:cNvSpPr/>
          <p:nvPr/>
        </p:nvSpPr>
        <p:spPr>
          <a:xfrm>
            <a:off x="621792" y="1051560"/>
            <a:ext cx="502920" cy="502920"/>
          </a:xfrm>
          <a:prstGeom prst="rect">
            <a:avLst/>
          </a:prstGeom>
          <a:noFill/>
          <a:ln/>
        </p:spPr>
        <p:txBody>
          <a:bodyPr wrap="square" lIns="0" tIns="0" rIns="0" bIns="0" rtlCol="0" anchor="ctr"/>
          <a:lstStyle/>
          <a:p>
            <a:pPr indent="0" marL="0">
              <a:buNone/>
            </a:pPr>
            <a:r>
              <a:rPr lang="en-US" sz="1800" b="1" dirty="0">
                <a:solidFill>
                  <a:srgbClr val="FF6B35"/>
                </a:solidFill>
                <a:latin typeface="Calibri" pitchFamily="34" charset="0"/>
                <a:ea typeface="Calibri" pitchFamily="34" charset="-122"/>
                <a:cs typeface="Calibri" pitchFamily="34" charset="-120"/>
              </a:rPr>
              <a:t>01</a:t>
            </a:r>
            <a:endParaRPr lang="en-US" sz="1800" dirty="0"/>
          </a:p>
        </p:txBody>
      </p:sp>
      <p:sp>
        <p:nvSpPr>
          <p:cNvPr id="7" name="Text 5"/>
          <p:cNvSpPr/>
          <p:nvPr/>
        </p:nvSpPr>
        <p:spPr>
          <a:xfrm>
            <a:off x="1170432" y="1124712"/>
            <a:ext cx="3200400" cy="384048"/>
          </a:xfrm>
          <a:prstGeom prst="rect">
            <a:avLst/>
          </a:prstGeom>
          <a:noFill/>
          <a:ln/>
        </p:spPr>
        <p:txBody>
          <a:bodyPr wrap="square" lIns="0" tIns="0" rIns="0" bIns="0" rtlCol="0" anchor="ctr"/>
          <a:lstStyle/>
          <a:p>
            <a:pPr indent="0" marL="0">
              <a:buNone/>
            </a:pPr>
            <a:r>
              <a:rPr lang="en-US" sz="1400" dirty="0">
                <a:solidFill>
                  <a:srgbClr val="F9FAFB"/>
                </a:solidFill>
                <a:latin typeface="Calibri" pitchFamily="34" charset="0"/>
                <a:ea typeface="Calibri" pitchFamily="34" charset="-122"/>
                <a:cs typeface="Calibri" pitchFamily="34" charset="-120"/>
              </a:rPr>
              <a:t>Contexte &amp; Problématique</a:t>
            </a:r>
            <a:endParaRPr lang="en-US" sz="1400" dirty="0"/>
          </a:p>
        </p:txBody>
      </p:sp>
      <p:sp>
        <p:nvSpPr>
          <p:cNvPr id="8" name="Shape 6"/>
          <p:cNvSpPr/>
          <p:nvPr/>
        </p:nvSpPr>
        <p:spPr>
          <a:xfrm>
            <a:off x="457200" y="1856232"/>
            <a:ext cx="4114800" cy="713232"/>
          </a:xfrm>
          <a:prstGeom prst="roundRect">
            <a:avLst>
              <a:gd name="adj" fmla="val 15385"/>
            </a:avLst>
          </a:prstGeom>
          <a:solidFill>
            <a:srgbClr val="1C2333"/>
          </a:solidFill>
          <a:ln/>
          <a:effectLst>
            <a:outerShdw sx="100000" sy="100000" kx="0" ky="0" algn="bl" rotWithShape="0" blurRad="177800" dist="50800" dir="2700000">
              <a:srgbClr val="000000">
                <a:alpha val="35000"/>
              </a:srgbClr>
            </a:outerShdw>
          </a:effectLst>
        </p:spPr>
      </p:sp>
      <p:sp>
        <p:nvSpPr>
          <p:cNvPr id="9" name="Text 7"/>
          <p:cNvSpPr/>
          <p:nvPr/>
        </p:nvSpPr>
        <p:spPr>
          <a:xfrm>
            <a:off x="621792" y="1947672"/>
            <a:ext cx="502920" cy="502920"/>
          </a:xfrm>
          <a:prstGeom prst="rect">
            <a:avLst/>
          </a:prstGeom>
          <a:noFill/>
          <a:ln/>
        </p:spPr>
        <p:txBody>
          <a:bodyPr wrap="square" lIns="0" tIns="0" rIns="0" bIns="0" rtlCol="0" anchor="ctr"/>
          <a:lstStyle/>
          <a:p>
            <a:pPr indent="0" marL="0">
              <a:buNone/>
            </a:pPr>
            <a:r>
              <a:rPr lang="en-US" sz="1800" b="1" dirty="0">
                <a:solidFill>
                  <a:srgbClr val="FF6B35"/>
                </a:solidFill>
                <a:latin typeface="Calibri" pitchFamily="34" charset="0"/>
                <a:ea typeface="Calibri" pitchFamily="34" charset="-122"/>
                <a:cs typeface="Calibri" pitchFamily="34" charset="-120"/>
              </a:rPr>
              <a:t>02</a:t>
            </a:r>
            <a:endParaRPr lang="en-US" sz="1800" dirty="0"/>
          </a:p>
        </p:txBody>
      </p:sp>
      <p:sp>
        <p:nvSpPr>
          <p:cNvPr id="10" name="Text 8"/>
          <p:cNvSpPr/>
          <p:nvPr/>
        </p:nvSpPr>
        <p:spPr>
          <a:xfrm>
            <a:off x="1170432" y="2020824"/>
            <a:ext cx="3200400" cy="384048"/>
          </a:xfrm>
          <a:prstGeom prst="rect">
            <a:avLst/>
          </a:prstGeom>
          <a:noFill/>
          <a:ln/>
        </p:spPr>
        <p:txBody>
          <a:bodyPr wrap="square" lIns="0" tIns="0" rIns="0" bIns="0" rtlCol="0" anchor="ctr"/>
          <a:lstStyle/>
          <a:p>
            <a:pPr indent="0" marL="0">
              <a:buNone/>
            </a:pPr>
            <a:r>
              <a:rPr lang="en-US" sz="1400" dirty="0">
                <a:solidFill>
                  <a:srgbClr val="F9FAFB"/>
                </a:solidFill>
                <a:latin typeface="Calibri" pitchFamily="34" charset="0"/>
                <a:ea typeface="Calibri" pitchFamily="34" charset="-122"/>
                <a:cs typeface="Calibri" pitchFamily="34" charset="-120"/>
              </a:rPr>
              <a:t>Architecture de la solution</a:t>
            </a:r>
            <a:endParaRPr lang="en-US" sz="1400" dirty="0"/>
          </a:p>
        </p:txBody>
      </p:sp>
      <p:sp>
        <p:nvSpPr>
          <p:cNvPr id="11" name="Shape 9"/>
          <p:cNvSpPr/>
          <p:nvPr/>
        </p:nvSpPr>
        <p:spPr>
          <a:xfrm>
            <a:off x="457200" y="2752344"/>
            <a:ext cx="4114800" cy="713232"/>
          </a:xfrm>
          <a:prstGeom prst="roundRect">
            <a:avLst>
              <a:gd name="adj" fmla="val 15385"/>
            </a:avLst>
          </a:prstGeom>
          <a:solidFill>
            <a:srgbClr val="1C2333"/>
          </a:solidFill>
          <a:ln/>
          <a:effectLst>
            <a:outerShdw sx="100000" sy="100000" kx="0" ky="0" algn="bl" rotWithShape="0" blurRad="177800" dist="50800" dir="2700000">
              <a:srgbClr val="000000">
                <a:alpha val="35000"/>
              </a:srgbClr>
            </a:outerShdw>
          </a:effectLst>
        </p:spPr>
      </p:sp>
      <p:sp>
        <p:nvSpPr>
          <p:cNvPr id="12" name="Text 10"/>
          <p:cNvSpPr/>
          <p:nvPr/>
        </p:nvSpPr>
        <p:spPr>
          <a:xfrm>
            <a:off x="621792" y="2843784"/>
            <a:ext cx="502920" cy="502920"/>
          </a:xfrm>
          <a:prstGeom prst="rect">
            <a:avLst/>
          </a:prstGeom>
          <a:noFill/>
          <a:ln/>
        </p:spPr>
        <p:txBody>
          <a:bodyPr wrap="square" lIns="0" tIns="0" rIns="0" bIns="0" rtlCol="0" anchor="ctr"/>
          <a:lstStyle/>
          <a:p>
            <a:pPr indent="0" marL="0">
              <a:buNone/>
            </a:pPr>
            <a:r>
              <a:rPr lang="en-US" sz="1800" b="1" dirty="0">
                <a:solidFill>
                  <a:srgbClr val="FF6B35"/>
                </a:solidFill>
                <a:latin typeface="Calibri" pitchFamily="34" charset="0"/>
                <a:ea typeface="Calibri" pitchFamily="34" charset="-122"/>
                <a:cs typeface="Calibri" pitchFamily="34" charset="-120"/>
              </a:rPr>
              <a:t>03</a:t>
            </a:r>
            <a:endParaRPr lang="en-US" sz="1800" dirty="0"/>
          </a:p>
        </p:txBody>
      </p:sp>
      <p:sp>
        <p:nvSpPr>
          <p:cNvPr id="13" name="Text 11"/>
          <p:cNvSpPr/>
          <p:nvPr/>
        </p:nvSpPr>
        <p:spPr>
          <a:xfrm>
            <a:off x="1170432" y="2916936"/>
            <a:ext cx="3200400" cy="384048"/>
          </a:xfrm>
          <a:prstGeom prst="rect">
            <a:avLst/>
          </a:prstGeom>
          <a:noFill/>
          <a:ln/>
        </p:spPr>
        <p:txBody>
          <a:bodyPr wrap="square" lIns="0" tIns="0" rIns="0" bIns="0" rtlCol="0" anchor="ctr"/>
          <a:lstStyle/>
          <a:p>
            <a:pPr indent="0" marL="0">
              <a:buNone/>
            </a:pPr>
            <a:r>
              <a:rPr lang="en-US" sz="1400" dirty="0">
                <a:solidFill>
                  <a:srgbClr val="F9FAFB"/>
                </a:solidFill>
                <a:latin typeface="Calibri" pitchFamily="34" charset="0"/>
                <a:ea typeface="Calibri" pitchFamily="34" charset="-122"/>
                <a:cs typeface="Calibri" pitchFamily="34" charset="-120"/>
              </a:rPr>
              <a:t>Données &amp; Modèle décisionnel</a:t>
            </a:r>
            <a:endParaRPr lang="en-US" sz="1400" dirty="0"/>
          </a:p>
        </p:txBody>
      </p:sp>
      <p:sp>
        <p:nvSpPr>
          <p:cNvPr id="14" name="Shape 12"/>
          <p:cNvSpPr/>
          <p:nvPr/>
        </p:nvSpPr>
        <p:spPr>
          <a:xfrm>
            <a:off x="457200" y="3648456"/>
            <a:ext cx="4114800" cy="713232"/>
          </a:xfrm>
          <a:prstGeom prst="roundRect">
            <a:avLst>
              <a:gd name="adj" fmla="val 15385"/>
            </a:avLst>
          </a:prstGeom>
          <a:solidFill>
            <a:srgbClr val="1C2333"/>
          </a:solidFill>
          <a:ln/>
          <a:effectLst>
            <a:outerShdw sx="100000" sy="100000" kx="0" ky="0" algn="bl" rotWithShape="0" blurRad="177800" dist="50800" dir="2700000">
              <a:srgbClr val="000000">
                <a:alpha val="35000"/>
              </a:srgbClr>
            </a:outerShdw>
          </a:effectLst>
        </p:spPr>
      </p:sp>
      <p:sp>
        <p:nvSpPr>
          <p:cNvPr id="15" name="Text 13"/>
          <p:cNvSpPr/>
          <p:nvPr/>
        </p:nvSpPr>
        <p:spPr>
          <a:xfrm>
            <a:off x="621792" y="3739896"/>
            <a:ext cx="502920" cy="502920"/>
          </a:xfrm>
          <a:prstGeom prst="rect">
            <a:avLst/>
          </a:prstGeom>
          <a:noFill/>
          <a:ln/>
        </p:spPr>
        <p:txBody>
          <a:bodyPr wrap="square" lIns="0" tIns="0" rIns="0" bIns="0" rtlCol="0" anchor="ctr"/>
          <a:lstStyle/>
          <a:p>
            <a:pPr indent="0" marL="0">
              <a:buNone/>
            </a:pPr>
            <a:r>
              <a:rPr lang="en-US" sz="1800" b="1" dirty="0">
                <a:solidFill>
                  <a:srgbClr val="FF6B35"/>
                </a:solidFill>
                <a:latin typeface="Calibri" pitchFamily="34" charset="0"/>
                <a:ea typeface="Calibri" pitchFamily="34" charset="-122"/>
                <a:cs typeface="Calibri" pitchFamily="34" charset="-120"/>
              </a:rPr>
              <a:t>04</a:t>
            </a:r>
            <a:endParaRPr lang="en-US" sz="1800" dirty="0"/>
          </a:p>
        </p:txBody>
      </p:sp>
      <p:sp>
        <p:nvSpPr>
          <p:cNvPr id="16" name="Text 14"/>
          <p:cNvSpPr/>
          <p:nvPr/>
        </p:nvSpPr>
        <p:spPr>
          <a:xfrm>
            <a:off x="1170432" y="3813048"/>
            <a:ext cx="3200400" cy="384048"/>
          </a:xfrm>
          <a:prstGeom prst="rect">
            <a:avLst/>
          </a:prstGeom>
          <a:noFill/>
          <a:ln/>
        </p:spPr>
        <p:txBody>
          <a:bodyPr wrap="square" lIns="0" tIns="0" rIns="0" bIns="0" rtlCol="0" anchor="ctr"/>
          <a:lstStyle/>
          <a:p>
            <a:pPr indent="0" marL="0">
              <a:buNone/>
            </a:pPr>
            <a:r>
              <a:rPr lang="en-US" sz="1400" dirty="0">
                <a:solidFill>
                  <a:srgbClr val="F9FAFB"/>
                </a:solidFill>
                <a:latin typeface="Calibri" pitchFamily="34" charset="0"/>
                <a:ea typeface="Calibri" pitchFamily="34" charset="-122"/>
                <a:cs typeface="Calibri" pitchFamily="34" charset="-120"/>
              </a:rPr>
              <a:t>Machine Learning — 4 modèles</a:t>
            </a:r>
            <a:endParaRPr lang="en-US" sz="1400" dirty="0"/>
          </a:p>
        </p:txBody>
      </p:sp>
      <p:sp>
        <p:nvSpPr>
          <p:cNvPr id="17" name="Shape 15"/>
          <p:cNvSpPr/>
          <p:nvPr/>
        </p:nvSpPr>
        <p:spPr>
          <a:xfrm>
            <a:off x="4846320" y="960120"/>
            <a:ext cx="4114800" cy="713232"/>
          </a:xfrm>
          <a:prstGeom prst="roundRect">
            <a:avLst>
              <a:gd name="adj" fmla="val 15385"/>
            </a:avLst>
          </a:prstGeom>
          <a:solidFill>
            <a:srgbClr val="1C2333"/>
          </a:solidFill>
          <a:ln/>
          <a:effectLst>
            <a:outerShdw sx="100000" sy="100000" kx="0" ky="0" algn="bl" rotWithShape="0" blurRad="177800" dist="50800" dir="2700000">
              <a:srgbClr val="000000">
                <a:alpha val="35000"/>
              </a:srgbClr>
            </a:outerShdw>
          </a:effectLst>
        </p:spPr>
      </p:sp>
      <p:sp>
        <p:nvSpPr>
          <p:cNvPr id="18" name="Text 16"/>
          <p:cNvSpPr/>
          <p:nvPr/>
        </p:nvSpPr>
        <p:spPr>
          <a:xfrm>
            <a:off x="5010912" y="1051560"/>
            <a:ext cx="502920" cy="502920"/>
          </a:xfrm>
          <a:prstGeom prst="rect">
            <a:avLst/>
          </a:prstGeom>
          <a:noFill/>
          <a:ln/>
        </p:spPr>
        <p:txBody>
          <a:bodyPr wrap="square" lIns="0" tIns="0" rIns="0" bIns="0" rtlCol="0" anchor="ctr"/>
          <a:lstStyle/>
          <a:p>
            <a:pPr indent="0" marL="0">
              <a:buNone/>
            </a:pPr>
            <a:r>
              <a:rPr lang="en-US" sz="1800" b="1" dirty="0">
                <a:solidFill>
                  <a:srgbClr val="FF6B35"/>
                </a:solidFill>
                <a:latin typeface="Calibri" pitchFamily="34" charset="0"/>
                <a:ea typeface="Calibri" pitchFamily="34" charset="-122"/>
                <a:cs typeface="Calibri" pitchFamily="34" charset="-120"/>
              </a:rPr>
              <a:t>05</a:t>
            </a:r>
            <a:endParaRPr lang="en-US" sz="1800" dirty="0"/>
          </a:p>
        </p:txBody>
      </p:sp>
      <p:sp>
        <p:nvSpPr>
          <p:cNvPr id="19" name="Text 17"/>
          <p:cNvSpPr/>
          <p:nvPr/>
        </p:nvSpPr>
        <p:spPr>
          <a:xfrm>
            <a:off x="5559552" y="1124712"/>
            <a:ext cx="3200400" cy="384048"/>
          </a:xfrm>
          <a:prstGeom prst="rect">
            <a:avLst/>
          </a:prstGeom>
          <a:noFill/>
          <a:ln/>
        </p:spPr>
        <p:txBody>
          <a:bodyPr wrap="square" lIns="0" tIns="0" rIns="0" bIns="0" rtlCol="0" anchor="ctr"/>
          <a:lstStyle/>
          <a:p>
            <a:pPr indent="0" marL="0">
              <a:buNone/>
            </a:pPr>
            <a:r>
              <a:rPr lang="en-US" sz="1400" dirty="0">
                <a:solidFill>
                  <a:srgbClr val="F9FAFB"/>
                </a:solidFill>
                <a:latin typeface="Calibri" pitchFamily="34" charset="0"/>
                <a:ea typeface="Calibri" pitchFamily="34" charset="-122"/>
                <a:cs typeface="Calibri" pitchFamily="34" charset="-120"/>
              </a:rPr>
              <a:t>Cockpit Knowage BI</a:t>
            </a:r>
            <a:endParaRPr lang="en-US" sz="1400" dirty="0"/>
          </a:p>
        </p:txBody>
      </p:sp>
      <p:sp>
        <p:nvSpPr>
          <p:cNvPr id="20" name="Shape 18"/>
          <p:cNvSpPr/>
          <p:nvPr/>
        </p:nvSpPr>
        <p:spPr>
          <a:xfrm>
            <a:off x="4846320" y="1856232"/>
            <a:ext cx="4114800" cy="713232"/>
          </a:xfrm>
          <a:prstGeom prst="roundRect">
            <a:avLst>
              <a:gd name="adj" fmla="val 15385"/>
            </a:avLst>
          </a:prstGeom>
          <a:solidFill>
            <a:srgbClr val="1C2333"/>
          </a:solidFill>
          <a:ln/>
          <a:effectLst>
            <a:outerShdw sx="100000" sy="100000" kx="0" ky="0" algn="bl" rotWithShape="0" blurRad="177800" dist="50800" dir="2700000">
              <a:srgbClr val="000000">
                <a:alpha val="35000"/>
              </a:srgbClr>
            </a:outerShdw>
          </a:effectLst>
        </p:spPr>
      </p:sp>
      <p:sp>
        <p:nvSpPr>
          <p:cNvPr id="21" name="Text 19"/>
          <p:cNvSpPr/>
          <p:nvPr/>
        </p:nvSpPr>
        <p:spPr>
          <a:xfrm>
            <a:off x="5010912" y="1947672"/>
            <a:ext cx="502920" cy="502920"/>
          </a:xfrm>
          <a:prstGeom prst="rect">
            <a:avLst/>
          </a:prstGeom>
          <a:noFill/>
          <a:ln/>
        </p:spPr>
        <p:txBody>
          <a:bodyPr wrap="square" lIns="0" tIns="0" rIns="0" bIns="0" rtlCol="0" anchor="ctr"/>
          <a:lstStyle/>
          <a:p>
            <a:pPr indent="0" marL="0">
              <a:buNone/>
            </a:pPr>
            <a:r>
              <a:rPr lang="en-US" sz="1800" b="1" dirty="0">
                <a:solidFill>
                  <a:srgbClr val="FF6B35"/>
                </a:solidFill>
                <a:latin typeface="Calibri" pitchFamily="34" charset="0"/>
                <a:ea typeface="Calibri" pitchFamily="34" charset="-122"/>
                <a:cs typeface="Calibri" pitchFamily="34" charset="-120"/>
              </a:rPr>
              <a:t>06</a:t>
            </a:r>
            <a:endParaRPr lang="en-US" sz="1800" dirty="0"/>
          </a:p>
        </p:txBody>
      </p:sp>
      <p:sp>
        <p:nvSpPr>
          <p:cNvPr id="22" name="Text 20"/>
          <p:cNvSpPr/>
          <p:nvPr/>
        </p:nvSpPr>
        <p:spPr>
          <a:xfrm>
            <a:off x="5559552" y="2020824"/>
            <a:ext cx="3200400" cy="384048"/>
          </a:xfrm>
          <a:prstGeom prst="rect">
            <a:avLst/>
          </a:prstGeom>
          <a:noFill/>
          <a:ln/>
        </p:spPr>
        <p:txBody>
          <a:bodyPr wrap="square" lIns="0" tIns="0" rIns="0" bIns="0" rtlCol="0" anchor="ctr"/>
          <a:lstStyle/>
          <a:p>
            <a:pPr indent="0" marL="0">
              <a:buNone/>
            </a:pPr>
            <a:r>
              <a:rPr lang="en-US" sz="1400" dirty="0">
                <a:solidFill>
                  <a:srgbClr val="F9FAFB"/>
                </a:solidFill>
                <a:latin typeface="Calibri" pitchFamily="34" charset="0"/>
                <a:ea typeface="Calibri" pitchFamily="34" charset="-122"/>
                <a:cs typeface="Calibri" pitchFamily="34" charset="-120"/>
              </a:rPr>
              <a:t>Application Web</a:t>
            </a:r>
            <a:endParaRPr lang="en-US" sz="1400" dirty="0"/>
          </a:p>
        </p:txBody>
      </p:sp>
      <p:sp>
        <p:nvSpPr>
          <p:cNvPr id="23" name="Shape 21"/>
          <p:cNvSpPr/>
          <p:nvPr/>
        </p:nvSpPr>
        <p:spPr>
          <a:xfrm>
            <a:off x="4846320" y="2752344"/>
            <a:ext cx="4114800" cy="713232"/>
          </a:xfrm>
          <a:prstGeom prst="roundRect">
            <a:avLst>
              <a:gd name="adj" fmla="val 15385"/>
            </a:avLst>
          </a:prstGeom>
          <a:solidFill>
            <a:srgbClr val="1C2333"/>
          </a:solidFill>
          <a:ln/>
          <a:effectLst>
            <a:outerShdw sx="100000" sy="100000" kx="0" ky="0" algn="bl" rotWithShape="0" blurRad="177800" dist="50800" dir="2700000">
              <a:srgbClr val="000000">
                <a:alpha val="35000"/>
              </a:srgbClr>
            </a:outerShdw>
          </a:effectLst>
        </p:spPr>
      </p:sp>
      <p:sp>
        <p:nvSpPr>
          <p:cNvPr id="24" name="Text 22"/>
          <p:cNvSpPr/>
          <p:nvPr/>
        </p:nvSpPr>
        <p:spPr>
          <a:xfrm>
            <a:off x="5010912" y="2843784"/>
            <a:ext cx="502920" cy="502920"/>
          </a:xfrm>
          <a:prstGeom prst="rect">
            <a:avLst/>
          </a:prstGeom>
          <a:noFill/>
          <a:ln/>
        </p:spPr>
        <p:txBody>
          <a:bodyPr wrap="square" lIns="0" tIns="0" rIns="0" bIns="0" rtlCol="0" anchor="ctr"/>
          <a:lstStyle/>
          <a:p>
            <a:pPr indent="0" marL="0">
              <a:buNone/>
            </a:pPr>
            <a:r>
              <a:rPr lang="en-US" sz="1800" b="1" dirty="0">
                <a:solidFill>
                  <a:srgbClr val="FF6B35"/>
                </a:solidFill>
                <a:latin typeface="Calibri" pitchFamily="34" charset="0"/>
                <a:ea typeface="Calibri" pitchFamily="34" charset="-122"/>
                <a:cs typeface="Calibri" pitchFamily="34" charset="-120"/>
              </a:rPr>
              <a:t>07</a:t>
            </a:r>
            <a:endParaRPr lang="en-US" sz="1800" dirty="0"/>
          </a:p>
        </p:txBody>
      </p:sp>
      <p:sp>
        <p:nvSpPr>
          <p:cNvPr id="25" name="Text 23"/>
          <p:cNvSpPr/>
          <p:nvPr/>
        </p:nvSpPr>
        <p:spPr>
          <a:xfrm>
            <a:off x="5559552" y="2916936"/>
            <a:ext cx="3200400" cy="384048"/>
          </a:xfrm>
          <a:prstGeom prst="rect">
            <a:avLst/>
          </a:prstGeom>
          <a:noFill/>
          <a:ln/>
        </p:spPr>
        <p:txBody>
          <a:bodyPr wrap="square" lIns="0" tIns="0" rIns="0" bIns="0" rtlCol="0" anchor="ctr"/>
          <a:lstStyle/>
          <a:p>
            <a:pPr indent="0" marL="0">
              <a:buNone/>
            </a:pPr>
            <a:r>
              <a:rPr lang="en-US" sz="1400" dirty="0">
                <a:solidFill>
                  <a:srgbClr val="F9FAFB"/>
                </a:solidFill>
                <a:latin typeface="Calibri" pitchFamily="34" charset="0"/>
                <a:ea typeface="Calibri" pitchFamily="34" charset="-122"/>
                <a:cs typeface="Calibri" pitchFamily="34" charset="-120"/>
              </a:rPr>
              <a:t>Résultats &amp; Perspectives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457200" y="256032"/>
            <a:ext cx="1005840" cy="64008"/>
          </a:xfrm>
          <a:prstGeom prst="rect">
            <a:avLst/>
          </a:prstGeom>
          <a:solidFill>
            <a:srgbClr val="FF6B35"/>
          </a:solidFill>
          <a:ln w="12700">
            <a:solidFill>
              <a:srgbClr val="FF6B35"/>
            </a:solidFill>
            <a:prstDash val="solid"/>
          </a:ln>
        </p:spPr>
      </p:sp>
      <p:sp>
        <p:nvSpPr>
          <p:cNvPr id="3" name="Text 1"/>
          <p:cNvSpPr/>
          <p:nvPr/>
        </p:nvSpPr>
        <p:spPr>
          <a:xfrm>
            <a:off x="457200" y="365760"/>
            <a:ext cx="8229600" cy="411480"/>
          </a:xfrm>
          <a:prstGeom prst="rect">
            <a:avLst/>
          </a:prstGeom>
          <a:noFill/>
          <a:ln/>
        </p:spPr>
        <p:txBody>
          <a:bodyPr wrap="square" lIns="0" tIns="0" rIns="0" bIns="0" rtlCol="0" anchor="ctr"/>
          <a:lstStyle/>
          <a:p>
            <a:pPr indent="0" marL="0">
              <a:buNone/>
            </a:pPr>
            <a:r>
              <a:rPr lang="en-US" sz="2600" b="1" dirty="0">
                <a:solidFill>
                  <a:srgbClr val="F9FAFB"/>
                </a:solidFill>
                <a:latin typeface="Calibri" pitchFamily="34" charset="0"/>
                <a:ea typeface="Calibri" pitchFamily="34" charset="-122"/>
                <a:cs typeface="Calibri" pitchFamily="34" charset="-120"/>
              </a:rPr>
              <a:t>Contexte &amp; Problématique</a:t>
            </a:r>
            <a:endParaRPr lang="en-US" sz="2600" dirty="0"/>
          </a:p>
        </p:txBody>
      </p:sp>
      <p:sp>
        <p:nvSpPr>
          <p:cNvPr id="4" name="Text 2"/>
          <p:cNvSpPr/>
          <p:nvPr/>
        </p:nvSpPr>
        <p:spPr>
          <a:xfrm>
            <a:off x="457200" y="713232"/>
            <a:ext cx="8229600" cy="347472"/>
          </a:xfrm>
          <a:prstGeom prst="rect">
            <a:avLst/>
          </a:prstGeom>
          <a:noFill/>
          <a:ln/>
        </p:spPr>
        <p:txBody>
          <a:bodyPr wrap="square" lIns="0" tIns="0" rIns="0" bIns="0" rtlCol="0" anchor="ctr"/>
          <a:lstStyle/>
          <a:p>
            <a:pPr indent="0" marL="0">
              <a:buNone/>
            </a:pPr>
            <a:r>
              <a:rPr lang="en-US" sz="1300" dirty="0">
                <a:solidFill>
                  <a:srgbClr val="9CA3AF"/>
                </a:solidFill>
                <a:latin typeface="Calibri" pitchFamily="34" charset="0"/>
                <a:ea typeface="Calibri" pitchFamily="34" charset="-122"/>
                <a:cs typeface="Calibri" pitchFamily="34" charset="-120"/>
              </a:rPr>
              <a:t>CETUD — Centre d'Étude et de Coordination des Transports Urbains de Dakar</a:t>
            </a:r>
            <a:endParaRPr lang="en-US" sz="1300" dirty="0"/>
          </a:p>
        </p:txBody>
      </p:sp>
      <p:sp>
        <p:nvSpPr>
          <p:cNvPr id="5" name="Text 3"/>
          <p:cNvSpPr/>
          <p:nvPr/>
        </p:nvSpPr>
        <p:spPr>
          <a:xfrm>
            <a:off x="0" y="4892040"/>
            <a:ext cx="9144000" cy="256032"/>
          </a:xfrm>
          <a:prstGeom prst="rect">
            <a:avLst/>
          </a:prstGeom>
          <a:noFill/>
          <a:ln/>
        </p:spPr>
        <p:txBody>
          <a:bodyPr wrap="square" lIns="0" tIns="0" rIns="0" bIns="0" rtlCol="0" anchor="ctr"/>
          <a:lstStyle/>
          <a:p>
            <a:pPr algn="ctr" indent="0" marL="0">
              <a:buNone/>
            </a:pPr>
            <a:r>
              <a:rPr lang="en-US" sz="800" dirty="0">
                <a:solidFill>
                  <a:srgbClr val="374151"/>
                </a:solidFill>
                <a:latin typeface="Calibri" pitchFamily="34" charset="0"/>
                <a:ea typeface="Calibri" pitchFamily="34" charset="-122"/>
                <a:cs typeface="Calibri" pitchFamily="34" charset="-120"/>
              </a:rPr>
              <a:t>ESPRIT · SIMAC · CETUD  |  3 / 18</a:t>
            </a:r>
            <a:endParaRPr lang="en-US" sz="800" dirty="0"/>
          </a:p>
        </p:txBody>
      </p:sp>
      <p:sp>
        <p:nvSpPr>
          <p:cNvPr id="6" name="Shape 4"/>
          <p:cNvSpPr/>
          <p:nvPr/>
        </p:nvSpPr>
        <p:spPr>
          <a:xfrm>
            <a:off x="384048" y="1325880"/>
            <a:ext cx="2633472" cy="2560320"/>
          </a:xfrm>
          <a:prstGeom prst="roundRect">
            <a:avLst>
              <a:gd name="adj" fmla="val 4286"/>
            </a:avLst>
          </a:prstGeom>
          <a:solidFill>
            <a:srgbClr val="1C2333"/>
          </a:solidFill>
          <a:ln/>
          <a:effectLst>
            <a:outerShdw sx="100000" sy="100000" kx="0" ky="0" algn="bl" rotWithShape="0" blurRad="177800" dist="50800" dir="2700000">
              <a:srgbClr val="000000">
                <a:alpha val="35000"/>
              </a:srgbClr>
            </a:outerShdw>
          </a:effectLst>
        </p:spPr>
      </p:sp>
      <p:sp>
        <p:nvSpPr>
          <p:cNvPr id="7" name="Text 5"/>
          <p:cNvSpPr/>
          <p:nvPr/>
        </p:nvSpPr>
        <p:spPr>
          <a:xfrm>
            <a:off x="384048" y="1417320"/>
            <a:ext cx="2633472" cy="64008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8" name="Text 6"/>
          <p:cNvSpPr/>
          <p:nvPr/>
        </p:nvSpPr>
        <p:spPr>
          <a:xfrm>
            <a:off x="493776" y="2084832"/>
            <a:ext cx="2423160" cy="411480"/>
          </a:xfrm>
          <a:prstGeom prst="rect">
            <a:avLst/>
          </a:prstGeom>
          <a:noFill/>
          <a:ln/>
        </p:spPr>
        <p:txBody>
          <a:bodyPr wrap="square" lIns="0" tIns="0" rIns="0" bIns="0" rtlCol="0" anchor="ctr"/>
          <a:lstStyle/>
          <a:p>
            <a:pPr algn="ctr" indent="0" marL="0">
              <a:buNone/>
            </a:pPr>
            <a:r>
              <a:rPr lang="en-US" sz="1300" b="1" dirty="0">
                <a:solidFill>
                  <a:srgbClr val="FF6B35"/>
                </a:solidFill>
                <a:latin typeface="Calibri" pitchFamily="34" charset="0"/>
                <a:ea typeface="Calibri" pitchFamily="34" charset="-122"/>
                <a:cs typeface="Calibri" pitchFamily="34" charset="-120"/>
              </a:rPr>
              <a:t>Données éparpillées</a:t>
            </a:r>
            <a:endParaRPr lang="en-US" sz="1300" dirty="0"/>
          </a:p>
        </p:txBody>
      </p:sp>
      <p:sp>
        <p:nvSpPr>
          <p:cNvPr id="9" name="Text 7"/>
          <p:cNvSpPr/>
          <p:nvPr/>
        </p:nvSpPr>
        <p:spPr>
          <a:xfrm>
            <a:off x="493776" y="2542032"/>
            <a:ext cx="2423160" cy="109728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EMD 2019 (37 248 individus) + comptages trafic 49 sites — non exploités ensemble</a:t>
            </a:r>
            <a:endParaRPr lang="en-US" sz="1100" dirty="0"/>
          </a:p>
        </p:txBody>
      </p:sp>
      <p:sp>
        <p:nvSpPr>
          <p:cNvPr id="10" name="Shape 8"/>
          <p:cNvSpPr/>
          <p:nvPr/>
        </p:nvSpPr>
        <p:spPr>
          <a:xfrm>
            <a:off x="3218688" y="1325880"/>
            <a:ext cx="2633472" cy="2560320"/>
          </a:xfrm>
          <a:prstGeom prst="roundRect">
            <a:avLst>
              <a:gd name="adj" fmla="val 4286"/>
            </a:avLst>
          </a:prstGeom>
          <a:solidFill>
            <a:srgbClr val="1C2333"/>
          </a:solidFill>
          <a:ln/>
          <a:effectLst>
            <a:outerShdw sx="100000" sy="100000" kx="0" ky="0" algn="bl" rotWithShape="0" blurRad="177800" dist="50800" dir="2700000">
              <a:srgbClr val="000000">
                <a:alpha val="35000"/>
              </a:srgbClr>
            </a:outerShdw>
          </a:effectLst>
        </p:spPr>
      </p:sp>
      <p:sp>
        <p:nvSpPr>
          <p:cNvPr id="11" name="Text 9"/>
          <p:cNvSpPr/>
          <p:nvPr/>
        </p:nvSpPr>
        <p:spPr>
          <a:xfrm>
            <a:off x="3218688" y="1417320"/>
            <a:ext cx="2633472" cy="64008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12" name="Text 10"/>
          <p:cNvSpPr/>
          <p:nvPr/>
        </p:nvSpPr>
        <p:spPr>
          <a:xfrm>
            <a:off x="3328416" y="2084832"/>
            <a:ext cx="2423160" cy="411480"/>
          </a:xfrm>
          <a:prstGeom prst="rect">
            <a:avLst/>
          </a:prstGeom>
          <a:noFill/>
          <a:ln/>
        </p:spPr>
        <p:txBody>
          <a:bodyPr wrap="square" lIns="0" tIns="0" rIns="0" bIns="0" rtlCol="0" anchor="ctr"/>
          <a:lstStyle/>
          <a:p>
            <a:pPr algn="ctr" indent="0" marL="0">
              <a:buNone/>
            </a:pPr>
            <a:r>
              <a:rPr lang="en-US" sz="1300" b="1" dirty="0">
                <a:solidFill>
                  <a:srgbClr val="FF6B35"/>
                </a:solidFill>
                <a:latin typeface="Calibri" pitchFamily="34" charset="0"/>
                <a:ea typeface="Calibri" pitchFamily="34" charset="-122"/>
                <a:cs typeface="Calibri" pitchFamily="34" charset="-120"/>
              </a:rPr>
              <a:t>Décisions non outillées</a:t>
            </a:r>
            <a:endParaRPr lang="en-US" sz="1300" dirty="0"/>
          </a:p>
        </p:txBody>
      </p:sp>
      <p:sp>
        <p:nvSpPr>
          <p:cNvPr id="13" name="Text 11"/>
          <p:cNvSpPr/>
          <p:nvPr/>
        </p:nvSpPr>
        <p:spPr>
          <a:xfrm>
            <a:off x="3328416" y="2542032"/>
            <a:ext cx="2423160" cy="109728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Absence d'outil BI intégré pour orienter les investissements réseau TC</a:t>
            </a:r>
            <a:endParaRPr lang="en-US" sz="1100" dirty="0"/>
          </a:p>
        </p:txBody>
      </p:sp>
      <p:sp>
        <p:nvSpPr>
          <p:cNvPr id="14" name="Shape 12"/>
          <p:cNvSpPr/>
          <p:nvPr/>
        </p:nvSpPr>
        <p:spPr>
          <a:xfrm>
            <a:off x="6053328" y="1325880"/>
            <a:ext cx="2633472" cy="2560320"/>
          </a:xfrm>
          <a:prstGeom prst="roundRect">
            <a:avLst>
              <a:gd name="adj" fmla="val 4286"/>
            </a:avLst>
          </a:prstGeom>
          <a:solidFill>
            <a:srgbClr val="1C2333"/>
          </a:solidFill>
          <a:ln/>
          <a:effectLst>
            <a:outerShdw sx="100000" sy="100000" kx="0" ky="0" algn="bl" rotWithShape="0" blurRad="177800" dist="50800" dir="2700000">
              <a:srgbClr val="000000">
                <a:alpha val="35000"/>
              </a:srgbClr>
            </a:outerShdw>
          </a:effectLst>
        </p:spPr>
      </p:sp>
      <p:sp>
        <p:nvSpPr>
          <p:cNvPr id="15" name="Text 13"/>
          <p:cNvSpPr/>
          <p:nvPr/>
        </p:nvSpPr>
        <p:spPr>
          <a:xfrm>
            <a:off x="6053328" y="1417320"/>
            <a:ext cx="2633472" cy="64008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16" name="Text 14"/>
          <p:cNvSpPr/>
          <p:nvPr/>
        </p:nvSpPr>
        <p:spPr>
          <a:xfrm>
            <a:off x="6163056" y="2084832"/>
            <a:ext cx="2423160" cy="411480"/>
          </a:xfrm>
          <a:prstGeom prst="rect">
            <a:avLst/>
          </a:prstGeom>
          <a:noFill/>
          <a:ln/>
        </p:spPr>
        <p:txBody>
          <a:bodyPr wrap="square" lIns="0" tIns="0" rIns="0" bIns="0" rtlCol="0" anchor="ctr"/>
          <a:lstStyle/>
          <a:p>
            <a:pPr algn="ctr" indent="0" marL="0">
              <a:buNone/>
            </a:pPr>
            <a:r>
              <a:rPr lang="en-US" sz="1300" b="1" dirty="0">
                <a:solidFill>
                  <a:srgbClr val="FF6B35"/>
                </a:solidFill>
                <a:latin typeface="Calibri" pitchFamily="34" charset="0"/>
                <a:ea typeface="Calibri" pitchFamily="34" charset="-122"/>
                <a:cs typeface="Calibri" pitchFamily="34" charset="-120"/>
              </a:rPr>
              <a:t>Zones sous-desservies</a:t>
            </a:r>
            <a:endParaRPr lang="en-US" sz="1300" dirty="0"/>
          </a:p>
        </p:txBody>
      </p:sp>
      <p:sp>
        <p:nvSpPr>
          <p:cNvPr id="17" name="Text 15"/>
          <p:cNvSpPr/>
          <p:nvPr/>
        </p:nvSpPr>
        <p:spPr>
          <a:xfrm>
            <a:off x="6163056" y="2542032"/>
            <a:ext cx="2423160" cy="109728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41 zones analysées — 9 en risque élevé sans diagnostic structuré</a:t>
            </a:r>
            <a:endParaRPr lang="en-US" sz="1100" dirty="0"/>
          </a:p>
        </p:txBody>
      </p:sp>
      <p:sp>
        <p:nvSpPr>
          <p:cNvPr id="18" name="Shape 16"/>
          <p:cNvSpPr/>
          <p:nvPr/>
        </p:nvSpPr>
        <p:spPr>
          <a:xfrm>
            <a:off x="384048" y="4023360"/>
            <a:ext cx="8375904" cy="685800"/>
          </a:xfrm>
          <a:prstGeom prst="roundRect">
            <a:avLst>
              <a:gd name="adj" fmla="val 16000"/>
            </a:avLst>
          </a:prstGeom>
          <a:solidFill>
            <a:srgbClr val="1C2D1A"/>
          </a:solidFill>
          <a:ln/>
          <a:effectLst>
            <a:outerShdw sx="100000" sy="100000" kx="0" ky="0" algn="bl" rotWithShape="0" blurRad="177800" dist="50800" dir="2700000">
              <a:srgbClr val="000000">
                <a:alpha val="35000"/>
              </a:srgbClr>
            </a:outerShdw>
          </a:effectLst>
        </p:spPr>
      </p:sp>
      <p:sp>
        <p:nvSpPr>
          <p:cNvPr id="19" name="Text 17"/>
          <p:cNvSpPr/>
          <p:nvPr/>
        </p:nvSpPr>
        <p:spPr>
          <a:xfrm>
            <a:off x="594360" y="4114800"/>
            <a:ext cx="1005840" cy="411480"/>
          </a:xfrm>
          <a:prstGeom prst="rect">
            <a:avLst/>
          </a:prstGeom>
          <a:noFill/>
          <a:ln/>
        </p:spPr>
        <p:txBody>
          <a:bodyPr wrap="square" lIns="0" tIns="0" rIns="0" bIns="0"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Objectif : </a:t>
            </a:r>
            <a:endParaRPr lang="en-US" sz="1300" dirty="0"/>
          </a:p>
        </p:txBody>
      </p:sp>
      <p:sp>
        <p:nvSpPr>
          <p:cNvPr id="20" name="Text 18"/>
          <p:cNvSpPr/>
          <p:nvPr/>
        </p:nvSpPr>
        <p:spPr>
          <a:xfrm>
            <a:off x="1600200" y="4114800"/>
            <a:ext cx="6858000" cy="411480"/>
          </a:xfrm>
          <a:prstGeom prst="rect">
            <a:avLst/>
          </a:prstGeom>
          <a:noFill/>
          <a:ln/>
        </p:spPr>
        <p:txBody>
          <a:bodyPr wrap="square" lIns="0" tIns="0" rIns="0" bIns="0" rtlCol="0" anchor="ctr"/>
          <a:lstStyle/>
          <a:p>
            <a:pPr indent="0" marL="0">
              <a:buNone/>
            </a:pPr>
            <a:r>
              <a:rPr lang="en-US" sz="1300" dirty="0">
                <a:solidFill>
                  <a:srgbClr val="F9FAFB"/>
                </a:solidFill>
                <a:latin typeface="Calibri" pitchFamily="34" charset="0"/>
                <a:ea typeface="Calibri" pitchFamily="34" charset="-122"/>
                <a:cs typeface="Calibri" pitchFamily="34" charset="-120"/>
              </a:rPr>
              <a:t>Construire une chaîne décisionnelle complète — de la donnée brute à l'aide à la décision — pour le CETUD.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457200" y="256032"/>
            <a:ext cx="1005840" cy="64008"/>
          </a:xfrm>
          <a:prstGeom prst="rect">
            <a:avLst/>
          </a:prstGeom>
          <a:solidFill>
            <a:srgbClr val="FF6B35"/>
          </a:solidFill>
          <a:ln w="12700">
            <a:solidFill>
              <a:srgbClr val="FF6B35"/>
            </a:solidFill>
            <a:prstDash val="solid"/>
          </a:ln>
        </p:spPr>
      </p:sp>
      <p:sp>
        <p:nvSpPr>
          <p:cNvPr id="3" name="Text 1"/>
          <p:cNvSpPr/>
          <p:nvPr/>
        </p:nvSpPr>
        <p:spPr>
          <a:xfrm>
            <a:off x="457200" y="365760"/>
            <a:ext cx="8229600" cy="411480"/>
          </a:xfrm>
          <a:prstGeom prst="rect">
            <a:avLst/>
          </a:prstGeom>
          <a:noFill/>
          <a:ln/>
        </p:spPr>
        <p:txBody>
          <a:bodyPr wrap="square" lIns="0" tIns="0" rIns="0" bIns="0" rtlCol="0" anchor="ctr"/>
          <a:lstStyle/>
          <a:p>
            <a:pPr indent="0" marL="0">
              <a:buNone/>
            </a:pPr>
            <a:r>
              <a:rPr lang="en-US" sz="2600" b="1" dirty="0">
                <a:solidFill>
                  <a:srgbClr val="F9FAFB"/>
                </a:solidFill>
                <a:latin typeface="Calibri" pitchFamily="34" charset="0"/>
                <a:ea typeface="Calibri" pitchFamily="34" charset="-122"/>
                <a:cs typeface="Calibri" pitchFamily="34" charset="-120"/>
              </a:rPr>
              <a:t>Architecture de la solution</a:t>
            </a:r>
            <a:endParaRPr lang="en-US" sz="2600" dirty="0"/>
          </a:p>
        </p:txBody>
      </p:sp>
      <p:sp>
        <p:nvSpPr>
          <p:cNvPr id="4" name="Text 2"/>
          <p:cNvSpPr/>
          <p:nvPr/>
        </p:nvSpPr>
        <p:spPr>
          <a:xfrm>
            <a:off x="0" y="4892040"/>
            <a:ext cx="9144000" cy="256032"/>
          </a:xfrm>
          <a:prstGeom prst="rect">
            <a:avLst/>
          </a:prstGeom>
          <a:noFill/>
          <a:ln/>
        </p:spPr>
        <p:txBody>
          <a:bodyPr wrap="square" lIns="0" tIns="0" rIns="0" bIns="0" rtlCol="0" anchor="ctr"/>
          <a:lstStyle/>
          <a:p>
            <a:pPr algn="ctr" indent="0" marL="0">
              <a:buNone/>
            </a:pPr>
            <a:r>
              <a:rPr lang="en-US" sz="800" dirty="0">
                <a:solidFill>
                  <a:srgbClr val="374151"/>
                </a:solidFill>
                <a:latin typeface="Calibri" pitchFamily="34" charset="0"/>
                <a:ea typeface="Calibri" pitchFamily="34" charset="-122"/>
                <a:cs typeface="Calibri" pitchFamily="34" charset="-120"/>
              </a:rPr>
              <a:t>ESPRIT · SIMAC · CETUD  |  4 / 18</a:t>
            </a:r>
            <a:endParaRPr lang="en-US" sz="800" dirty="0"/>
          </a:p>
        </p:txBody>
      </p:sp>
      <p:sp>
        <p:nvSpPr>
          <p:cNvPr id="5" name="Shape 3"/>
          <p:cNvSpPr/>
          <p:nvPr/>
        </p:nvSpPr>
        <p:spPr>
          <a:xfrm>
            <a:off x="457200" y="960120"/>
            <a:ext cx="8229600" cy="658368"/>
          </a:xfrm>
          <a:prstGeom prst="roundRect">
            <a:avLst>
              <a:gd name="adj" fmla="val 16667"/>
            </a:avLst>
          </a:prstGeom>
          <a:solidFill>
            <a:srgbClr val="1E3A5F"/>
          </a:solidFill>
          <a:ln/>
          <a:effectLst>
            <a:outerShdw sx="100000" sy="100000" kx="0" ky="0" algn="bl" rotWithShape="0" blurRad="177800" dist="50800" dir="2700000">
              <a:srgbClr val="000000">
                <a:alpha val="35000"/>
              </a:srgbClr>
            </a:outerShdw>
          </a:effectLst>
        </p:spPr>
      </p:sp>
      <p:sp>
        <p:nvSpPr>
          <p:cNvPr id="6" name="Text 4"/>
          <p:cNvSpPr/>
          <p:nvPr/>
        </p:nvSpPr>
        <p:spPr>
          <a:xfrm>
            <a:off x="713232" y="1033272"/>
            <a:ext cx="3200400" cy="274320"/>
          </a:xfrm>
          <a:prstGeom prst="rect">
            <a:avLst/>
          </a:prstGeom>
          <a:noFill/>
          <a:ln/>
        </p:spPr>
        <p:txBody>
          <a:bodyPr wrap="square" lIns="0" tIns="0" rIns="0" bIns="0" rtlCol="0" anchor="ctr"/>
          <a:lstStyle/>
          <a:p>
            <a:pPr indent="0" marL="0">
              <a:buNone/>
            </a:pPr>
            <a:r>
              <a:rPr lang="en-US" sz="1300" b="1" dirty="0">
                <a:solidFill>
                  <a:srgbClr val="F9FAFB"/>
                </a:solidFill>
                <a:latin typeface="Calibri" pitchFamily="34" charset="0"/>
                <a:ea typeface="Calibri" pitchFamily="34" charset="-122"/>
                <a:cs typeface="Calibri" pitchFamily="34" charset="-120"/>
              </a:rPr>
              <a:t>Sources de données</a:t>
            </a:r>
            <a:endParaRPr lang="en-US" sz="1300" dirty="0"/>
          </a:p>
        </p:txBody>
      </p:sp>
      <p:sp>
        <p:nvSpPr>
          <p:cNvPr id="7" name="Text 5"/>
          <p:cNvSpPr/>
          <p:nvPr/>
        </p:nvSpPr>
        <p:spPr>
          <a:xfrm>
            <a:off x="713232" y="1289304"/>
            <a:ext cx="7498080" cy="256032"/>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EMD CETUD · Trafic CSV · Données contextuelles</a:t>
            </a:r>
            <a:endParaRPr lang="en-US" sz="1100" dirty="0"/>
          </a:p>
        </p:txBody>
      </p:sp>
      <p:sp>
        <p:nvSpPr>
          <p:cNvPr id="8" name="Text 6"/>
          <p:cNvSpPr/>
          <p:nvPr/>
        </p:nvSpPr>
        <p:spPr>
          <a:xfrm>
            <a:off x="4206240" y="1618488"/>
            <a:ext cx="731520" cy="164592"/>
          </a:xfrm>
          <a:prstGeom prst="rect">
            <a:avLst/>
          </a:prstGeom>
          <a:noFill/>
          <a:ln/>
        </p:spPr>
        <p:txBody>
          <a:bodyPr wrap="square" lIns="0" tIns="0" rIns="0" bIns="0" rtlCol="0" anchor="ctr"/>
          <a:lstStyle/>
          <a:p>
            <a:pPr algn="ctr" indent="0" marL="0">
              <a:buNone/>
            </a:pPr>
            <a:r>
              <a:rPr lang="en-US" sz="1300" dirty="0">
                <a:solidFill>
                  <a:srgbClr val="FF6B35"/>
                </a:solidFill>
                <a:latin typeface="Calibri" pitchFamily="34" charset="0"/>
                <a:ea typeface="Calibri" pitchFamily="34" charset="-122"/>
                <a:cs typeface="Calibri" pitchFamily="34" charset="-120"/>
              </a:rPr>
              <a:t>↓</a:t>
            </a:r>
            <a:endParaRPr lang="en-US" sz="1300" dirty="0"/>
          </a:p>
        </p:txBody>
      </p:sp>
      <p:sp>
        <p:nvSpPr>
          <p:cNvPr id="9" name="Shape 7"/>
          <p:cNvSpPr/>
          <p:nvPr/>
        </p:nvSpPr>
        <p:spPr>
          <a:xfrm>
            <a:off x="457200" y="1737360"/>
            <a:ext cx="8229600" cy="658368"/>
          </a:xfrm>
          <a:prstGeom prst="roundRect">
            <a:avLst>
              <a:gd name="adj" fmla="val 16667"/>
            </a:avLst>
          </a:prstGeom>
          <a:solidFill>
            <a:srgbClr val="1A3D2E"/>
          </a:solidFill>
          <a:ln/>
          <a:effectLst>
            <a:outerShdw sx="100000" sy="100000" kx="0" ky="0" algn="bl" rotWithShape="0" blurRad="177800" dist="50800" dir="2700000">
              <a:srgbClr val="000000">
                <a:alpha val="35000"/>
              </a:srgbClr>
            </a:outerShdw>
          </a:effectLst>
        </p:spPr>
      </p:sp>
      <p:sp>
        <p:nvSpPr>
          <p:cNvPr id="10" name="Text 8"/>
          <p:cNvSpPr/>
          <p:nvPr/>
        </p:nvSpPr>
        <p:spPr>
          <a:xfrm>
            <a:off x="713232" y="1810512"/>
            <a:ext cx="3200400" cy="274320"/>
          </a:xfrm>
          <a:prstGeom prst="rect">
            <a:avLst/>
          </a:prstGeom>
          <a:noFill/>
          <a:ln/>
        </p:spPr>
        <p:txBody>
          <a:bodyPr wrap="square" lIns="0" tIns="0" rIns="0" bIns="0" rtlCol="0" anchor="ctr"/>
          <a:lstStyle/>
          <a:p>
            <a:pPr indent="0" marL="0">
              <a:buNone/>
            </a:pPr>
            <a:r>
              <a:rPr lang="en-US" sz="1300" b="1" dirty="0">
                <a:solidFill>
                  <a:srgbClr val="F9FAFB"/>
                </a:solidFill>
                <a:latin typeface="Calibri" pitchFamily="34" charset="0"/>
                <a:ea typeface="Calibri" pitchFamily="34" charset="-122"/>
                <a:cs typeface="Calibri" pitchFamily="34" charset="-120"/>
              </a:rPr>
              <a:t>ETL Talend</a:t>
            </a:r>
            <a:endParaRPr lang="en-US" sz="1300" dirty="0"/>
          </a:p>
        </p:txBody>
      </p:sp>
      <p:sp>
        <p:nvSpPr>
          <p:cNvPr id="11" name="Text 9"/>
          <p:cNvSpPr/>
          <p:nvPr/>
        </p:nvSpPr>
        <p:spPr>
          <a:xfrm>
            <a:off x="713232" y="2066544"/>
            <a:ext cx="7498080" cy="256032"/>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Extraction · Transformation · Chargement — 13 jobs</a:t>
            </a:r>
            <a:endParaRPr lang="en-US" sz="1100" dirty="0"/>
          </a:p>
        </p:txBody>
      </p:sp>
      <p:sp>
        <p:nvSpPr>
          <p:cNvPr id="12" name="Text 10"/>
          <p:cNvSpPr/>
          <p:nvPr/>
        </p:nvSpPr>
        <p:spPr>
          <a:xfrm>
            <a:off x="4206240" y="2395728"/>
            <a:ext cx="731520" cy="164592"/>
          </a:xfrm>
          <a:prstGeom prst="rect">
            <a:avLst/>
          </a:prstGeom>
          <a:noFill/>
          <a:ln/>
        </p:spPr>
        <p:txBody>
          <a:bodyPr wrap="square" lIns="0" tIns="0" rIns="0" bIns="0" rtlCol="0" anchor="ctr"/>
          <a:lstStyle/>
          <a:p>
            <a:pPr algn="ctr" indent="0" marL="0">
              <a:buNone/>
            </a:pPr>
            <a:r>
              <a:rPr lang="en-US" sz="1300" dirty="0">
                <a:solidFill>
                  <a:srgbClr val="FF6B35"/>
                </a:solidFill>
                <a:latin typeface="Calibri" pitchFamily="34" charset="0"/>
                <a:ea typeface="Calibri" pitchFamily="34" charset="-122"/>
                <a:cs typeface="Calibri" pitchFamily="34" charset="-120"/>
              </a:rPr>
              <a:t>↓</a:t>
            </a:r>
            <a:endParaRPr lang="en-US" sz="1300" dirty="0"/>
          </a:p>
        </p:txBody>
      </p:sp>
      <p:sp>
        <p:nvSpPr>
          <p:cNvPr id="13" name="Shape 11"/>
          <p:cNvSpPr/>
          <p:nvPr/>
        </p:nvSpPr>
        <p:spPr>
          <a:xfrm>
            <a:off x="457200" y="2514600"/>
            <a:ext cx="8229600" cy="658368"/>
          </a:xfrm>
          <a:prstGeom prst="roundRect">
            <a:avLst>
              <a:gd name="adj" fmla="val 16667"/>
            </a:avLst>
          </a:prstGeom>
          <a:solidFill>
            <a:srgbClr val="3B1F5E"/>
          </a:solidFill>
          <a:ln/>
          <a:effectLst>
            <a:outerShdw sx="100000" sy="100000" kx="0" ky="0" algn="bl" rotWithShape="0" blurRad="177800" dist="50800" dir="2700000">
              <a:srgbClr val="000000">
                <a:alpha val="35000"/>
              </a:srgbClr>
            </a:outerShdw>
          </a:effectLst>
        </p:spPr>
      </p:sp>
      <p:sp>
        <p:nvSpPr>
          <p:cNvPr id="14" name="Text 12"/>
          <p:cNvSpPr/>
          <p:nvPr/>
        </p:nvSpPr>
        <p:spPr>
          <a:xfrm>
            <a:off x="713232" y="2587752"/>
            <a:ext cx="3200400" cy="274320"/>
          </a:xfrm>
          <a:prstGeom prst="rect">
            <a:avLst/>
          </a:prstGeom>
          <a:noFill/>
          <a:ln/>
        </p:spPr>
        <p:txBody>
          <a:bodyPr wrap="square" lIns="0" tIns="0" rIns="0" bIns="0" rtlCol="0" anchor="ctr"/>
          <a:lstStyle/>
          <a:p>
            <a:pPr indent="0" marL="0">
              <a:buNone/>
            </a:pPr>
            <a:r>
              <a:rPr lang="en-US" sz="1300" b="1" dirty="0">
                <a:solidFill>
                  <a:srgbClr val="F9FAFB"/>
                </a:solidFill>
                <a:latin typeface="Calibri" pitchFamily="34" charset="0"/>
                <a:ea typeface="Calibri" pitchFamily="34" charset="-122"/>
                <a:cs typeface="Calibri" pitchFamily="34" charset="-120"/>
              </a:rPr>
              <a:t>Data Warehouse PostgreSQL</a:t>
            </a:r>
            <a:endParaRPr lang="en-US" sz="1300" dirty="0"/>
          </a:p>
        </p:txBody>
      </p:sp>
      <p:sp>
        <p:nvSpPr>
          <p:cNvPr id="15" name="Text 13"/>
          <p:cNvSpPr/>
          <p:nvPr/>
        </p:nvSpPr>
        <p:spPr>
          <a:xfrm>
            <a:off x="713232" y="2843784"/>
            <a:ext cx="7498080" cy="256032"/>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Modèle constellation · 4 tables de faits · 15 dimensions</a:t>
            </a:r>
            <a:endParaRPr lang="en-US" sz="1100" dirty="0"/>
          </a:p>
        </p:txBody>
      </p:sp>
      <p:sp>
        <p:nvSpPr>
          <p:cNvPr id="16" name="Text 14"/>
          <p:cNvSpPr/>
          <p:nvPr/>
        </p:nvSpPr>
        <p:spPr>
          <a:xfrm>
            <a:off x="4206240" y="3172968"/>
            <a:ext cx="731520" cy="164592"/>
          </a:xfrm>
          <a:prstGeom prst="rect">
            <a:avLst/>
          </a:prstGeom>
          <a:noFill/>
          <a:ln/>
        </p:spPr>
        <p:txBody>
          <a:bodyPr wrap="square" lIns="0" tIns="0" rIns="0" bIns="0" rtlCol="0" anchor="ctr"/>
          <a:lstStyle/>
          <a:p>
            <a:pPr algn="ctr" indent="0" marL="0">
              <a:buNone/>
            </a:pPr>
            <a:r>
              <a:rPr lang="en-US" sz="1300" dirty="0">
                <a:solidFill>
                  <a:srgbClr val="FF6B35"/>
                </a:solidFill>
                <a:latin typeface="Calibri" pitchFamily="34" charset="0"/>
                <a:ea typeface="Calibri" pitchFamily="34" charset="-122"/>
                <a:cs typeface="Calibri" pitchFamily="34" charset="-120"/>
              </a:rPr>
              <a:t>↓</a:t>
            </a:r>
            <a:endParaRPr lang="en-US" sz="1300" dirty="0"/>
          </a:p>
        </p:txBody>
      </p:sp>
      <p:sp>
        <p:nvSpPr>
          <p:cNvPr id="17" name="Shape 15"/>
          <p:cNvSpPr/>
          <p:nvPr/>
        </p:nvSpPr>
        <p:spPr>
          <a:xfrm>
            <a:off x="457200" y="3291840"/>
            <a:ext cx="8229600" cy="658368"/>
          </a:xfrm>
          <a:prstGeom prst="roundRect">
            <a:avLst>
              <a:gd name="adj" fmla="val 16667"/>
            </a:avLst>
          </a:prstGeom>
          <a:solidFill>
            <a:srgbClr val="3D2010"/>
          </a:solidFill>
          <a:ln/>
          <a:effectLst>
            <a:outerShdw sx="100000" sy="100000" kx="0" ky="0" algn="bl" rotWithShape="0" blurRad="177800" dist="50800" dir="2700000">
              <a:srgbClr val="000000">
                <a:alpha val="35000"/>
              </a:srgbClr>
            </a:outerShdw>
          </a:effectLst>
        </p:spPr>
      </p:sp>
      <p:sp>
        <p:nvSpPr>
          <p:cNvPr id="18" name="Text 16"/>
          <p:cNvSpPr/>
          <p:nvPr/>
        </p:nvSpPr>
        <p:spPr>
          <a:xfrm>
            <a:off x="713232" y="3364992"/>
            <a:ext cx="3200400" cy="274320"/>
          </a:xfrm>
          <a:prstGeom prst="rect">
            <a:avLst/>
          </a:prstGeom>
          <a:noFill/>
          <a:ln/>
        </p:spPr>
        <p:txBody>
          <a:bodyPr wrap="square" lIns="0" tIns="0" rIns="0" bIns="0" rtlCol="0" anchor="ctr"/>
          <a:lstStyle/>
          <a:p>
            <a:pPr indent="0" marL="0">
              <a:buNone/>
            </a:pPr>
            <a:r>
              <a:rPr lang="en-US" sz="1300" b="1" dirty="0">
                <a:solidFill>
                  <a:srgbClr val="F9FAFB"/>
                </a:solidFill>
                <a:latin typeface="Calibri" pitchFamily="34" charset="0"/>
                <a:ea typeface="Calibri" pitchFamily="34" charset="-122"/>
                <a:cs typeface="Calibri" pitchFamily="34" charset="-120"/>
              </a:rPr>
              <a:t>Machine Learning (Python)</a:t>
            </a:r>
            <a:endParaRPr lang="en-US" sz="1300" dirty="0"/>
          </a:p>
        </p:txBody>
      </p:sp>
      <p:sp>
        <p:nvSpPr>
          <p:cNvPr id="19" name="Text 17"/>
          <p:cNvSpPr/>
          <p:nvPr/>
        </p:nvSpPr>
        <p:spPr>
          <a:xfrm>
            <a:off x="713232" y="3621024"/>
            <a:ext cx="7498080" cy="256032"/>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4 modèles : Random Forest · Isolation Forest · LOF · K-Means</a:t>
            </a:r>
            <a:endParaRPr lang="en-US" sz="1100" dirty="0"/>
          </a:p>
        </p:txBody>
      </p:sp>
      <p:sp>
        <p:nvSpPr>
          <p:cNvPr id="20" name="Text 18"/>
          <p:cNvSpPr/>
          <p:nvPr/>
        </p:nvSpPr>
        <p:spPr>
          <a:xfrm>
            <a:off x="4206240" y="3950208"/>
            <a:ext cx="731520" cy="164592"/>
          </a:xfrm>
          <a:prstGeom prst="rect">
            <a:avLst/>
          </a:prstGeom>
          <a:noFill/>
          <a:ln/>
        </p:spPr>
        <p:txBody>
          <a:bodyPr wrap="square" lIns="0" tIns="0" rIns="0" bIns="0" rtlCol="0" anchor="ctr"/>
          <a:lstStyle/>
          <a:p>
            <a:pPr algn="ctr" indent="0" marL="0">
              <a:buNone/>
            </a:pPr>
            <a:r>
              <a:rPr lang="en-US" sz="1300" dirty="0">
                <a:solidFill>
                  <a:srgbClr val="FF6B35"/>
                </a:solidFill>
                <a:latin typeface="Calibri" pitchFamily="34" charset="0"/>
                <a:ea typeface="Calibri" pitchFamily="34" charset="-122"/>
                <a:cs typeface="Calibri" pitchFamily="34" charset="-120"/>
              </a:rPr>
              <a:t>↓</a:t>
            </a:r>
            <a:endParaRPr lang="en-US" sz="1300" dirty="0"/>
          </a:p>
        </p:txBody>
      </p:sp>
      <p:sp>
        <p:nvSpPr>
          <p:cNvPr id="21" name="Shape 19"/>
          <p:cNvSpPr/>
          <p:nvPr/>
        </p:nvSpPr>
        <p:spPr>
          <a:xfrm>
            <a:off x="457200" y="4069080"/>
            <a:ext cx="8229600" cy="658368"/>
          </a:xfrm>
          <a:prstGeom prst="roundRect">
            <a:avLst>
              <a:gd name="adj" fmla="val 16667"/>
            </a:avLst>
          </a:prstGeom>
          <a:solidFill>
            <a:srgbClr val="1A2B1A"/>
          </a:solidFill>
          <a:ln/>
          <a:effectLst>
            <a:outerShdw sx="100000" sy="100000" kx="0" ky="0" algn="bl" rotWithShape="0" blurRad="177800" dist="50800" dir="2700000">
              <a:srgbClr val="000000">
                <a:alpha val="35000"/>
              </a:srgbClr>
            </a:outerShdw>
          </a:effectLst>
        </p:spPr>
      </p:sp>
      <p:sp>
        <p:nvSpPr>
          <p:cNvPr id="22" name="Text 20"/>
          <p:cNvSpPr/>
          <p:nvPr/>
        </p:nvSpPr>
        <p:spPr>
          <a:xfrm>
            <a:off x="713232" y="4142232"/>
            <a:ext cx="3200400" cy="274320"/>
          </a:xfrm>
          <a:prstGeom prst="rect">
            <a:avLst/>
          </a:prstGeom>
          <a:noFill/>
          <a:ln/>
        </p:spPr>
        <p:txBody>
          <a:bodyPr wrap="square" lIns="0" tIns="0" rIns="0" bIns="0" rtlCol="0" anchor="ctr"/>
          <a:lstStyle/>
          <a:p>
            <a:pPr indent="0" marL="0">
              <a:buNone/>
            </a:pPr>
            <a:r>
              <a:rPr lang="en-US" sz="1300" b="1" dirty="0">
                <a:solidFill>
                  <a:srgbClr val="F9FAFB"/>
                </a:solidFill>
                <a:latin typeface="Calibri" pitchFamily="34" charset="0"/>
                <a:ea typeface="Calibri" pitchFamily="34" charset="-122"/>
                <a:cs typeface="Calibri" pitchFamily="34" charset="-120"/>
              </a:rPr>
              <a:t>Restitution</a:t>
            </a:r>
            <a:endParaRPr lang="en-US" sz="1300" dirty="0"/>
          </a:p>
        </p:txBody>
      </p:sp>
      <p:sp>
        <p:nvSpPr>
          <p:cNvPr id="23" name="Text 21"/>
          <p:cNvSpPr/>
          <p:nvPr/>
        </p:nvSpPr>
        <p:spPr>
          <a:xfrm>
            <a:off x="713232" y="4398264"/>
            <a:ext cx="7498080" cy="256032"/>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Cockpit Knowage BI  +  Application Web React / FastAPI</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457200" y="256032"/>
            <a:ext cx="1005840" cy="64008"/>
          </a:xfrm>
          <a:prstGeom prst="rect">
            <a:avLst/>
          </a:prstGeom>
          <a:solidFill>
            <a:srgbClr val="FF6B35"/>
          </a:solidFill>
          <a:ln w="12700">
            <a:solidFill>
              <a:srgbClr val="FF6B35"/>
            </a:solidFill>
            <a:prstDash val="solid"/>
          </a:ln>
        </p:spPr>
      </p:sp>
      <p:sp>
        <p:nvSpPr>
          <p:cNvPr id="3" name="Text 1"/>
          <p:cNvSpPr/>
          <p:nvPr/>
        </p:nvSpPr>
        <p:spPr>
          <a:xfrm>
            <a:off x="457200" y="365760"/>
            <a:ext cx="8229600" cy="411480"/>
          </a:xfrm>
          <a:prstGeom prst="rect">
            <a:avLst/>
          </a:prstGeom>
          <a:noFill/>
          <a:ln/>
        </p:spPr>
        <p:txBody>
          <a:bodyPr wrap="square" lIns="0" tIns="0" rIns="0" bIns="0" rtlCol="0" anchor="ctr"/>
          <a:lstStyle/>
          <a:p>
            <a:pPr indent="0" marL="0">
              <a:buNone/>
            </a:pPr>
            <a:r>
              <a:rPr lang="en-US" sz="2600" b="1" dirty="0">
                <a:solidFill>
                  <a:srgbClr val="F9FAFB"/>
                </a:solidFill>
                <a:latin typeface="Calibri" pitchFamily="34" charset="0"/>
                <a:ea typeface="Calibri" pitchFamily="34" charset="-122"/>
                <a:cs typeface="Calibri" pitchFamily="34" charset="-120"/>
              </a:rPr>
              <a:t>Données &amp; Modèle décisionnel</a:t>
            </a:r>
            <a:endParaRPr lang="en-US" sz="2600" dirty="0"/>
          </a:p>
        </p:txBody>
      </p:sp>
      <p:sp>
        <p:nvSpPr>
          <p:cNvPr id="4" name="Text 2"/>
          <p:cNvSpPr/>
          <p:nvPr/>
        </p:nvSpPr>
        <p:spPr>
          <a:xfrm>
            <a:off x="0" y="4892040"/>
            <a:ext cx="9144000" cy="256032"/>
          </a:xfrm>
          <a:prstGeom prst="rect">
            <a:avLst/>
          </a:prstGeom>
          <a:noFill/>
          <a:ln/>
        </p:spPr>
        <p:txBody>
          <a:bodyPr wrap="square" lIns="0" tIns="0" rIns="0" bIns="0" rtlCol="0" anchor="ctr"/>
          <a:lstStyle/>
          <a:p>
            <a:pPr algn="ctr" indent="0" marL="0">
              <a:buNone/>
            </a:pPr>
            <a:r>
              <a:rPr lang="en-US" sz="800" dirty="0">
                <a:solidFill>
                  <a:srgbClr val="374151"/>
                </a:solidFill>
                <a:latin typeface="Calibri" pitchFamily="34" charset="0"/>
                <a:ea typeface="Calibri" pitchFamily="34" charset="-122"/>
                <a:cs typeface="Calibri" pitchFamily="34" charset="-120"/>
              </a:rPr>
              <a:t>ESPRIT · SIMAC · CETUD  |  5 / 18</a:t>
            </a:r>
            <a:endParaRPr lang="en-US" sz="800" dirty="0"/>
          </a:p>
        </p:txBody>
      </p:sp>
      <p:sp>
        <p:nvSpPr>
          <p:cNvPr id="5" name="Shape 3"/>
          <p:cNvSpPr/>
          <p:nvPr/>
        </p:nvSpPr>
        <p:spPr>
          <a:xfrm>
            <a:off x="384048" y="960120"/>
            <a:ext cx="1920240" cy="1051560"/>
          </a:xfrm>
          <a:prstGeom prst="roundRect">
            <a:avLst>
              <a:gd name="adj" fmla="val 10435"/>
            </a:avLst>
          </a:prstGeom>
          <a:solidFill>
            <a:srgbClr val="1C2333"/>
          </a:solidFill>
          <a:ln/>
          <a:effectLst>
            <a:outerShdw sx="100000" sy="100000" kx="0" ky="0" algn="bl" rotWithShape="0" blurRad="177800" dist="50800" dir="2700000">
              <a:srgbClr val="000000">
                <a:alpha val="35000"/>
              </a:srgbClr>
            </a:outerShdw>
          </a:effectLst>
        </p:spPr>
      </p:sp>
      <p:sp>
        <p:nvSpPr>
          <p:cNvPr id="6" name="Text 4"/>
          <p:cNvSpPr/>
          <p:nvPr/>
        </p:nvSpPr>
        <p:spPr>
          <a:xfrm>
            <a:off x="384048" y="1033272"/>
            <a:ext cx="1920240" cy="566928"/>
          </a:xfrm>
          <a:prstGeom prst="rect">
            <a:avLst/>
          </a:prstGeom>
          <a:noFill/>
          <a:ln/>
        </p:spPr>
        <p:txBody>
          <a:bodyPr wrap="square" lIns="0" tIns="0" rIns="0" bIns="0" rtlCol="0" anchor="ctr"/>
          <a:lstStyle/>
          <a:p>
            <a:pPr algn="ctr" indent="0" marL="0">
              <a:buNone/>
            </a:pPr>
            <a:r>
              <a:rPr lang="en-US" sz="3000" b="1" dirty="0">
                <a:solidFill>
                  <a:srgbClr val="FF6B35"/>
                </a:solidFill>
                <a:latin typeface="Calibri" pitchFamily="34" charset="0"/>
                <a:ea typeface="Calibri" pitchFamily="34" charset="-122"/>
                <a:cs typeface="Calibri" pitchFamily="34" charset="-120"/>
              </a:rPr>
              <a:t>37 248</a:t>
            </a:r>
            <a:endParaRPr lang="en-US" sz="3000" dirty="0"/>
          </a:p>
        </p:txBody>
      </p:sp>
      <p:sp>
        <p:nvSpPr>
          <p:cNvPr id="7" name="Text 5"/>
          <p:cNvSpPr/>
          <p:nvPr/>
        </p:nvSpPr>
        <p:spPr>
          <a:xfrm>
            <a:off x="384048" y="1581912"/>
            <a:ext cx="1920240" cy="347472"/>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Individus EMD</a:t>
            </a:r>
            <a:endParaRPr lang="en-US" sz="1000" dirty="0"/>
          </a:p>
        </p:txBody>
      </p:sp>
      <p:sp>
        <p:nvSpPr>
          <p:cNvPr id="8" name="Shape 6"/>
          <p:cNvSpPr/>
          <p:nvPr/>
        </p:nvSpPr>
        <p:spPr>
          <a:xfrm>
            <a:off x="2432304" y="960120"/>
            <a:ext cx="1920240" cy="1051560"/>
          </a:xfrm>
          <a:prstGeom prst="roundRect">
            <a:avLst>
              <a:gd name="adj" fmla="val 10435"/>
            </a:avLst>
          </a:prstGeom>
          <a:solidFill>
            <a:srgbClr val="1C2333"/>
          </a:solidFill>
          <a:ln/>
          <a:effectLst>
            <a:outerShdw sx="100000" sy="100000" kx="0" ky="0" algn="bl" rotWithShape="0" blurRad="177800" dist="50800" dir="2700000">
              <a:srgbClr val="000000">
                <a:alpha val="35000"/>
              </a:srgbClr>
            </a:outerShdw>
          </a:effectLst>
        </p:spPr>
      </p:sp>
      <p:sp>
        <p:nvSpPr>
          <p:cNvPr id="9" name="Text 7"/>
          <p:cNvSpPr/>
          <p:nvPr/>
        </p:nvSpPr>
        <p:spPr>
          <a:xfrm>
            <a:off x="2432304" y="1033272"/>
            <a:ext cx="1920240" cy="566928"/>
          </a:xfrm>
          <a:prstGeom prst="rect">
            <a:avLst/>
          </a:prstGeom>
          <a:noFill/>
          <a:ln/>
        </p:spPr>
        <p:txBody>
          <a:bodyPr wrap="square" lIns="0" tIns="0" rIns="0" bIns="0" rtlCol="0" anchor="ctr"/>
          <a:lstStyle/>
          <a:p>
            <a:pPr algn="ctr" indent="0" marL="0">
              <a:buNone/>
            </a:pPr>
            <a:r>
              <a:rPr lang="en-US" sz="3000" b="1" dirty="0">
                <a:solidFill>
                  <a:srgbClr val="06B6D4"/>
                </a:solidFill>
                <a:latin typeface="Calibri" pitchFamily="34" charset="0"/>
                <a:ea typeface="Calibri" pitchFamily="34" charset="-122"/>
                <a:cs typeface="Calibri" pitchFamily="34" charset="-120"/>
              </a:rPr>
              <a:t>775 K</a:t>
            </a:r>
            <a:endParaRPr lang="en-US" sz="3000" dirty="0"/>
          </a:p>
        </p:txBody>
      </p:sp>
      <p:sp>
        <p:nvSpPr>
          <p:cNvPr id="10" name="Text 8"/>
          <p:cNvSpPr/>
          <p:nvPr/>
        </p:nvSpPr>
        <p:spPr>
          <a:xfrm>
            <a:off x="2432304" y="1581912"/>
            <a:ext cx="1920240" cy="347472"/>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Obs. trafic</a:t>
            </a:r>
            <a:endParaRPr lang="en-US" sz="1000" dirty="0"/>
          </a:p>
        </p:txBody>
      </p:sp>
      <p:sp>
        <p:nvSpPr>
          <p:cNvPr id="11" name="Shape 9"/>
          <p:cNvSpPr/>
          <p:nvPr/>
        </p:nvSpPr>
        <p:spPr>
          <a:xfrm>
            <a:off x="4480560" y="960120"/>
            <a:ext cx="1920240" cy="1051560"/>
          </a:xfrm>
          <a:prstGeom prst="roundRect">
            <a:avLst>
              <a:gd name="adj" fmla="val 10435"/>
            </a:avLst>
          </a:prstGeom>
          <a:solidFill>
            <a:srgbClr val="1C2333"/>
          </a:solidFill>
          <a:ln/>
          <a:effectLst>
            <a:outerShdw sx="100000" sy="100000" kx="0" ky="0" algn="bl" rotWithShape="0" blurRad="177800" dist="50800" dir="2700000">
              <a:srgbClr val="000000">
                <a:alpha val="35000"/>
              </a:srgbClr>
            </a:outerShdw>
          </a:effectLst>
        </p:spPr>
      </p:sp>
      <p:sp>
        <p:nvSpPr>
          <p:cNvPr id="12" name="Text 10"/>
          <p:cNvSpPr/>
          <p:nvPr/>
        </p:nvSpPr>
        <p:spPr>
          <a:xfrm>
            <a:off x="4480560" y="1033272"/>
            <a:ext cx="1920240" cy="566928"/>
          </a:xfrm>
          <a:prstGeom prst="rect">
            <a:avLst/>
          </a:prstGeom>
          <a:noFill/>
          <a:ln/>
        </p:spPr>
        <p:txBody>
          <a:bodyPr wrap="square" lIns="0" tIns="0" rIns="0" bIns="0" rtlCol="0" anchor="ctr"/>
          <a:lstStyle/>
          <a:p>
            <a:pPr algn="ctr" indent="0" marL="0">
              <a:buNone/>
            </a:pPr>
            <a:r>
              <a:rPr lang="en-US" sz="3000" b="1" dirty="0">
                <a:solidFill>
                  <a:srgbClr val="FF8C5A"/>
                </a:solidFill>
                <a:latin typeface="Calibri" pitchFamily="34" charset="0"/>
                <a:ea typeface="Calibri" pitchFamily="34" charset="-122"/>
                <a:cs typeface="Calibri" pitchFamily="34" charset="-120"/>
              </a:rPr>
              <a:t>4 faits</a:t>
            </a:r>
            <a:endParaRPr lang="en-US" sz="3000" dirty="0"/>
          </a:p>
        </p:txBody>
      </p:sp>
      <p:sp>
        <p:nvSpPr>
          <p:cNvPr id="13" name="Text 11"/>
          <p:cNvSpPr/>
          <p:nvPr/>
        </p:nvSpPr>
        <p:spPr>
          <a:xfrm>
            <a:off x="4480560" y="1581912"/>
            <a:ext cx="1920240" cy="347472"/>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Tables DW</a:t>
            </a:r>
            <a:endParaRPr lang="en-US" sz="1000" dirty="0"/>
          </a:p>
        </p:txBody>
      </p:sp>
      <p:sp>
        <p:nvSpPr>
          <p:cNvPr id="14" name="Shape 12"/>
          <p:cNvSpPr/>
          <p:nvPr/>
        </p:nvSpPr>
        <p:spPr>
          <a:xfrm>
            <a:off x="6528816" y="960120"/>
            <a:ext cx="1920240" cy="1051560"/>
          </a:xfrm>
          <a:prstGeom prst="roundRect">
            <a:avLst>
              <a:gd name="adj" fmla="val 10435"/>
            </a:avLst>
          </a:prstGeom>
          <a:solidFill>
            <a:srgbClr val="1C2333"/>
          </a:solidFill>
          <a:ln/>
          <a:effectLst>
            <a:outerShdw sx="100000" sy="100000" kx="0" ky="0" algn="bl" rotWithShape="0" blurRad="177800" dist="50800" dir="2700000">
              <a:srgbClr val="000000">
                <a:alpha val="35000"/>
              </a:srgbClr>
            </a:outerShdw>
          </a:effectLst>
        </p:spPr>
      </p:sp>
      <p:sp>
        <p:nvSpPr>
          <p:cNvPr id="15" name="Text 13"/>
          <p:cNvSpPr/>
          <p:nvPr/>
        </p:nvSpPr>
        <p:spPr>
          <a:xfrm>
            <a:off x="6528816" y="1033272"/>
            <a:ext cx="1920240" cy="566928"/>
          </a:xfrm>
          <a:prstGeom prst="rect">
            <a:avLst/>
          </a:prstGeom>
          <a:noFill/>
          <a:ln/>
        </p:spPr>
        <p:txBody>
          <a:bodyPr wrap="square" lIns="0" tIns="0" rIns="0" bIns="0" rtlCol="0" anchor="ctr"/>
          <a:lstStyle/>
          <a:p>
            <a:pPr algn="ctr" indent="0" marL="0">
              <a:buNone/>
            </a:pPr>
            <a:r>
              <a:rPr lang="en-US" sz="3000" b="1" dirty="0">
                <a:solidFill>
                  <a:srgbClr val="10B981"/>
                </a:solidFill>
                <a:latin typeface="Calibri" pitchFamily="34" charset="0"/>
                <a:ea typeface="Calibri" pitchFamily="34" charset="-122"/>
                <a:cs typeface="Calibri" pitchFamily="34" charset="-120"/>
              </a:rPr>
              <a:t>15</a:t>
            </a:r>
            <a:endParaRPr lang="en-US" sz="3000" dirty="0"/>
          </a:p>
        </p:txBody>
      </p:sp>
      <p:sp>
        <p:nvSpPr>
          <p:cNvPr id="16" name="Text 14"/>
          <p:cNvSpPr/>
          <p:nvPr/>
        </p:nvSpPr>
        <p:spPr>
          <a:xfrm>
            <a:off x="6528816" y="1581912"/>
            <a:ext cx="1920240" cy="347472"/>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Dimensions</a:t>
            </a:r>
            <a:endParaRPr lang="en-US" sz="1000" dirty="0"/>
          </a:p>
        </p:txBody>
      </p:sp>
      <p:sp>
        <p:nvSpPr>
          <p:cNvPr id="17" name="Shape 15"/>
          <p:cNvSpPr/>
          <p:nvPr/>
        </p:nvSpPr>
        <p:spPr>
          <a:xfrm>
            <a:off x="384048" y="2212848"/>
            <a:ext cx="8375904" cy="2514600"/>
          </a:xfrm>
          <a:prstGeom prst="roundRect">
            <a:avLst>
              <a:gd name="adj" fmla="val 4364"/>
            </a:avLst>
          </a:prstGeom>
          <a:solidFill>
            <a:srgbClr val="1C2333"/>
          </a:solidFill>
          <a:ln/>
          <a:effectLst>
            <a:outerShdw sx="100000" sy="100000" kx="0" ky="0" algn="bl" rotWithShape="0" blurRad="177800" dist="50800" dir="2700000">
              <a:srgbClr val="000000">
                <a:alpha val="35000"/>
              </a:srgbClr>
            </a:outerShdw>
          </a:effectLst>
        </p:spPr>
      </p:sp>
      <p:sp>
        <p:nvSpPr>
          <p:cNvPr id="18" name="Text 16"/>
          <p:cNvSpPr/>
          <p:nvPr/>
        </p:nvSpPr>
        <p:spPr>
          <a:xfrm>
            <a:off x="594360" y="2304288"/>
            <a:ext cx="3657600" cy="320040"/>
          </a:xfrm>
          <a:prstGeom prst="rect">
            <a:avLst/>
          </a:prstGeom>
          <a:noFill/>
          <a:ln/>
        </p:spPr>
        <p:txBody>
          <a:bodyPr wrap="square" lIns="0" tIns="0" rIns="0" bIns="0" rtlCol="0" anchor="ctr"/>
          <a:lstStyle/>
          <a:p>
            <a:pPr indent="0" marL="0">
              <a:buNone/>
            </a:pPr>
            <a:r>
              <a:rPr lang="en-US" sz="1300" b="1" dirty="0">
                <a:solidFill>
                  <a:srgbClr val="FF6B35"/>
                </a:solidFill>
                <a:latin typeface="Calibri" pitchFamily="34" charset="0"/>
                <a:ea typeface="Calibri" pitchFamily="34" charset="-122"/>
                <a:cs typeface="Calibri" pitchFamily="34" charset="-120"/>
              </a:rPr>
              <a:t>Modèle en constellation</a:t>
            </a:r>
            <a:endParaRPr lang="en-US" sz="1300" dirty="0"/>
          </a:p>
        </p:txBody>
      </p:sp>
      <p:sp>
        <p:nvSpPr>
          <p:cNvPr id="19" name="Shape 17"/>
          <p:cNvSpPr/>
          <p:nvPr/>
        </p:nvSpPr>
        <p:spPr>
          <a:xfrm>
            <a:off x="594360" y="2697480"/>
            <a:ext cx="1828800" cy="438912"/>
          </a:xfrm>
          <a:prstGeom prst="roundRect">
            <a:avLst>
              <a:gd name="adj" fmla="val 12500"/>
            </a:avLst>
          </a:prstGeom>
          <a:solidFill>
            <a:srgbClr val="1A1D2E"/>
          </a:solidFill>
          <a:ln w="12700">
            <a:solidFill>
              <a:srgbClr val="FF6B35"/>
            </a:solidFill>
            <a:prstDash val="solid"/>
          </a:ln>
        </p:spPr>
      </p:sp>
      <p:sp>
        <p:nvSpPr>
          <p:cNvPr id="20" name="Text 18"/>
          <p:cNvSpPr/>
          <p:nvPr/>
        </p:nvSpPr>
        <p:spPr>
          <a:xfrm>
            <a:off x="594360" y="2697480"/>
            <a:ext cx="1828800" cy="438912"/>
          </a:xfrm>
          <a:prstGeom prst="rect">
            <a:avLst/>
          </a:prstGeom>
          <a:noFill/>
          <a:ln/>
        </p:spPr>
        <p:txBody>
          <a:bodyPr wrap="square" lIns="0" tIns="0" rIns="0" bIns="0" rtlCol="0" anchor="ctr"/>
          <a:lstStyle/>
          <a:p>
            <a:pPr algn="ctr" indent="0" marL="0">
              <a:buNone/>
            </a:pPr>
            <a:r>
              <a:rPr lang="en-US" sz="1000" b="1" dirty="0">
                <a:solidFill>
                  <a:srgbClr val="FF6B35"/>
                </a:solidFill>
                <a:latin typeface="Calibri" pitchFamily="34" charset="0"/>
                <a:ea typeface="Calibri" pitchFamily="34" charset="-122"/>
                <a:cs typeface="Calibri" pitchFamily="34" charset="-120"/>
              </a:rPr>
              <a:t>Fact_Trafic</a:t>
            </a:r>
            <a:endParaRPr lang="en-US" sz="1000" dirty="0"/>
          </a:p>
        </p:txBody>
      </p:sp>
      <p:sp>
        <p:nvSpPr>
          <p:cNvPr id="21" name="Shape 19"/>
          <p:cNvSpPr/>
          <p:nvPr/>
        </p:nvSpPr>
        <p:spPr>
          <a:xfrm>
            <a:off x="2651760" y="2697480"/>
            <a:ext cx="1828800" cy="438912"/>
          </a:xfrm>
          <a:prstGeom prst="roundRect">
            <a:avLst>
              <a:gd name="adj" fmla="val 12500"/>
            </a:avLst>
          </a:prstGeom>
          <a:solidFill>
            <a:srgbClr val="1A1D2E"/>
          </a:solidFill>
          <a:ln w="12700">
            <a:solidFill>
              <a:srgbClr val="FF6B35"/>
            </a:solidFill>
            <a:prstDash val="solid"/>
          </a:ln>
        </p:spPr>
      </p:sp>
      <p:sp>
        <p:nvSpPr>
          <p:cNvPr id="22" name="Text 20"/>
          <p:cNvSpPr/>
          <p:nvPr/>
        </p:nvSpPr>
        <p:spPr>
          <a:xfrm>
            <a:off x="2651760" y="2697480"/>
            <a:ext cx="1828800" cy="438912"/>
          </a:xfrm>
          <a:prstGeom prst="rect">
            <a:avLst/>
          </a:prstGeom>
          <a:noFill/>
          <a:ln/>
        </p:spPr>
        <p:txBody>
          <a:bodyPr wrap="square" lIns="0" tIns="0" rIns="0" bIns="0" rtlCol="0" anchor="ctr"/>
          <a:lstStyle/>
          <a:p>
            <a:pPr algn="ctr" indent="0" marL="0">
              <a:buNone/>
            </a:pPr>
            <a:r>
              <a:rPr lang="en-US" sz="1000" b="1" dirty="0">
                <a:solidFill>
                  <a:srgbClr val="FF6B35"/>
                </a:solidFill>
                <a:latin typeface="Calibri" pitchFamily="34" charset="0"/>
                <a:ea typeface="Calibri" pitchFamily="34" charset="-122"/>
                <a:cs typeface="Calibri" pitchFamily="34" charset="-120"/>
              </a:rPr>
              <a:t>Fact_Deplacement</a:t>
            </a:r>
            <a:endParaRPr lang="en-US" sz="1000" dirty="0"/>
          </a:p>
        </p:txBody>
      </p:sp>
      <p:sp>
        <p:nvSpPr>
          <p:cNvPr id="23" name="Shape 21"/>
          <p:cNvSpPr/>
          <p:nvPr/>
        </p:nvSpPr>
        <p:spPr>
          <a:xfrm>
            <a:off x="4709160" y="2697480"/>
            <a:ext cx="1828800" cy="438912"/>
          </a:xfrm>
          <a:prstGeom prst="roundRect">
            <a:avLst>
              <a:gd name="adj" fmla="val 12500"/>
            </a:avLst>
          </a:prstGeom>
          <a:solidFill>
            <a:srgbClr val="1A1D2E"/>
          </a:solidFill>
          <a:ln w="12700">
            <a:solidFill>
              <a:srgbClr val="FF6B35"/>
            </a:solidFill>
            <a:prstDash val="solid"/>
          </a:ln>
        </p:spPr>
      </p:sp>
      <p:sp>
        <p:nvSpPr>
          <p:cNvPr id="24" name="Text 22"/>
          <p:cNvSpPr/>
          <p:nvPr/>
        </p:nvSpPr>
        <p:spPr>
          <a:xfrm>
            <a:off x="4709160" y="2697480"/>
            <a:ext cx="1828800" cy="438912"/>
          </a:xfrm>
          <a:prstGeom prst="rect">
            <a:avLst/>
          </a:prstGeom>
          <a:noFill/>
          <a:ln/>
        </p:spPr>
        <p:txBody>
          <a:bodyPr wrap="square" lIns="0" tIns="0" rIns="0" bIns="0" rtlCol="0" anchor="ctr"/>
          <a:lstStyle/>
          <a:p>
            <a:pPr algn="ctr" indent="0" marL="0">
              <a:buNone/>
            </a:pPr>
            <a:r>
              <a:rPr lang="en-US" sz="1000" b="1" dirty="0">
                <a:solidFill>
                  <a:srgbClr val="FF6B35"/>
                </a:solidFill>
                <a:latin typeface="Calibri" pitchFamily="34" charset="0"/>
                <a:ea typeface="Calibri" pitchFamily="34" charset="-122"/>
                <a:cs typeface="Calibri" pitchFamily="34" charset="-120"/>
              </a:rPr>
              <a:t>Fact_Accessibilite</a:t>
            </a:r>
            <a:endParaRPr lang="en-US" sz="1000" dirty="0"/>
          </a:p>
        </p:txBody>
      </p:sp>
      <p:sp>
        <p:nvSpPr>
          <p:cNvPr id="25" name="Shape 23"/>
          <p:cNvSpPr/>
          <p:nvPr/>
        </p:nvSpPr>
        <p:spPr>
          <a:xfrm>
            <a:off x="6766560" y="2697480"/>
            <a:ext cx="1828800" cy="438912"/>
          </a:xfrm>
          <a:prstGeom prst="roundRect">
            <a:avLst>
              <a:gd name="adj" fmla="val 12500"/>
            </a:avLst>
          </a:prstGeom>
          <a:solidFill>
            <a:srgbClr val="1A1D2E"/>
          </a:solidFill>
          <a:ln w="12700">
            <a:solidFill>
              <a:srgbClr val="FF6B35"/>
            </a:solidFill>
            <a:prstDash val="solid"/>
          </a:ln>
        </p:spPr>
      </p:sp>
      <p:sp>
        <p:nvSpPr>
          <p:cNvPr id="26" name="Text 24"/>
          <p:cNvSpPr/>
          <p:nvPr/>
        </p:nvSpPr>
        <p:spPr>
          <a:xfrm>
            <a:off x="6766560" y="2697480"/>
            <a:ext cx="1828800" cy="438912"/>
          </a:xfrm>
          <a:prstGeom prst="rect">
            <a:avLst/>
          </a:prstGeom>
          <a:noFill/>
          <a:ln/>
        </p:spPr>
        <p:txBody>
          <a:bodyPr wrap="square" lIns="0" tIns="0" rIns="0" bIns="0" rtlCol="0" anchor="ctr"/>
          <a:lstStyle/>
          <a:p>
            <a:pPr algn="ctr" indent="0" marL="0">
              <a:buNone/>
            </a:pPr>
            <a:r>
              <a:rPr lang="en-US" sz="1000" b="1" dirty="0">
                <a:solidFill>
                  <a:srgbClr val="FF6B35"/>
                </a:solidFill>
                <a:latin typeface="Calibri" pitchFamily="34" charset="0"/>
                <a:ea typeface="Calibri" pitchFamily="34" charset="-122"/>
                <a:cs typeface="Calibri" pitchFamily="34" charset="-120"/>
              </a:rPr>
              <a:t>Fact_Individu</a:t>
            </a:r>
            <a:endParaRPr lang="en-US" sz="1000" dirty="0"/>
          </a:p>
        </p:txBody>
      </p:sp>
      <p:sp>
        <p:nvSpPr>
          <p:cNvPr id="27" name="Shape 25"/>
          <p:cNvSpPr/>
          <p:nvPr/>
        </p:nvSpPr>
        <p:spPr>
          <a:xfrm>
            <a:off x="594360" y="3310128"/>
            <a:ext cx="1828800" cy="365760"/>
          </a:xfrm>
          <a:prstGeom prst="roundRect">
            <a:avLst>
              <a:gd name="adj" fmla="val 15000"/>
            </a:avLst>
          </a:prstGeom>
          <a:solidFill>
            <a:srgbClr val="1C2333"/>
          </a:solidFill>
          <a:ln w="12700">
            <a:solidFill>
              <a:srgbClr val="06B6D4"/>
            </a:solidFill>
            <a:prstDash val="solid"/>
          </a:ln>
        </p:spPr>
      </p:sp>
      <p:sp>
        <p:nvSpPr>
          <p:cNvPr id="28" name="Text 26"/>
          <p:cNvSpPr/>
          <p:nvPr/>
        </p:nvSpPr>
        <p:spPr>
          <a:xfrm>
            <a:off x="594360" y="3310128"/>
            <a:ext cx="1828800" cy="365760"/>
          </a:xfrm>
          <a:prstGeom prst="rect">
            <a:avLst/>
          </a:prstGeom>
          <a:noFill/>
          <a:ln/>
        </p:spPr>
        <p:txBody>
          <a:bodyPr wrap="square" lIns="0" tIns="0" rIns="0" bIns="0" rtlCol="0" anchor="ctr"/>
          <a:lstStyle/>
          <a:p>
            <a:pPr algn="ctr" indent="0" marL="0">
              <a:buNone/>
            </a:pPr>
            <a:r>
              <a:rPr lang="en-US" sz="900" dirty="0">
                <a:solidFill>
                  <a:srgbClr val="06B6D4"/>
                </a:solidFill>
                <a:latin typeface="Calibri" pitchFamily="34" charset="0"/>
                <a:ea typeface="Calibri" pitchFamily="34" charset="-122"/>
                <a:cs typeface="Calibri" pitchFamily="34" charset="-120"/>
              </a:rPr>
              <a:t>Dim_Temps</a:t>
            </a:r>
            <a:endParaRPr lang="en-US" sz="900" dirty="0"/>
          </a:p>
        </p:txBody>
      </p:sp>
      <p:sp>
        <p:nvSpPr>
          <p:cNvPr id="29" name="Shape 27"/>
          <p:cNvSpPr/>
          <p:nvPr/>
        </p:nvSpPr>
        <p:spPr>
          <a:xfrm>
            <a:off x="2651760" y="3310128"/>
            <a:ext cx="1828800" cy="365760"/>
          </a:xfrm>
          <a:prstGeom prst="roundRect">
            <a:avLst>
              <a:gd name="adj" fmla="val 15000"/>
            </a:avLst>
          </a:prstGeom>
          <a:solidFill>
            <a:srgbClr val="1C2333"/>
          </a:solidFill>
          <a:ln w="12700">
            <a:solidFill>
              <a:srgbClr val="06B6D4"/>
            </a:solidFill>
            <a:prstDash val="solid"/>
          </a:ln>
        </p:spPr>
      </p:sp>
      <p:sp>
        <p:nvSpPr>
          <p:cNvPr id="30" name="Text 28"/>
          <p:cNvSpPr/>
          <p:nvPr/>
        </p:nvSpPr>
        <p:spPr>
          <a:xfrm>
            <a:off x="2651760" y="3310128"/>
            <a:ext cx="1828800" cy="365760"/>
          </a:xfrm>
          <a:prstGeom prst="rect">
            <a:avLst/>
          </a:prstGeom>
          <a:noFill/>
          <a:ln/>
        </p:spPr>
        <p:txBody>
          <a:bodyPr wrap="square" lIns="0" tIns="0" rIns="0" bIns="0" rtlCol="0" anchor="ctr"/>
          <a:lstStyle/>
          <a:p>
            <a:pPr algn="ctr" indent="0" marL="0">
              <a:buNone/>
            </a:pPr>
            <a:r>
              <a:rPr lang="en-US" sz="900" dirty="0">
                <a:solidFill>
                  <a:srgbClr val="06B6D4"/>
                </a:solidFill>
                <a:latin typeface="Calibri" pitchFamily="34" charset="0"/>
                <a:ea typeface="Calibri" pitchFamily="34" charset="-122"/>
                <a:cs typeface="Calibri" pitchFamily="34" charset="-120"/>
              </a:rPr>
              <a:t>Dim_Zone</a:t>
            </a:r>
            <a:endParaRPr lang="en-US" sz="900" dirty="0"/>
          </a:p>
        </p:txBody>
      </p:sp>
      <p:sp>
        <p:nvSpPr>
          <p:cNvPr id="31" name="Shape 29"/>
          <p:cNvSpPr/>
          <p:nvPr/>
        </p:nvSpPr>
        <p:spPr>
          <a:xfrm>
            <a:off x="4709160" y="3310128"/>
            <a:ext cx="1828800" cy="365760"/>
          </a:xfrm>
          <a:prstGeom prst="roundRect">
            <a:avLst>
              <a:gd name="adj" fmla="val 15000"/>
            </a:avLst>
          </a:prstGeom>
          <a:solidFill>
            <a:srgbClr val="1C2333"/>
          </a:solidFill>
          <a:ln w="12700">
            <a:solidFill>
              <a:srgbClr val="06B6D4"/>
            </a:solidFill>
            <a:prstDash val="solid"/>
          </a:ln>
        </p:spPr>
      </p:sp>
      <p:sp>
        <p:nvSpPr>
          <p:cNvPr id="32" name="Text 30"/>
          <p:cNvSpPr/>
          <p:nvPr/>
        </p:nvSpPr>
        <p:spPr>
          <a:xfrm>
            <a:off x="4709160" y="3310128"/>
            <a:ext cx="1828800" cy="365760"/>
          </a:xfrm>
          <a:prstGeom prst="rect">
            <a:avLst/>
          </a:prstGeom>
          <a:noFill/>
          <a:ln/>
        </p:spPr>
        <p:txBody>
          <a:bodyPr wrap="square" lIns="0" tIns="0" rIns="0" bIns="0" rtlCol="0" anchor="ctr"/>
          <a:lstStyle/>
          <a:p>
            <a:pPr algn="ctr" indent="0" marL="0">
              <a:buNone/>
            </a:pPr>
            <a:r>
              <a:rPr lang="en-US" sz="900" dirty="0">
                <a:solidFill>
                  <a:srgbClr val="06B6D4"/>
                </a:solidFill>
                <a:latin typeface="Calibri" pitchFamily="34" charset="0"/>
                <a:ea typeface="Calibri" pitchFamily="34" charset="-122"/>
                <a:cs typeface="Calibri" pitchFamily="34" charset="-120"/>
              </a:rPr>
              <a:t>Dim_Mode</a:t>
            </a:r>
            <a:endParaRPr lang="en-US" sz="900" dirty="0"/>
          </a:p>
        </p:txBody>
      </p:sp>
      <p:sp>
        <p:nvSpPr>
          <p:cNvPr id="33" name="Shape 31"/>
          <p:cNvSpPr/>
          <p:nvPr/>
        </p:nvSpPr>
        <p:spPr>
          <a:xfrm>
            <a:off x="6766560" y="3310128"/>
            <a:ext cx="1828800" cy="365760"/>
          </a:xfrm>
          <a:prstGeom prst="roundRect">
            <a:avLst>
              <a:gd name="adj" fmla="val 15000"/>
            </a:avLst>
          </a:prstGeom>
          <a:solidFill>
            <a:srgbClr val="1C2333"/>
          </a:solidFill>
          <a:ln w="12700">
            <a:solidFill>
              <a:srgbClr val="06B6D4"/>
            </a:solidFill>
            <a:prstDash val="solid"/>
          </a:ln>
        </p:spPr>
      </p:sp>
      <p:sp>
        <p:nvSpPr>
          <p:cNvPr id="34" name="Text 32"/>
          <p:cNvSpPr/>
          <p:nvPr/>
        </p:nvSpPr>
        <p:spPr>
          <a:xfrm>
            <a:off x="6766560" y="3310128"/>
            <a:ext cx="1828800" cy="365760"/>
          </a:xfrm>
          <a:prstGeom prst="rect">
            <a:avLst/>
          </a:prstGeom>
          <a:noFill/>
          <a:ln/>
        </p:spPr>
        <p:txBody>
          <a:bodyPr wrap="square" lIns="0" tIns="0" rIns="0" bIns="0" rtlCol="0" anchor="ctr"/>
          <a:lstStyle/>
          <a:p>
            <a:pPr algn="ctr" indent="0" marL="0">
              <a:buNone/>
            </a:pPr>
            <a:r>
              <a:rPr lang="en-US" sz="900" dirty="0">
                <a:solidFill>
                  <a:srgbClr val="06B6D4"/>
                </a:solidFill>
                <a:latin typeface="Calibri" pitchFamily="34" charset="0"/>
                <a:ea typeface="Calibri" pitchFamily="34" charset="-122"/>
                <a:cs typeface="Calibri" pitchFamily="34" charset="-120"/>
              </a:rPr>
              <a:t>Dim_Motif</a:t>
            </a:r>
            <a:endParaRPr lang="en-US" sz="900" dirty="0"/>
          </a:p>
        </p:txBody>
      </p:sp>
      <p:sp>
        <p:nvSpPr>
          <p:cNvPr id="35" name="Shape 33"/>
          <p:cNvSpPr/>
          <p:nvPr/>
        </p:nvSpPr>
        <p:spPr>
          <a:xfrm>
            <a:off x="594360" y="3886200"/>
            <a:ext cx="1828800" cy="365760"/>
          </a:xfrm>
          <a:prstGeom prst="roundRect">
            <a:avLst>
              <a:gd name="adj" fmla="val 15000"/>
            </a:avLst>
          </a:prstGeom>
          <a:solidFill>
            <a:srgbClr val="1C2333"/>
          </a:solidFill>
          <a:ln w="12700">
            <a:solidFill>
              <a:srgbClr val="06B6D4"/>
            </a:solidFill>
            <a:prstDash val="solid"/>
          </a:ln>
        </p:spPr>
      </p:sp>
      <p:sp>
        <p:nvSpPr>
          <p:cNvPr id="36" name="Text 34"/>
          <p:cNvSpPr/>
          <p:nvPr/>
        </p:nvSpPr>
        <p:spPr>
          <a:xfrm>
            <a:off x="594360" y="3886200"/>
            <a:ext cx="1828800" cy="365760"/>
          </a:xfrm>
          <a:prstGeom prst="rect">
            <a:avLst/>
          </a:prstGeom>
          <a:noFill/>
          <a:ln/>
        </p:spPr>
        <p:txBody>
          <a:bodyPr wrap="square" lIns="0" tIns="0" rIns="0" bIns="0" rtlCol="0" anchor="ctr"/>
          <a:lstStyle/>
          <a:p>
            <a:pPr algn="ctr" indent="0" marL="0">
              <a:buNone/>
            </a:pPr>
            <a:r>
              <a:rPr lang="en-US" sz="900" dirty="0">
                <a:solidFill>
                  <a:srgbClr val="06B6D4"/>
                </a:solidFill>
                <a:latin typeface="Calibri" pitchFamily="34" charset="0"/>
                <a:ea typeface="Calibri" pitchFamily="34" charset="-122"/>
                <a:cs typeface="Calibri" pitchFamily="34" charset="-120"/>
              </a:rPr>
              <a:t>Dim_Individu</a:t>
            </a:r>
            <a:endParaRPr lang="en-US" sz="900" dirty="0"/>
          </a:p>
        </p:txBody>
      </p:sp>
      <p:sp>
        <p:nvSpPr>
          <p:cNvPr id="37" name="Shape 35"/>
          <p:cNvSpPr/>
          <p:nvPr/>
        </p:nvSpPr>
        <p:spPr>
          <a:xfrm>
            <a:off x="2651760" y="3886200"/>
            <a:ext cx="1828800" cy="365760"/>
          </a:xfrm>
          <a:prstGeom prst="roundRect">
            <a:avLst>
              <a:gd name="adj" fmla="val 15000"/>
            </a:avLst>
          </a:prstGeom>
          <a:solidFill>
            <a:srgbClr val="1C2333"/>
          </a:solidFill>
          <a:ln w="12700">
            <a:solidFill>
              <a:srgbClr val="06B6D4"/>
            </a:solidFill>
            <a:prstDash val="solid"/>
          </a:ln>
        </p:spPr>
      </p:sp>
      <p:sp>
        <p:nvSpPr>
          <p:cNvPr id="38" name="Text 36"/>
          <p:cNvSpPr/>
          <p:nvPr/>
        </p:nvSpPr>
        <p:spPr>
          <a:xfrm>
            <a:off x="2651760" y="3886200"/>
            <a:ext cx="1828800" cy="365760"/>
          </a:xfrm>
          <a:prstGeom prst="rect">
            <a:avLst/>
          </a:prstGeom>
          <a:noFill/>
          <a:ln/>
        </p:spPr>
        <p:txBody>
          <a:bodyPr wrap="square" lIns="0" tIns="0" rIns="0" bIns="0" rtlCol="0" anchor="ctr"/>
          <a:lstStyle/>
          <a:p>
            <a:pPr algn="ctr" indent="0" marL="0">
              <a:buNone/>
            </a:pPr>
            <a:r>
              <a:rPr lang="en-US" sz="900" dirty="0">
                <a:solidFill>
                  <a:srgbClr val="06B6D4"/>
                </a:solidFill>
                <a:latin typeface="Calibri" pitchFamily="34" charset="0"/>
                <a:ea typeface="Calibri" pitchFamily="34" charset="-122"/>
                <a:cs typeface="Calibri" pitchFamily="34" charset="-120"/>
              </a:rPr>
              <a:t>Dim_Site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457200" y="256032"/>
            <a:ext cx="1005840" cy="64008"/>
          </a:xfrm>
          <a:prstGeom prst="rect">
            <a:avLst/>
          </a:prstGeom>
          <a:solidFill>
            <a:srgbClr val="FF6B35"/>
          </a:solidFill>
          <a:ln w="12700">
            <a:solidFill>
              <a:srgbClr val="FF6B35"/>
            </a:solidFill>
            <a:prstDash val="solid"/>
          </a:ln>
        </p:spPr>
      </p:sp>
      <p:sp>
        <p:nvSpPr>
          <p:cNvPr id="3" name="Text 1"/>
          <p:cNvSpPr/>
          <p:nvPr/>
        </p:nvSpPr>
        <p:spPr>
          <a:xfrm>
            <a:off x="457200" y="365760"/>
            <a:ext cx="8229600" cy="411480"/>
          </a:xfrm>
          <a:prstGeom prst="rect">
            <a:avLst/>
          </a:prstGeom>
          <a:noFill/>
          <a:ln/>
        </p:spPr>
        <p:txBody>
          <a:bodyPr wrap="square" lIns="0" tIns="0" rIns="0" bIns="0" rtlCol="0" anchor="ctr"/>
          <a:lstStyle/>
          <a:p>
            <a:pPr indent="0" marL="0">
              <a:buNone/>
            </a:pPr>
            <a:r>
              <a:rPr lang="en-US" sz="2600" b="1" dirty="0">
                <a:solidFill>
                  <a:srgbClr val="F9FAFB"/>
                </a:solidFill>
                <a:latin typeface="Calibri" pitchFamily="34" charset="0"/>
                <a:ea typeface="Calibri" pitchFamily="34" charset="-122"/>
                <a:cs typeface="Calibri" pitchFamily="34" charset="-120"/>
              </a:rPr>
              <a:t>Machine Learning — 4 modèles</a:t>
            </a:r>
            <a:endParaRPr lang="en-US" sz="2600" dirty="0"/>
          </a:p>
        </p:txBody>
      </p:sp>
      <p:sp>
        <p:nvSpPr>
          <p:cNvPr id="4" name="Text 2"/>
          <p:cNvSpPr/>
          <p:nvPr/>
        </p:nvSpPr>
        <p:spPr>
          <a:xfrm>
            <a:off x="457200" y="713232"/>
            <a:ext cx="8229600" cy="347472"/>
          </a:xfrm>
          <a:prstGeom prst="rect">
            <a:avLst/>
          </a:prstGeom>
          <a:noFill/>
          <a:ln/>
        </p:spPr>
        <p:txBody>
          <a:bodyPr wrap="square" lIns="0" tIns="0" rIns="0" bIns="0" rtlCol="0" anchor="ctr"/>
          <a:lstStyle/>
          <a:p>
            <a:pPr indent="0" marL="0">
              <a:buNone/>
            </a:pPr>
            <a:r>
              <a:rPr lang="en-US" sz="1300" dirty="0">
                <a:solidFill>
                  <a:srgbClr val="9CA3AF"/>
                </a:solidFill>
                <a:latin typeface="Calibri" pitchFamily="34" charset="0"/>
                <a:ea typeface="Calibri" pitchFamily="34" charset="-122"/>
                <a:cs typeface="Calibri" pitchFamily="34" charset="-120"/>
              </a:rPr>
              <a:t>Entraînés sur les données réelles du CETUD</a:t>
            </a:r>
            <a:endParaRPr lang="en-US" sz="1300" dirty="0"/>
          </a:p>
        </p:txBody>
      </p:sp>
      <p:sp>
        <p:nvSpPr>
          <p:cNvPr id="5" name="Text 3"/>
          <p:cNvSpPr/>
          <p:nvPr/>
        </p:nvSpPr>
        <p:spPr>
          <a:xfrm>
            <a:off x="0" y="4892040"/>
            <a:ext cx="9144000" cy="256032"/>
          </a:xfrm>
          <a:prstGeom prst="rect">
            <a:avLst/>
          </a:prstGeom>
          <a:noFill/>
          <a:ln/>
        </p:spPr>
        <p:txBody>
          <a:bodyPr wrap="square" lIns="0" tIns="0" rIns="0" bIns="0" rtlCol="0" anchor="ctr"/>
          <a:lstStyle/>
          <a:p>
            <a:pPr algn="ctr" indent="0" marL="0">
              <a:buNone/>
            </a:pPr>
            <a:r>
              <a:rPr lang="en-US" sz="800" dirty="0">
                <a:solidFill>
                  <a:srgbClr val="374151"/>
                </a:solidFill>
                <a:latin typeface="Calibri" pitchFamily="34" charset="0"/>
                <a:ea typeface="Calibri" pitchFamily="34" charset="-122"/>
                <a:cs typeface="Calibri" pitchFamily="34" charset="-120"/>
              </a:rPr>
              <a:t>ESPRIT · SIMAC · CETUD  |  6 / 18</a:t>
            </a:r>
            <a:endParaRPr lang="en-US" sz="800" dirty="0"/>
          </a:p>
        </p:txBody>
      </p:sp>
      <p:sp>
        <p:nvSpPr>
          <p:cNvPr id="6" name="Shape 4"/>
          <p:cNvSpPr/>
          <p:nvPr/>
        </p:nvSpPr>
        <p:spPr>
          <a:xfrm>
            <a:off x="384048" y="1143000"/>
            <a:ext cx="3977640" cy="1600200"/>
          </a:xfrm>
          <a:prstGeom prst="roundRect">
            <a:avLst>
              <a:gd name="adj" fmla="val 6857"/>
            </a:avLst>
          </a:prstGeom>
          <a:solidFill>
            <a:srgbClr val="1C2333"/>
          </a:solidFill>
          <a:ln/>
          <a:effectLst>
            <a:outerShdw sx="100000" sy="100000" kx="0" ky="0" algn="bl" rotWithShape="0" blurRad="177800" dist="50800" dir="2700000">
              <a:srgbClr val="000000">
                <a:alpha val="35000"/>
              </a:srgbClr>
            </a:outerShdw>
          </a:effectLst>
        </p:spPr>
      </p:sp>
      <p:sp>
        <p:nvSpPr>
          <p:cNvPr id="7" name="Text 5"/>
          <p:cNvSpPr/>
          <p:nvPr/>
        </p:nvSpPr>
        <p:spPr>
          <a:xfrm>
            <a:off x="566928" y="1252728"/>
            <a:ext cx="548640" cy="502920"/>
          </a:xfrm>
          <a:prstGeom prst="rect">
            <a:avLst/>
          </a:prstGeom>
          <a:noFill/>
          <a:ln/>
        </p:spPr>
        <p:txBody>
          <a:bodyPr wrap="square" lIns="0" tIns="0" rIns="0" bIns="0" rtlCol="0" anchor="ctr"/>
          <a:lstStyle/>
          <a:p>
            <a:pPr indent="0" marL="0">
              <a:buNone/>
            </a:pPr>
            <a:r>
              <a:rPr lang="en-US" sz="2200" b="1" dirty="0">
                <a:solidFill>
                  <a:srgbClr val="FF6B35"/>
                </a:solidFill>
                <a:latin typeface="Calibri" pitchFamily="34" charset="0"/>
                <a:ea typeface="Calibri" pitchFamily="34" charset="-122"/>
                <a:cs typeface="Calibri" pitchFamily="34" charset="-120"/>
              </a:rPr>
              <a:t>M1</a:t>
            </a:r>
            <a:endParaRPr lang="en-US" sz="2200" dirty="0"/>
          </a:p>
        </p:txBody>
      </p:sp>
      <p:sp>
        <p:nvSpPr>
          <p:cNvPr id="8" name="Text 6"/>
          <p:cNvSpPr/>
          <p:nvPr/>
        </p:nvSpPr>
        <p:spPr>
          <a:xfrm>
            <a:off x="1161288" y="1252728"/>
            <a:ext cx="2926080" cy="411480"/>
          </a:xfrm>
          <a:prstGeom prst="rect">
            <a:avLst/>
          </a:prstGeom>
          <a:noFill/>
          <a:ln/>
        </p:spPr>
        <p:txBody>
          <a:bodyPr wrap="square" lIns="0" tIns="0" rIns="0" bIns="0" rtlCol="0" anchor="ctr"/>
          <a:lstStyle/>
          <a:p>
            <a:pPr indent="0" marL="0">
              <a:buNone/>
            </a:pPr>
            <a:r>
              <a:rPr lang="en-US" sz="1300" b="1" dirty="0">
                <a:solidFill>
                  <a:srgbClr val="F9FAFB"/>
                </a:solidFill>
                <a:latin typeface="Calibri" pitchFamily="34" charset="0"/>
                <a:ea typeface="Calibri" pitchFamily="34" charset="-122"/>
                <a:cs typeface="Calibri" pitchFamily="34" charset="-120"/>
              </a:rPr>
              <a:t>Random Forest</a:t>
            </a:r>
            <a:endParaRPr lang="en-US" sz="1300" dirty="0"/>
          </a:p>
        </p:txBody>
      </p:sp>
      <p:sp>
        <p:nvSpPr>
          <p:cNvPr id="9" name="Text 7"/>
          <p:cNvSpPr/>
          <p:nvPr/>
        </p:nvSpPr>
        <p:spPr>
          <a:xfrm>
            <a:off x="1161288" y="1645920"/>
            <a:ext cx="2926080" cy="32004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Recommandation transport</a:t>
            </a:r>
            <a:endParaRPr lang="en-US" sz="1100" dirty="0"/>
          </a:p>
        </p:txBody>
      </p:sp>
      <p:sp>
        <p:nvSpPr>
          <p:cNvPr id="10" name="Shape 8"/>
          <p:cNvSpPr/>
          <p:nvPr/>
        </p:nvSpPr>
        <p:spPr>
          <a:xfrm>
            <a:off x="566928" y="2167128"/>
            <a:ext cx="1280160" cy="256032"/>
          </a:xfrm>
          <a:prstGeom prst="roundRect">
            <a:avLst>
              <a:gd name="adj" fmla="val 21429"/>
            </a:avLst>
          </a:prstGeom>
          <a:solidFill>
            <a:srgbClr val="1A1D2E"/>
          </a:solidFill>
          <a:ln w="12700">
            <a:solidFill>
              <a:srgbClr val="FF6B35"/>
            </a:solidFill>
            <a:prstDash val="solid"/>
          </a:ln>
        </p:spPr>
      </p:sp>
      <p:sp>
        <p:nvSpPr>
          <p:cNvPr id="11" name="Text 9"/>
          <p:cNvSpPr/>
          <p:nvPr/>
        </p:nvSpPr>
        <p:spPr>
          <a:xfrm>
            <a:off x="566928" y="2167128"/>
            <a:ext cx="1280160" cy="256032"/>
          </a:xfrm>
          <a:prstGeom prst="rect">
            <a:avLst/>
          </a:prstGeom>
          <a:noFill/>
          <a:ln/>
        </p:spPr>
        <p:txBody>
          <a:bodyPr wrap="square" lIns="0" tIns="0" rIns="0" bIns="0" rtlCol="0" anchor="ctr"/>
          <a:lstStyle/>
          <a:p>
            <a:pPr algn="ctr" indent="0" marL="0">
              <a:buNone/>
            </a:pPr>
            <a:r>
              <a:rPr lang="en-US" sz="900" dirty="0">
                <a:solidFill>
                  <a:srgbClr val="FF6B35"/>
                </a:solidFill>
                <a:latin typeface="Calibri" pitchFamily="34" charset="0"/>
                <a:ea typeface="Calibri" pitchFamily="34" charset="-122"/>
                <a:cs typeface="Calibri" pitchFamily="34" charset="-120"/>
              </a:rPr>
              <a:t>Citoyen</a:t>
            </a:r>
            <a:endParaRPr lang="en-US" sz="900" dirty="0"/>
          </a:p>
        </p:txBody>
      </p:sp>
      <p:sp>
        <p:nvSpPr>
          <p:cNvPr id="12" name="Text 10"/>
          <p:cNvSpPr/>
          <p:nvPr/>
        </p:nvSpPr>
        <p:spPr>
          <a:xfrm>
            <a:off x="2761488" y="2130552"/>
            <a:ext cx="1417320" cy="347472"/>
          </a:xfrm>
          <a:prstGeom prst="rect">
            <a:avLst/>
          </a:prstGeom>
          <a:noFill/>
          <a:ln/>
        </p:spPr>
        <p:txBody>
          <a:bodyPr wrap="square" lIns="0" tIns="0" rIns="0" bIns="0" rtlCol="0" anchor="ctr"/>
          <a:lstStyle/>
          <a:p>
            <a:pPr algn="r" indent="0" marL="0">
              <a:buNone/>
            </a:pPr>
            <a:r>
              <a:rPr lang="en-US" sz="1800" b="1" dirty="0">
                <a:solidFill>
                  <a:srgbClr val="FF6B35"/>
                </a:solidFill>
                <a:latin typeface="Calibri" pitchFamily="34" charset="0"/>
                <a:ea typeface="Calibri" pitchFamily="34" charset="-122"/>
                <a:cs typeface="Calibri" pitchFamily="34" charset="-120"/>
              </a:rPr>
              <a:t>87%</a:t>
            </a:r>
            <a:endParaRPr lang="en-US" sz="1800" dirty="0"/>
          </a:p>
        </p:txBody>
      </p:sp>
      <p:sp>
        <p:nvSpPr>
          <p:cNvPr id="13" name="Shape 11"/>
          <p:cNvSpPr/>
          <p:nvPr/>
        </p:nvSpPr>
        <p:spPr>
          <a:xfrm>
            <a:off x="4681728" y="1143000"/>
            <a:ext cx="3977640" cy="1600200"/>
          </a:xfrm>
          <a:prstGeom prst="roundRect">
            <a:avLst>
              <a:gd name="adj" fmla="val 6857"/>
            </a:avLst>
          </a:prstGeom>
          <a:solidFill>
            <a:srgbClr val="1C2333"/>
          </a:solidFill>
          <a:ln/>
          <a:effectLst>
            <a:outerShdw sx="100000" sy="100000" kx="0" ky="0" algn="bl" rotWithShape="0" blurRad="177800" dist="50800" dir="2700000">
              <a:srgbClr val="000000">
                <a:alpha val="35000"/>
              </a:srgbClr>
            </a:outerShdw>
          </a:effectLst>
        </p:spPr>
      </p:sp>
      <p:sp>
        <p:nvSpPr>
          <p:cNvPr id="14" name="Text 12"/>
          <p:cNvSpPr/>
          <p:nvPr/>
        </p:nvSpPr>
        <p:spPr>
          <a:xfrm>
            <a:off x="4864608" y="1252728"/>
            <a:ext cx="548640" cy="502920"/>
          </a:xfrm>
          <a:prstGeom prst="rect">
            <a:avLst/>
          </a:prstGeom>
          <a:noFill/>
          <a:ln/>
        </p:spPr>
        <p:txBody>
          <a:bodyPr wrap="square" lIns="0" tIns="0" rIns="0" bIns="0" rtlCol="0" anchor="ctr"/>
          <a:lstStyle/>
          <a:p>
            <a:pPr indent="0" marL="0">
              <a:buNone/>
            </a:pPr>
            <a:r>
              <a:rPr lang="en-US" sz="2200" b="1" dirty="0">
                <a:solidFill>
                  <a:srgbClr val="06B6D4"/>
                </a:solidFill>
                <a:latin typeface="Calibri" pitchFamily="34" charset="0"/>
                <a:ea typeface="Calibri" pitchFamily="34" charset="-122"/>
                <a:cs typeface="Calibri" pitchFamily="34" charset="-120"/>
              </a:rPr>
              <a:t>M2</a:t>
            </a:r>
            <a:endParaRPr lang="en-US" sz="2200" dirty="0"/>
          </a:p>
        </p:txBody>
      </p:sp>
      <p:sp>
        <p:nvSpPr>
          <p:cNvPr id="15" name="Text 13"/>
          <p:cNvSpPr/>
          <p:nvPr/>
        </p:nvSpPr>
        <p:spPr>
          <a:xfrm>
            <a:off x="5458968" y="1252728"/>
            <a:ext cx="2926080" cy="411480"/>
          </a:xfrm>
          <a:prstGeom prst="rect">
            <a:avLst/>
          </a:prstGeom>
          <a:noFill/>
          <a:ln/>
        </p:spPr>
        <p:txBody>
          <a:bodyPr wrap="square" lIns="0" tIns="0" rIns="0" bIns="0" rtlCol="0" anchor="ctr"/>
          <a:lstStyle/>
          <a:p>
            <a:pPr indent="0" marL="0">
              <a:buNone/>
            </a:pPr>
            <a:r>
              <a:rPr lang="en-US" sz="1300" b="1" dirty="0">
                <a:solidFill>
                  <a:srgbClr val="F9FAFB"/>
                </a:solidFill>
                <a:latin typeface="Calibri" pitchFamily="34" charset="0"/>
                <a:ea typeface="Calibri" pitchFamily="34" charset="-122"/>
                <a:cs typeface="Calibri" pitchFamily="34" charset="-120"/>
              </a:rPr>
              <a:t>Random Forest</a:t>
            </a:r>
            <a:endParaRPr lang="en-US" sz="1300" dirty="0"/>
          </a:p>
        </p:txBody>
      </p:sp>
      <p:sp>
        <p:nvSpPr>
          <p:cNvPr id="16" name="Text 14"/>
          <p:cNvSpPr/>
          <p:nvPr/>
        </p:nvSpPr>
        <p:spPr>
          <a:xfrm>
            <a:off x="5458968" y="1645920"/>
            <a:ext cx="2926080" cy="32004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Prédiction inaccessibilité</a:t>
            </a:r>
            <a:endParaRPr lang="en-US" sz="1100" dirty="0"/>
          </a:p>
        </p:txBody>
      </p:sp>
      <p:sp>
        <p:nvSpPr>
          <p:cNvPr id="17" name="Shape 15"/>
          <p:cNvSpPr/>
          <p:nvPr/>
        </p:nvSpPr>
        <p:spPr>
          <a:xfrm>
            <a:off x="4864608" y="2167128"/>
            <a:ext cx="1280160" cy="256032"/>
          </a:xfrm>
          <a:prstGeom prst="roundRect">
            <a:avLst>
              <a:gd name="adj" fmla="val 21429"/>
            </a:avLst>
          </a:prstGeom>
          <a:solidFill>
            <a:srgbClr val="1A1D2E"/>
          </a:solidFill>
          <a:ln w="12700">
            <a:solidFill>
              <a:srgbClr val="06B6D4"/>
            </a:solidFill>
            <a:prstDash val="solid"/>
          </a:ln>
        </p:spPr>
      </p:sp>
      <p:sp>
        <p:nvSpPr>
          <p:cNvPr id="18" name="Text 16"/>
          <p:cNvSpPr/>
          <p:nvPr/>
        </p:nvSpPr>
        <p:spPr>
          <a:xfrm>
            <a:off x="4864608" y="2167128"/>
            <a:ext cx="1280160" cy="256032"/>
          </a:xfrm>
          <a:prstGeom prst="rect">
            <a:avLst/>
          </a:prstGeom>
          <a:noFill/>
          <a:ln/>
        </p:spPr>
        <p:txBody>
          <a:bodyPr wrap="square" lIns="0" tIns="0" rIns="0" bIns="0" rtlCol="0" anchor="ctr"/>
          <a:lstStyle/>
          <a:p>
            <a:pPr algn="ctr" indent="0" marL="0">
              <a:buNone/>
            </a:pPr>
            <a:r>
              <a:rPr lang="en-US" sz="900" dirty="0">
                <a:solidFill>
                  <a:srgbClr val="06B6D4"/>
                </a:solidFill>
                <a:latin typeface="Calibri" pitchFamily="34" charset="0"/>
                <a:ea typeface="Calibri" pitchFamily="34" charset="-122"/>
                <a:cs typeface="Calibri" pitchFamily="34" charset="-120"/>
              </a:rPr>
              <a:t>Décideurs</a:t>
            </a:r>
            <a:endParaRPr lang="en-US" sz="900" dirty="0"/>
          </a:p>
        </p:txBody>
      </p:sp>
      <p:sp>
        <p:nvSpPr>
          <p:cNvPr id="19" name="Text 17"/>
          <p:cNvSpPr/>
          <p:nvPr/>
        </p:nvSpPr>
        <p:spPr>
          <a:xfrm>
            <a:off x="7059168" y="2130552"/>
            <a:ext cx="1417320" cy="347472"/>
          </a:xfrm>
          <a:prstGeom prst="rect">
            <a:avLst/>
          </a:prstGeom>
          <a:noFill/>
          <a:ln/>
        </p:spPr>
        <p:txBody>
          <a:bodyPr wrap="square" lIns="0" tIns="0" rIns="0" bIns="0" rtlCol="0" anchor="ctr"/>
          <a:lstStyle/>
          <a:p>
            <a:pPr algn="r" indent="0" marL="0">
              <a:buNone/>
            </a:pPr>
            <a:r>
              <a:rPr lang="en-US" sz="1800" b="1" dirty="0">
                <a:solidFill>
                  <a:srgbClr val="06B6D4"/>
                </a:solidFill>
                <a:latin typeface="Calibri" pitchFamily="34" charset="0"/>
                <a:ea typeface="Calibri" pitchFamily="34" charset="-122"/>
                <a:cs typeface="Calibri" pitchFamily="34" charset="-120"/>
              </a:rPr>
              <a:t>85%</a:t>
            </a:r>
            <a:endParaRPr lang="en-US" sz="1800" dirty="0"/>
          </a:p>
        </p:txBody>
      </p:sp>
      <p:sp>
        <p:nvSpPr>
          <p:cNvPr id="20" name="Shape 18"/>
          <p:cNvSpPr/>
          <p:nvPr/>
        </p:nvSpPr>
        <p:spPr>
          <a:xfrm>
            <a:off x="384048" y="3017520"/>
            <a:ext cx="3977640" cy="1600200"/>
          </a:xfrm>
          <a:prstGeom prst="roundRect">
            <a:avLst>
              <a:gd name="adj" fmla="val 6857"/>
            </a:avLst>
          </a:prstGeom>
          <a:solidFill>
            <a:srgbClr val="1C2333"/>
          </a:solidFill>
          <a:ln/>
          <a:effectLst>
            <a:outerShdw sx="100000" sy="100000" kx="0" ky="0" algn="bl" rotWithShape="0" blurRad="177800" dist="50800" dir="2700000">
              <a:srgbClr val="000000">
                <a:alpha val="35000"/>
              </a:srgbClr>
            </a:outerShdw>
          </a:effectLst>
        </p:spPr>
      </p:sp>
      <p:sp>
        <p:nvSpPr>
          <p:cNvPr id="21" name="Text 19"/>
          <p:cNvSpPr/>
          <p:nvPr/>
        </p:nvSpPr>
        <p:spPr>
          <a:xfrm>
            <a:off x="566928" y="3127248"/>
            <a:ext cx="548640" cy="502920"/>
          </a:xfrm>
          <a:prstGeom prst="rect">
            <a:avLst/>
          </a:prstGeom>
          <a:noFill/>
          <a:ln/>
        </p:spPr>
        <p:txBody>
          <a:bodyPr wrap="square" lIns="0" tIns="0" rIns="0" bIns="0" rtlCol="0" anchor="ctr"/>
          <a:lstStyle/>
          <a:p>
            <a:pPr indent="0" marL="0">
              <a:buNone/>
            </a:pPr>
            <a:r>
              <a:rPr lang="en-US" sz="2200" b="1" dirty="0">
                <a:solidFill>
                  <a:srgbClr val="FF8C5A"/>
                </a:solidFill>
                <a:latin typeface="Calibri" pitchFamily="34" charset="0"/>
                <a:ea typeface="Calibri" pitchFamily="34" charset="-122"/>
                <a:cs typeface="Calibri" pitchFamily="34" charset="-120"/>
              </a:rPr>
              <a:t>M3</a:t>
            </a:r>
            <a:endParaRPr lang="en-US" sz="2200" dirty="0"/>
          </a:p>
        </p:txBody>
      </p:sp>
      <p:sp>
        <p:nvSpPr>
          <p:cNvPr id="22" name="Text 20"/>
          <p:cNvSpPr/>
          <p:nvPr/>
        </p:nvSpPr>
        <p:spPr>
          <a:xfrm>
            <a:off x="1161288" y="3127248"/>
            <a:ext cx="2926080" cy="411480"/>
          </a:xfrm>
          <a:prstGeom prst="rect">
            <a:avLst/>
          </a:prstGeom>
          <a:noFill/>
          <a:ln/>
        </p:spPr>
        <p:txBody>
          <a:bodyPr wrap="square" lIns="0" tIns="0" rIns="0" bIns="0" rtlCol="0" anchor="ctr"/>
          <a:lstStyle/>
          <a:p>
            <a:pPr indent="0" marL="0">
              <a:buNone/>
            </a:pPr>
            <a:r>
              <a:rPr lang="en-US" sz="1300" b="1" dirty="0">
                <a:solidFill>
                  <a:srgbClr val="F9FAFB"/>
                </a:solidFill>
                <a:latin typeface="Calibri" pitchFamily="34" charset="0"/>
                <a:ea typeface="Calibri" pitchFamily="34" charset="-122"/>
                <a:cs typeface="Calibri" pitchFamily="34" charset="-120"/>
              </a:rPr>
              <a:t>IF + LOF + Z-Score</a:t>
            </a:r>
            <a:endParaRPr lang="en-US" sz="1300" dirty="0"/>
          </a:p>
        </p:txBody>
      </p:sp>
      <p:sp>
        <p:nvSpPr>
          <p:cNvPr id="23" name="Text 21"/>
          <p:cNvSpPr/>
          <p:nvPr/>
        </p:nvSpPr>
        <p:spPr>
          <a:xfrm>
            <a:off x="1161288" y="3520440"/>
            <a:ext cx="2926080" cy="32004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Détection anomalies trafic</a:t>
            </a:r>
            <a:endParaRPr lang="en-US" sz="1100" dirty="0"/>
          </a:p>
        </p:txBody>
      </p:sp>
      <p:sp>
        <p:nvSpPr>
          <p:cNvPr id="24" name="Shape 22"/>
          <p:cNvSpPr/>
          <p:nvPr/>
        </p:nvSpPr>
        <p:spPr>
          <a:xfrm>
            <a:off x="566928" y="4041648"/>
            <a:ext cx="1280160" cy="256032"/>
          </a:xfrm>
          <a:prstGeom prst="roundRect">
            <a:avLst>
              <a:gd name="adj" fmla="val 21429"/>
            </a:avLst>
          </a:prstGeom>
          <a:solidFill>
            <a:srgbClr val="1A1D2E"/>
          </a:solidFill>
          <a:ln w="12700">
            <a:solidFill>
              <a:srgbClr val="FF8C5A"/>
            </a:solidFill>
            <a:prstDash val="solid"/>
          </a:ln>
        </p:spPr>
      </p:sp>
      <p:sp>
        <p:nvSpPr>
          <p:cNvPr id="25" name="Text 23"/>
          <p:cNvSpPr/>
          <p:nvPr/>
        </p:nvSpPr>
        <p:spPr>
          <a:xfrm>
            <a:off x="566928" y="4041648"/>
            <a:ext cx="1280160" cy="256032"/>
          </a:xfrm>
          <a:prstGeom prst="rect">
            <a:avLst/>
          </a:prstGeom>
          <a:noFill/>
          <a:ln/>
        </p:spPr>
        <p:txBody>
          <a:bodyPr wrap="square" lIns="0" tIns="0" rIns="0" bIns="0" rtlCol="0" anchor="ctr"/>
          <a:lstStyle/>
          <a:p>
            <a:pPr algn="ctr" indent="0" marL="0">
              <a:buNone/>
            </a:pPr>
            <a:r>
              <a:rPr lang="en-US" sz="900" dirty="0">
                <a:solidFill>
                  <a:srgbClr val="FF8C5A"/>
                </a:solidFill>
                <a:latin typeface="Calibri" pitchFamily="34" charset="0"/>
                <a:ea typeface="Calibri" pitchFamily="34" charset="-122"/>
                <a:cs typeface="Calibri" pitchFamily="34" charset="-120"/>
              </a:rPr>
              <a:t>Décideurs</a:t>
            </a:r>
            <a:endParaRPr lang="en-US" sz="900" dirty="0"/>
          </a:p>
        </p:txBody>
      </p:sp>
      <p:sp>
        <p:nvSpPr>
          <p:cNvPr id="26" name="Text 24"/>
          <p:cNvSpPr/>
          <p:nvPr/>
        </p:nvSpPr>
        <p:spPr>
          <a:xfrm>
            <a:off x="2761488" y="4005072"/>
            <a:ext cx="1417320" cy="347472"/>
          </a:xfrm>
          <a:prstGeom prst="rect">
            <a:avLst/>
          </a:prstGeom>
          <a:noFill/>
          <a:ln/>
        </p:spPr>
        <p:txBody>
          <a:bodyPr wrap="square" lIns="0" tIns="0" rIns="0" bIns="0" rtlCol="0" anchor="ctr"/>
          <a:lstStyle/>
          <a:p>
            <a:pPr algn="r" indent="0" marL="0">
              <a:buNone/>
            </a:pPr>
            <a:r>
              <a:rPr lang="en-US" sz="1800" b="1" dirty="0">
                <a:solidFill>
                  <a:srgbClr val="FF8C5A"/>
                </a:solidFill>
                <a:latin typeface="Calibri" pitchFamily="34" charset="0"/>
                <a:ea typeface="Calibri" pitchFamily="34" charset="-122"/>
                <a:cs typeface="Calibri" pitchFamily="34" charset="-120"/>
              </a:rPr>
              <a:t>90.6%</a:t>
            </a:r>
            <a:endParaRPr lang="en-US" sz="1800" dirty="0"/>
          </a:p>
        </p:txBody>
      </p:sp>
      <p:sp>
        <p:nvSpPr>
          <p:cNvPr id="27" name="Shape 25"/>
          <p:cNvSpPr/>
          <p:nvPr/>
        </p:nvSpPr>
        <p:spPr>
          <a:xfrm>
            <a:off x="4681728" y="3017520"/>
            <a:ext cx="3977640" cy="1600200"/>
          </a:xfrm>
          <a:prstGeom prst="roundRect">
            <a:avLst>
              <a:gd name="adj" fmla="val 6857"/>
            </a:avLst>
          </a:prstGeom>
          <a:solidFill>
            <a:srgbClr val="1C2333"/>
          </a:solidFill>
          <a:ln/>
          <a:effectLst>
            <a:outerShdw sx="100000" sy="100000" kx="0" ky="0" algn="bl" rotWithShape="0" blurRad="177800" dist="50800" dir="2700000">
              <a:srgbClr val="000000">
                <a:alpha val="35000"/>
              </a:srgbClr>
            </a:outerShdw>
          </a:effectLst>
        </p:spPr>
      </p:sp>
      <p:sp>
        <p:nvSpPr>
          <p:cNvPr id="28" name="Text 26"/>
          <p:cNvSpPr/>
          <p:nvPr/>
        </p:nvSpPr>
        <p:spPr>
          <a:xfrm>
            <a:off x="4864608" y="3127248"/>
            <a:ext cx="548640" cy="502920"/>
          </a:xfrm>
          <a:prstGeom prst="rect">
            <a:avLst/>
          </a:prstGeom>
          <a:noFill/>
          <a:ln/>
        </p:spPr>
        <p:txBody>
          <a:bodyPr wrap="square" lIns="0" tIns="0" rIns="0" bIns="0" rtlCol="0" anchor="ctr"/>
          <a:lstStyle/>
          <a:p>
            <a:pPr indent="0" marL="0">
              <a:buNone/>
            </a:pPr>
            <a:r>
              <a:rPr lang="en-US" sz="2200" b="1" dirty="0">
                <a:solidFill>
                  <a:srgbClr val="10B981"/>
                </a:solidFill>
                <a:latin typeface="Calibri" pitchFamily="34" charset="0"/>
                <a:ea typeface="Calibri" pitchFamily="34" charset="-122"/>
                <a:cs typeface="Calibri" pitchFamily="34" charset="-120"/>
              </a:rPr>
              <a:t>M4</a:t>
            </a:r>
            <a:endParaRPr lang="en-US" sz="2200" dirty="0"/>
          </a:p>
        </p:txBody>
      </p:sp>
      <p:sp>
        <p:nvSpPr>
          <p:cNvPr id="29" name="Text 27"/>
          <p:cNvSpPr/>
          <p:nvPr/>
        </p:nvSpPr>
        <p:spPr>
          <a:xfrm>
            <a:off x="5458968" y="3127248"/>
            <a:ext cx="2926080" cy="411480"/>
          </a:xfrm>
          <a:prstGeom prst="rect">
            <a:avLst/>
          </a:prstGeom>
          <a:noFill/>
          <a:ln/>
        </p:spPr>
        <p:txBody>
          <a:bodyPr wrap="square" lIns="0" tIns="0" rIns="0" bIns="0" rtlCol="0" anchor="ctr"/>
          <a:lstStyle/>
          <a:p>
            <a:pPr indent="0" marL="0">
              <a:buNone/>
            </a:pPr>
            <a:r>
              <a:rPr lang="en-US" sz="1300" b="1" dirty="0">
                <a:solidFill>
                  <a:srgbClr val="F9FAFB"/>
                </a:solidFill>
                <a:latin typeface="Calibri" pitchFamily="34" charset="0"/>
                <a:ea typeface="Calibri" pitchFamily="34" charset="-122"/>
                <a:cs typeface="Calibri" pitchFamily="34" charset="-120"/>
              </a:rPr>
              <a:t>K-Means</a:t>
            </a:r>
            <a:endParaRPr lang="en-US" sz="1300" dirty="0"/>
          </a:p>
        </p:txBody>
      </p:sp>
      <p:sp>
        <p:nvSpPr>
          <p:cNvPr id="30" name="Text 28"/>
          <p:cNvSpPr/>
          <p:nvPr/>
        </p:nvSpPr>
        <p:spPr>
          <a:xfrm>
            <a:off x="5458968" y="3520440"/>
            <a:ext cx="2926080" cy="32004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Segmentation usagers</a:t>
            </a:r>
            <a:endParaRPr lang="en-US" sz="1100" dirty="0"/>
          </a:p>
        </p:txBody>
      </p:sp>
      <p:sp>
        <p:nvSpPr>
          <p:cNvPr id="31" name="Shape 29"/>
          <p:cNvSpPr/>
          <p:nvPr/>
        </p:nvSpPr>
        <p:spPr>
          <a:xfrm>
            <a:off x="4864608" y="4041648"/>
            <a:ext cx="1280160" cy="256032"/>
          </a:xfrm>
          <a:prstGeom prst="roundRect">
            <a:avLst>
              <a:gd name="adj" fmla="val 21429"/>
            </a:avLst>
          </a:prstGeom>
          <a:solidFill>
            <a:srgbClr val="1A1D2E"/>
          </a:solidFill>
          <a:ln w="12700">
            <a:solidFill>
              <a:srgbClr val="10B981"/>
            </a:solidFill>
            <a:prstDash val="solid"/>
          </a:ln>
        </p:spPr>
      </p:sp>
      <p:sp>
        <p:nvSpPr>
          <p:cNvPr id="32" name="Text 30"/>
          <p:cNvSpPr/>
          <p:nvPr/>
        </p:nvSpPr>
        <p:spPr>
          <a:xfrm>
            <a:off x="4864608" y="4041648"/>
            <a:ext cx="1280160" cy="256032"/>
          </a:xfrm>
          <a:prstGeom prst="rect">
            <a:avLst/>
          </a:prstGeom>
          <a:noFill/>
          <a:ln/>
        </p:spPr>
        <p:txBody>
          <a:bodyPr wrap="square" lIns="0" tIns="0" rIns="0" bIns="0" rtlCol="0" anchor="ctr"/>
          <a:lstStyle/>
          <a:p>
            <a:pPr algn="ctr" indent="0" marL="0">
              <a:buNone/>
            </a:pPr>
            <a:r>
              <a:rPr lang="en-US" sz="900" dirty="0">
                <a:solidFill>
                  <a:srgbClr val="10B981"/>
                </a:solidFill>
                <a:latin typeface="Calibri" pitchFamily="34" charset="0"/>
                <a:ea typeface="Calibri" pitchFamily="34" charset="-122"/>
                <a:cs typeface="Calibri" pitchFamily="34" charset="-120"/>
              </a:rPr>
              <a:t>Décideurs</a:t>
            </a:r>
            <a:endParaRPr lang="en-US" sz="900" dirty="0"/>
          </a:p>
        </p:txBody>
      </p:sp>
      <p:sp>
        <p:nvSpPr>
          <p:cNvPr id="33" name="Text 31"/>
          <p:cNvSpPr/>
          <p:nvPr/>
        </p:nvSpPr>
        <p:spPr>
          <a:xfrm>
            <a:off x="7059168" y="4005072"/>
            <a:ext cx="1417320" cy="347472"/>
          </a:xfrm>
          <a:prstGeom prst="rect">
            <a:avLst/>
          </a:prstGeom>
          <a:noFill/>
          <a:ln/>
        </p:spPr>
        <p:txBody>
          <a:bodyPr wrap="square" lIns="0" tIns="0" rIns="0" bIns="0" rtlCol="0" anchor="ctr"/>
          <a:lstStyle/>
          <a:p>
            <a:pPr algn="r" indent="0" marL="0">
              <a:buNone/>
            </a:pPr>
            <a:r>
              <a:rPr lang="en-US" sz="1800" b="1" dirty="0">
                <a:solidFill>
                  <a:srgbClr val="10B981"/>
                </a:solidFill>
                <a:latin typeface="Calibri" pitchFamily="34" charset="0"/>
                <a:ea typeface="Calibri" pitchFamily="34" charset="-122"/>
                <a:cs typeface="Calibri" pitchFamily="34" charset="-120"/>
              </a:rPr>
              <a:t>5 clusters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457200" y="256032"/>
            <a:ext cx="1005840" cy="64008"/>
          </a:xfrm>
          <a:prstGeom prst="rect">
            <a:avLst/>
          </a:prstGeom>
          <a:solidFill>
            <a:srgbClr val="FF6B35"/>
          </a:solidFill>
          <a:ln w="12700">
            <a:solidFill>
              <a:srgbClr val="FF6B35"/>
            </a:solidFill>
            <a:prstDash val="solid"/>
          </a:ln>
        </p:spPr>
      </p:sp>
      <p:sp>
        <p:nvSpPr>
          <p:cNvPr id="3" name="Text 1"/>
          <p:cNvSpPr/>
          <p:nvPr/>
        </p:nvSpPr>
        <p:spPr>
          <a:xfrm>
            <a:off x="457200" y="365760"/>
            <a:ext cx="8229600" cy="411480"/>
          </a:xfrm>
          <a:prstGeom prst="rect">
            <a:avLst/>
          </a:prstGeom>
          <a:noFill/>
          <a:ln/>
        </p:spPr>
        <p:txBody>
          <a:bodyPr wrap="square" lIns="0" tIns="0" rIns="0" bIns="0" rtlCol="0" anchor="ctr"/>
          <a:lstStyle/>
          <a:p>
            <a:pPr indent="0" marL="0">
              <a:buNone/>
            </a:pPr>
            <a:r>
              <a:rPr lang="en-US" sz="2600" b="1" dirty="0">
                <a:solidFill>
                  <a:srgbClr val="F9FAFB"/>
                </a:solidFill>
                <a:latin typeface="Calibri" pitchFamily="34" charset="0"/>
                <a:ea typeface="Calibri" pitchFamily="34" charset="-122"/>
                <a:cs typeface="Calibri" pitchFamily="34" charset="-120"/>
              </a:rPr>
              <a:t>M3 · Détection d'anomalies de trafic</a:t>
            </a:r>
            <a:endParaRPr lang="en-US" sz="2600" dirty="0"/>
          </a:p>
        </p:txBody>
      </p:sp>
      <p:sp>
        <p:nvSpPr>
          <p:cNvPr id="4" name="Text 2"/>
          <p:cNvSpPr/>
          <p:nvPr/>
        </p:nvSpPr>
        <p:spPr>
          <a:xfrm>
            <a:off x="0" y="4892040"/>
            <a:ext cx="9144000" cy="256032"/>
          </a:xfrm>
          <a:prstGeom prst="rect">
            <a:avLst/>
          </a:prstGeom>
          <a:noFill/>
          <a:ln/>
        </p:spPr>
        <p:txBody>
          <a:bodyPr wrap="square" lIns="0" tIns="0" rIns="0" bIns="0" rtlCol="0" anchor="ctr"/>
          <a:lstStyle/>
          <a:p>
            <a:pPr algn="ctr" indent="0" marL="0">
              <a:buNone/>
            </a:pPr>
            <a:r>
              <a:rPr lang="en-US" sz="800" dirty="0">
                <a:solidFill>
                  <a:srgbClr val="374151"/>
                </a:solidFill>
                <a:latin typeface="Calibri" pitchFamily="34" charset="0"/>
                <a:ea typeface="Calibri" pitchFamily="34" charset="-122"/>
                <a:cs typeface="Calibri" pitchFamily="34" charset="-120"/>
              </a:rPr>
              <a:t>ESPRIT · SIMAC · CETUD  |  7 / 18</a:t>
            </a:r>
            <a:endParaRPr lang="en-US" sz="800" dirty="0"/>
          </a:p>
        </p:txBody>
      </p:sp>
      <p:sp>
        <p:nvSpPr>
          <p:cNvPr id="5" name="Shape 3"/>
          <p:cNvSpPr/>
          <p:nvPr/>
        </p:nvSpPr>
        <p:spPr>
          <a:xfrm>
            <a:off x="384048" y="987552"/>
            <a:ext cx="2697480" cy="1417320"/>
          </a:xfrm>
          <a:prstGeom prst="roundRect">
            <a:avLst>
              <a:gd name="adj" fmla="val 7742"/>
            </a:avLst>
          </a:prstGeom>
          <a:solidFill>
            <a:srgbClr val="1C2333"/>
          </a:solidFill>
          <a:ln/>
          <a:effectLst>
            <a:outerShdw sx="100000" sy="100000" kx="0" ky="0" algn="bl" rotWithShape="0" blurRad="177800" dist="50800" dir="2700000">
              <a:srgbClr val="000000">
                <a:alpha val="35000"/>
              </a:srgbClr>
            </a:outerShdw>
          </a:effectLst>
        </p:spPr>
      </p:sp>
      <p:sp>
        <p:nvSpPr>
          <p:cNvPr id="6" name="Text 4"/>
          <p:cNvSpPr/>
          <p:nvPr/>
        </p:nvSpPr>
        <p:spPr>
          <a:xfrm>
            <a:off x="502920" y="1078992"/>
            <a:ext cx="2468880" cy="365760"/>
          </a:xfrm>
          <a:prstGeom prst="rect">
            <a:avLst/>
          </a:prstGeom>
          <a:noFill/>
          <a:ln/>
        </p:spPr>
        <p:txBody>
          <a:bodyPr wrap="square" lIns="0" tIns="0" rIns="0" bIns="0" rtlCol="0" anchor="ctr"/>
          <a:lstStyle/>
          <a:p>
            <a:pPr indent="0" marL="0">
              <a:buNone/>
            </a:pPr>
            <a:r>
              <a:rPr lang="en-US" sz="1300" b="1" dirty="0">
                <a:solidFill>
                  <a:srgbClr val="FF6B35"/>
                </a:solidFill>
                <a:latin typeface="Calibri" pitchFamily="34" charset="0"/>
                <a:ea typeface="Calibri" pitchFamily="34" charset="-122"/>
                <a:cs typeface="Calibri" pitchFamily="34" charset="-120"/>
              </a:rPr>
              <a:t>Isolation Forest</a:t>
            </a:r>
            <a:endParaRPr lang="en-US" sz="1300" dirty="0"/>
          </a:p>
        </p:txBody>
      </p:sp>
      <p:sp>
        <p:nvSpPr>
          <p:cNvPr id="7" name="Text 5"/>
          <p:cNvSpPr/>
          <p:nvPr/>
        </p:nvSpPr>
        <p:spPr>
          <a:xfrm>
            <a:off x="502920" y="1463040"/>
            <a:ext cx="2468880" cy="68580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Isole les observations rares par partitionnement aléatoire récursif</a:t>
            </a:r>
            <a:endParaRPr lang="en-US" sz="1100" dirty="0"/>
          </a:p>
        </p:txBody>
      </p:sp>
      <p:sp>
        <p:nvSpPr>
          <p:cNvPr id="8" name="Shape 6"/>
          <p:cNvSpPr/>
          <p:nvPr/>
        </p:nvSpPr>
        <p:spPr>
          <a:xfrm>
            <a:off x="3236976" y="987552"/>
            <a:ext cx="2697480" cy="1417320"/>
          </a:xfrm>
          <a:prstGeom prst="roundRect">
            <a:avLst>
              <a:gd name="adj" fmla="val 7742"/>
            </a:avLst>
          </a:prstGeom>
          <a:solidFill>
            <a:srgbClr val="1C2333"/>
          </a:solidFill>
          <a:ln/>
          <a:effectLst>
            <a:outerShdw sx="100000" sy="100000" kx="0" ky="0" algn="bl" rotWithShape="0" blurRad="177800" dist="50800" dir="2700000">
              <a:srgbClr val="000000">
                <a:alpha val="35000"/>
              </a:srgbClr>
            </a:outerShdw>
          </a:effectLst>
        </p:spPr>
      </p:sp>
      <p:sp>
        <p:nvSpPr>
          <p:cNvPr id="9" name="Text 7"/>
          <p:cNvSpPr/>
          <p:nvPr/>
        </p:nvSpPr>
        <p:spPr>
          <a:xfrm>
            <a:off x="3355848" y="1078992"/>
            <a:ext cx="2468880" cy="365760"/>
          </a:xfrm>
          <a:prstGeom prst="rect">
            <a:avLst/>
          </a:prstGeom>
          <a:noFill/>
          <a:ln/>
        </p:spPr>
        <p:txBody>
          <a:bodyPr wrap="square" lIns="0" tIns="0" rIns="0" bIns="0" rtlCol="0" anchor="ctr"/>
          <a:lstStyle/>
          <a:p>
            <a:pPr indent="0" marL="0">
              <a:buNone/>
            </a:pPr>
            <a:r>
              <a:rPr lang="en-US" sz="1300" b="1" dirty="0">
                <a:solidFill>
                  <a:srgbClr val="06B6D4"/>
                </a:solidFill>
                <a:latin typeface="Calibri" pitchFamily="34" charset="0"/>
                <a:ea typeface="Calibri" pitchFamily="34" charset="-122"/>
                <a:cs typeface="Calibri" pitchFamily="34" charset="-120"/>
              </a:rPr>
              <a:t>LOF</a:t>
            </a:r>
            <a:endParaRPr lang="en-US" sz="1300" dirty="0"/>
          </a:p>
        </p:txBody>
      </p:sp>
      <p:sp>
        <p:nvSpPr>
          <p:cNvPr id="10" name="Text 8"/>
          <p:cNvSpPr/>
          <p:nvPr/>
        </p:nvSpPr>
        <p:spPr>
          <a:xfrm>
            <a:off x="3355848" y="1463040"/>
            <a:ext cx="2468880" cy="68580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Local Outlier Factor — compare la densité locale de chaque point à ses voisins</a:t>
            </a:r>
            <a:endParaRPr lang="en-US" sz="1100" dirty="0"/>
          </a:p>
        </p:txBody>
      </p:sp>
      <p:sp>
        <p:nvSpPr>
          <p:cNvPr id="11" name="Shape 9"/>
          <p:cNvSpPr/>
          <p:nvPr/>
        </p:nvSpPr>
        <p:spPr>
          <a:xfrm>
            <a:off x="6089904" y="987552"/>
            <a:ext cx="2697480" cy="1417320"/>
          </a:xfrm>
          <a:prstGeom prst="roundRect">
            <a:avLst>
              <a:gd name="adj" fmla="val 7742"/>
            </a:avLst>
          </a:prstGeom>
          <a:solidFill>
            <a:srgbClr val="1C2333"/>
          </a:solidFill>
          <a:ln/>
          <a:effectLst>
            <a:outerShdw sx="100000" sy="100000" kx="0" ky="0" algn="bl" rotWithShape="0" blurRad="177800" dist="50800" dir="2700000">
              <a:srgbClr val="000000">
                <a:alpha val="35000"/>
              </a:srgbClr>
            </a:outerShdw>
          </a:effectLst>
        </p:spPr>
      </p:sp>
      <p:sp>
        <p:nvSpPr>
          <p:cNvPr id="12" name="Text 10"/>
          <p:cNvSpPr/>
          <p:nvPr/>
        </p:nvSpPr>
        <p:spPr>
          <a:xfrm>
            <a:off x="6208776" y="1078992"/>
            <a:ext cx="2468880" cy="365760"/>
          </a:xfrm>
          <a:prstGeom prst="rect">
            <a:avLst/>
          </a:prstGeom>
          <a:noFill/>
          <a:ln/>
        </p:spPr>
        <p:txBody>
          <a:bodyPr wrap="square" lIns="0" tIns="0" rIns="0" bIns="0" rtlCol="0" anchor="ctr"/>
          <a:lstStyle/>
          <a:p>
            <a:pPr indent="0" marL="0">
              <a:buNone/>
            </a:pPr>
            <a:r>
              <a:rPr lang="en-US" sz="1300" b="1" dirty="0">
                <a:solidFill>
                  <a:srgbClr val="FF8C5A"/>
                </a:solidFill>
                <a:latin typeface="Calibri" pitchFamily="34" charset="0"/>
                <a:ea typeface="Calibri" pitchFamily="34" charset="-122"/>
                <a:cs typeface="Calibri" pitchFamily="34" charset="-120"/>
              </a:rPr>
              <a:t>Z-Score</a:t>
            </a:r>
            <a:endParaRPr lang="en-US" sz="1300" dirty="0"/>
          </a:p>
        </p:txBody>
      </p:sp>
      <p:sp>
        <p:nvSpPr>
          <p:cNvPr id="13" name="Text 11"/>
          <p:cNvSpPr/>
          <p:nvPr/>
        </p:nvSpPr>
        <p:spPr>
          <a:xfrm>
            <a:off x="6208776" y="1463040"/>
            <a:ext cx="2468880" cy="68580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Détection statistique par écart-type normalisé</a:t>
            </a:r>
            <a:endParaRPr lang="en-US" sz="1100" dirty="0"/>
          </a:p>
        </p:txBody>
      </p:sp>
      <p:sp>
        <p:nvSpPr>
          <p:cNvPr id="14" name="Shape 12"/>
          <p:cNvSpPr/>
          <p:nvPr/>
        </p:nvSpPr>
        <p:spPr>
          <a:xfrm>
            <a:off x="1371600" y="2514600"/>
            <a:ext cx="6400800" cy="475488"/>
          </a:xfrm>
          <a:prstGeom prst="rect">
            <a:avLst/>
          </a:prstGeom>
          <a:solidFill>
            <a:srgbClr val="FF6B35">
              <a:alpha val="15000"/>
            </a:srgbClr>
          </a:solidFill>
          <a:ln w="12700">
            <a:solidFill>
              <a:srgbClr val="FF6B35"/>
            </a:solidFill>
            <a:prstDash val="solid"/>
          </a:ln>
        </p:spPr>
      </p:sp>
      <p:sp>
        <p:nvSpPr>
          <p:cNvPr id="15" name="Text 13"/>
          <p:cNvSpPr/>
          <p:nvPr/>
        </p:nvSpPr>
        <p:spPr>
          <a:xfrm>
            <a:off x="384048" y="2542032"/>
            <a:ext cx="8375904" cy="411480"/>
          </a:xfrm>
          <a:prstGeom prst="rect">
            <a:avLst/>
          </a:prstGeom>
          <a:noFill/>
          <a:ln/>
        </p:spPr>
        <p:txBody>
          <a:bodyPr wrap="square" lIns="0" tIns="0" rIns="0" bIns="0" rtlCol="0" anchor="ctr"/>
          <a:lstStyle/>
          <a:p>
            <a:pPr algn="ctr" indent="0" marL="0">
              <a:buNone/>
            </a:pPr>
            <a:r>
              <a:rPr lang="en-US" sz="1300" b="1" dirty="0">
                <a:solidFill>
                  <a:srgbClr val="F9FAFB"/>
                </a:solidFill>
                <a:latin typeface="Calibri" pitchFamily="34" charset="0"/>
                <a:ea typeface="Calibri" pitchFamily="34" charset="-122"/>
                <a:cs typeface="Calibri" pitchFamily="34" charset="-120"/>
              </a:rPr>
              <a:t>Consensus ≥ 2 modèles sur 3  →  Anomalie confirmée</a:t>
            </a:r>
            <a:endParaRPr lang="en-US" sz="1300" dirty="0"/>
          </a:p>
        </p:txBody>
      </p:sp>
      <p:sp>
        <p:nvSpPr>
          <p:cNvPr id="16" name="Shape 14"/>
          <p:cNvSpPr/>
          <p:nvPr/>
        </p:nvSpPr>
        <p:spPr>
          <a:xfrm>
            <a:off x="384048" y="3090672"/>
            <a:ext cx="1920240" cy="1051560"/>
          </a:xfrm>
          <a:prstGeom prst="roundRect">
            <a:avLst>
              <a:gd name="adj" fmla="val 10435"/>
            </a:avLst>
          </a:prstGeom>
          <a:solidFill>
            <a:srgbClr val="1C2333"/>
          </a:solidFill>
          <a:ln/>
          <a:effectLst>
            <a:outerShdw sx="100000" sy="100000" kx="0" ky="0" algn="bl" rotWithShape="0" blurRad="177800" dist="50800" dir="2700000">
              <a:srgbClr val="000000">
                <a:alpha val="35000"/>
              </a:srgbClr>
            </a:outerShdw>
          </a:effectLst>
        </p:spPr>
      </p:sp>
      <p:sp>
        <p:nvSpPr>
          <p:cNvPr id="17" name="Text 15"/>
          <p:cNvSpPr/>
          <p:nvPr/>
        </p:nvSpPr>
        <p:spPr>
          <a:xfrm>
            <a:off x="384048" y="3163824"/>
            <a:ext cx="1920240" cy="566928"/>
          </a:xfrm>
          <a:prstGeom prst="rect">
            <a:avLst/>
          </a:prstGeom>
          <a:noFill/>
          <a:ln/>
        </p:spPr>
        <p:txBody>
          <a:bodyPr wrap="square" lIns="0" tIns="0" rIns="0" bIns="0" rtlCol="0" anchor="ctr"/>
          <a:lstStyle/>
          <a:p>
            <a:pPr algn="ctr" indent="0" marL="0">
              <a:buNone/>
            </a:pPr>
            <a:r>
              <a:rPr lang="en-US" sz="3000" b="1" dirty="0">
                <a:solidFill>
                  <a:srgbClr val="FF6B35"/>
                </a:solidFill>
                <a:latin typeface="Calibri" pitchFamily="34" charset="0"/>
                <a:ea typeface="Calibri" pitchFamily="34" charset="-122"/>
                <a:cs typeface="Calibri" pitchFamily="34" charset="-120"/>
              </a:rPr>
              <a:t>723</a:t>
            </a:r>
            <a:endParaRPr lang="en-US" sz="3000" dirty="0"/>
          </a:p>
        </p:txBody>
      </p:sp>
      <p:sp>
        <p:nvSpPr>
          <p:cNvPr id="18" name="Text 16"/>
          <p:cNvSpPr/>
          <p:nvPr/>
        </p:nvSpPr>
        <p:spPr>
          <a:xfrm>
            <a:off x="384048" y="3712464"/>
            <a:ext cx="1920240" cy="347472"/>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Anomalies confirmées</a:t>
            </a:r>
            <a:endParaRPr lang="en-US" sz="1000" dirty="0"/>
          </a:p>
        </p:txBody>
      </p:sp>
      <p:sp>
        <p:nvSpPr>
          <p:cNvPr id="19" name="Shape 17"/>
          <p:cNvSpPr/>
          <p:nvPr/>
        </p:nvSpPr>
        <p:spPr>
          <a:xfrm>
            <a:off x="2523744" y="3090672"/>
            <a:ext cx="1920240" cy="1051560"/>
          </a:xfrm>
          <a:prstGeom prst="roundRect">
            <a:avLst>
              <a:gd name="adj" fmla="val 10435"/>
            </a:avLst>
          </a:prstGeom>
          <a:solidFill>
            <a:srgbClr val="1C2333"/>
          </a:solidFill>
          <a:ln/>
          <a:effectLst>
            <a:outerShdw sx="100000" sy="100000" kx="0" ky="0" algn="bl" rotWithShape="0" blurRad="177800" dist="50800" dir="2700000">
              <a:srgbClr val="000000">
                <a:alpha val="35000"/>
              </a:srgbClr>
            </a:outerShdw>
          </a:effectLst>
        </p:spPr>
      </p:sp>
      <p:sp>
        <p:nvSpPr>
          <p:cNvPr id="20" name="Text 18"/>
          <p:cNvSpPr/>
          <p:nvPr/>
        </p:nvSpPr>
        <p:spPr>
          <a:xfrm>
            <a:off x="2523744" y="3163824"/>
            <a:ext cx="1920240" cy="566928"/>
          </a:xfrm>
          <a:prstGeom prst="rect">
            <a:avLst/>
          </a:prstGeom>
          <a:noFill/>
          <a:ln/>
        </p:spPr>
        <p:txBody>
          <a:bodyPr wrap="square" lIns="0" tIns="0" rIns="0" bIns="0" rtlCol="0" anchor="ctr"/>
          <a:lstStyle/>
          <a:p>
            <a:pPr algn="ctr" indent="0" marL="0">
              <a:buNone/>
            </a:pPr>
            <a:r>
              <a:rPr lang="en-US" sz="3000" b="1" dirty="0">
                <a:solidFill>
                  <a:srgbClr val="06B6D4"/>
                </a:solidFill>
                <a:latin typeface="Calibri" pitchFamily="34" charset="0"/>
                <a:ea typeface="Calibri" pitchFamily="34" charset="-122"/>
                <a:cs typeface="Calibri" pitchFamily="34" charset="-120"/>
              </a:rPr>
              <a:t>35/49</a:t>
            </a:r>
            <a:endParaRPr lang="en-US" sz="3000" dirty="0"/>
          </a:p>
        </p:txBody>
      </p:sp>
      <p:sp>
        <p:nvSpPr>
          <p:cNvPr id="21" name="Text 19"/>
          <p:cNvSpPr/>
          <p:nvPr/>
        </p:nvSpPr>
        <p:spPr>
          <a:xfrm>
            <a:off x="2523744" y="3712464"/>
            <a:ext cx="1920240" cy="347472"/>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Sites à risque</a:t>
            </a:r>
            <a:endParaRPr lang="en-US" sz="1000" dirty="0"/>
          </a:p>
        </p:txBody>
      </p:sp>
      <p:sp>
        <p:nvSpPr>
          <p:cNvPr id="22" name="Shape 20"/>
          <p:cNvSpPr/>
          <p:nvPr/>
        </p:nvSpPr>
        <p:spPr>
          <a:xfrm>
            <a:off x="4663440" y="3090672"/>
            <a:ext cx="1920240" cy="1051560"/>
          </a:xfrm>
          <a:prstGeom prst="roundRect">
            <a:avLst>
              <a:gd name="adj" fmla="val 10435"/>
            </a:avLst>
          </a:prstGeom>
          <a:solidFill>
            <a:srgbClr val="1C2333"/>
          </a:solidFill>
          <a:ln/>
          <a:effectLst>
            <a:outerShdw sx="100000" sy="100000" kx="0" ky="0" algn="bl" rotWithShape="0" blurRad="177800" dist="50800" dir="2700000">
              <a:srgbClr val="000000">
                <a:alpha val="35000"/>
              </a:srgbClr>
            </a:outerShdw>
          </a:effectLst>
        </p:spPr>
      </p:sp>
      <p:sp>
        <p:nvSpPr>
          <p:cNvPr id="23" name="Text 21"/>
          <p:cNvSpPr/>
          <p:nvPr/>
        </p:nvSpPr>
        <p:spPr>
          <a:xfrm>
            <a:off x="4663440" y="3163824"/>
            <a:ext cx="1920240" cy="566928"/>
          </a:xfrm>
          <a:prstGeom prst="rect">
            <a:avLst/>
          </a:prstGeom>
          <a:noFill/>
          <a:ln/>
        </p:spPr>
        <p:txBody>
          <a:bodyPr wrap="square" lIns="0" tIns="0" rIns="0" bIns="0" rtlCol="0" anchor="ctr"/>
          <a:lstStyle/>
          <a:p>
            <a:pPr algn="ctr" indent="0" marL="0">
              <a:buNone/>
            </a:pPr>
            <a:r>
              <a:rPr lang="en-US" sz="3000" b="1" dirty="0">
                <a:solidFill>
                  <a:srgbClr val="FF6B35"/>
                </a:solidFill>
                <a:latin typeface="Calibri" pitchFamily="34" charset="0"/>
                <a:ea typeface="Calibri" pitchFamily="34" charset="-122"/>
                <a:cs typeface="Calibri" pitchFamily="34" charset="-120"/>
              </a:rPr>
              <a:t>90.6%</a:t>
            </a:r>
            <a:endParaRPr lang="en-US" sz="3000" dirty="0"/>
          </a:p>
        </p:txBody>
      </p:sp>
      <p:sp>
        <p:nvSpPr>
          <p:cNvPr id="24" name="Text 22"/>
          <p:cNvSpPr/>
          <p:nvPr/>
        </p:nvSpPr>
        <p:spPr>
          <a:xfrm>
            <a:off x="4663440" y="3712464"/>
            <a:ext cx="1920240" cy="347472"/>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Accord inter-modèles</a:t>
            </a:r>
            <a:endParaRPr lang="en-US" sz="1000" dirty="0"/>
          </a:p>
        </p:txBody>
      </p:sp>
      <p:sp>
        <p:nvSpPr>
          <p:cNvPr id="25" name="Shape 23"/>
          <p:cNvSpPr/>
          <p:nvPr/>
        </p:nvSpPr>
        <p:spPr>
          <a:xfrm>
            <a:off x="6803136" y="3090672"/>
            <a:ext cx="1920240" cy="1051560"/>
          </a:xfrm>
          <a:prstGeom prst="roundRect">
            <a:avLst>
              <a:gd name="adj" fmla="val 10435"/>
            </a:avLst>
          </a:prstGeom>
          <a:solidFill>
            <a:srgbClr val="1C2333"/>
          </a:solidFill>
          <a:ln/>
          <a:effectLst>
            <a:outerShdw sx="100000" sy="100000" kx="0" ky="0" algn="bl" rotWithShape="0" blurRad="177800" dist="50800" dir="2700000">
              <a:srgbClr val="000000">
                <a:alpha val="35000"/>
              </a:srgbClr>
            </a:outerShdw>
          </a:effectLst>
        </p:spPr>
      </p:sp>
      <p:sp>
        <p:nvSpPr>
          <p:cNvPr id="26" name="Text 24"/>
          <p:cNvSpPr/>
          <p:nvPr/>
        </p:nvSpPr>
        <p:spPr>
          <a:xfrm>
            <a:off x="6803136" y="3163824"/>
            <a:ext cx="1920240" cy="566928"/>
          </a:xfrm>
          <a:prstGeom prst="rect">
            <a:avLst/>
          </a:prstGeom>
          <a:noFill/>
          <a:ln/>
        </p:spPr>
        <p:txBody>
          <a:bodyPr wrap="square" lIns="0" tIns="0" rIns="0" bIns="0" rtlCol="0" anchor="ctr"/>
          <a:lstStyle/>
          <a:p>
            <a:pPr algn="ctr" indent="0" marL="0">
              <a:buNone/>
            </a:pPr>
            <a:r>
              <a:rPr lang="en-US" sz="3000" b="1" dirty="0">
                <a:solidFill>
                  <a:srgbClr val="06B6D4"/>
                </a:solidFill>
                <a:latin typeface="Calibri" pitchFamily="34" charset="0"/>
                <a:ea typeface="Calibri" pitchFamily="34" charset="-122"/>
                <a:cs typeface="Calibri" pitchFamily="34" charset="-120"/>
              </a:rPr>
              <a:t>1.9%</a:t>
            </a:r>
            <a:endParaRPr lang="en-US" sz="3000" dirty="0"/>
          </a:p>
        </p:txBody>
      </p:sp>
      <p:sp>
        <p:nvSpPr>
          <p:cNvPr id="27" name="Text 25"/>
          <p:cNvSpPr/>
          <p:nvPr/>
        </p:nvSpPr>
        <p:spPr>
          <a:xfrm>
            <a:off x="6803136" y="3712464"/>
            <a:ext cx="1920240" cy="347472"/>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Du trafic total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457200" y="256032"/>
            <a:ext cx="1005840" cy="64008"/>
          </a:xfrm>
          <a:prstGeom prst="rect">
            <a:avLst/>
          </a:prstGeom>
          <a:solidFill>
            <a:srgbClr val="FF6B35"/>
          </a:solidFill>
          <a:ln w="12700">
            <a:solidFill>
              <a:srgbClr val="FF6B35"/>
            </a:solidFill>
            <a:prstDash val="solid"/>
          </a:ln>
        </p:spPr>
      </p:sp>
      <p:sp>
        <p:nvSpPr>
          <p:cNvPr id="3" name="Text 1"/>
          <p:cNvSpPr/>
          <p:nvPr/>
        </p:nvSpPr>
        <p:spPr>
          <a:xfrm>
            <a:off x="457200" y="365760"/>
            <a:ext cx="8229600" cy="411480"/>
          </a:xfrm>
          <a:prstGeom prst="rect">
            <a:avLst/>
          </a:prstGeom>
          <a:noFill/>
          <a:ln/>
        </p:spPr>
        <p:txBody>
          <a:bodyPr wrap="square" lIns="0" tIns="0" rIns="0" bIns="0" rtlCol="0" anchor="ctr"/>
          <a:lstStyle/>
          <a:p>
            <a:pPr indent="0" marL="0">
              <a:buNone/>
            </a:pPr>
            <a:r>
              <a:rPr lang="en-US" sz="2600" b="1" dirty="0">
                <a:solidFill>
                  <a:srgbClr val="F9FAFB"/>
                </a:solidFill>
                <a:latin typeface="Calibri" pitchFamily="34" charset="0"/>
                <a:ea typeface="Calibri" pitchFamily="34" charset="-122"/>
                <a:cs typeface="Calibri" pitchFamily="34" charset="-120"/>
              </a:rPr>
              <a:t>Cockpit décisionnel Knowage BI</a:t>
            </a:r>
            <a:endParaRPr lang="en-US" sz="2600" dirty="0"/>
          </a:p>
        </p:txBody>
      </p:sp>
      <p:sp>
        <p:nvSpPr>
          <p:cNvPr id="4" name="Text 2"/>
          <p:cNvSpPr/>
          <p:nvPr/>
        </p:nvSpPr>
        <p:spPr>
          <a:xfrm>
            <a:off x="0" y="4892040"/>
            <a:ext cx="9144000" cy="256032"/>
          </a:xfrm>
          <a:prstGeom prst="rect">
            <a:avLst/>
          </a:prstGeom>
          <a:noFill/>
          <a:ln/>
        </p:spPr>
        <p:txBody>
          <a:bodyPr wrap="square" lIns="0" tIns="0" rIns="0" bIns="0" rtlCol="0" anchor="ctr"/>
          <a:lstStyle/>
          <a:p>
            <a:pPr algn="ctr" indent="0" marL="0">
              <a:buNone/>
            </a:pPr>
            <a:r>
              <a:rPr lang="en-US" sz="800" dirty="0">
                <a:solidFill>
                  <a:srgbClr val="374151"/>
                </a:solidFill>
                <a:latin typeface="Calibri" pitchFamily="34" charset="0"/>
                <a:ea typeface="Calibri" pitchFamily="34" charset="-122"/>
                <a:cs typeface="Calibri" pitchFamily="34" charset="-120"/>
              </a:rPr>
              <a:t>ESPRIT · SIMAC · CETUD  |  8 / 18</a:t>
            </a:r>
            <a:endParaRPr lang="en-US" sz="800" dirty="0"/>
          </a:p>
        </p:txBody>
      </p:sp>
      <p:sp>
        <p:nvSpPr>
          <p:cNvPr id="5" name="Shape 3"/>
          <p:cNvSpPr/>
          <p:nvPr/>
        </p:nvSpPr>
        <p:spPr>
          <a:xfrm>
            <a:off x="384048" y="987552"/>
            <a:ext cx="2697480" cy="1572768"/>
          </a:xfrm>
          <a:prstGeom prst="roundRect">
            <a:avLst>
              <a:gd name="adj" fmla="val 6977"/>
            </a:avLst>
          </a:prstGeom>
          <a:solidFill>
            <a:srgbClr val="1C2333"/>
          </a:solidFill>
          <a:ln/>
          <a:effectLst>
            <a:outerShdw sx="100000" sy="100000" kx="0" ky="0" algn="bl" rotWithShape="0" blurRad="177800" dist="50800" dir="2700000">
              <a:srgbClr val="000000">
                <a:alpha val="35000"/>
              </a:srgbClr>
            </a:outerShdw>
          </a:effectLst>
        </p:spPr>
      </p:sp>
      <p:sp>
        <p:nvSpPr>
          <p:cNvPr id="6" name="Text 4"/>
          <p:cNvSpPr/>
          <p:nvPr/>
        </p:nvSpPr>
        <p:spPr>
          <a:xfrm>
            <a:off x="384048" y="1097280"/>
            <a:ext cx="2697480" cy="5486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7" name="Text 5"/>
          <p:cNvSpPr/>
          <p:nvPr/>
        </p:nvSpPr>
        <p:spPr>
          <a:xfrm>
            <a:off x="384048" y="1645920"/>
            <a:ext cx="2697480" cy="320040"/>
          </a:xfrm>
          <a:prstGeom prst="rect">
            <a:avLst/>
          </a:prstGeom>
          <a:noFill/>
          <a:ln/>
        </p:spPr>
        <p:txBody>
          <a:bodyPr wrap="square" lIns="0" tIns="0" rIns="0" bIns="0" rtlCol="0" anchor="ctr"/>
          <a:lstStyle/>
          <a:p>
            <a:pPr algn="ctr" indent="0" marL="0">
              <a:buNone/>
            </a:pPr>
            <a:r>
              <a:rPr lang="en-US" sz="1300" b="1" dirty="0">
                <a:solidFill>
                  <a:srgbClr val="FF6B35"/>
                </a:solidFill>
                <a:latin typeface="Calibri" pitchFamily="34" charset="0"/>
                <a:ea typeface="Calibri" pitchFamily="34" charset="-122"/>
                <a:cs typeface="Calibri" pitchFamily="34" charset="-120"/>
              </a:rPr>
              <a:t>Accueil</a:t>
            </a:r>
            <a:endParaRPr lang="en-US" sz="1300" dirty="0"/>
          </a:p>
        </p:txBody>
      </p:sp>
      <p:sp>
        <p:nvSpPr>
          <p:cNvPr id="8" name="Text 6"/>
          <p:cNvSpPr/>
          <p:nvPr/>
        </p:nvSpPr>
        <p:spPr>
          <a:xfrm>
            <a:off x="475488" y="1975104"/>
            <a:ext cx="2514600" cy="41148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Navigation + KPIs globaux</a:t>
            </a:r>
            <a:endParaRPr lang="en-US" sz="1000" dirty="0"/>
          </a:p>
        </p:txBody>
      </p:sp>
      <p:sp>
        <p:nvSpPr>
          <p:cNvPr id="9" name="Shape 7"/>
          <p:cNvSpPr/>
          <p:nvPr/>
        </p:nvSpPr>
        <p:spPr>
          <a:xfrm>
            <a:off x="3236976" y="987552"/>
            <a:ext cx="2697480" cy="1572768"/>
          </a:xfrm>
          <a:prstGeom prst="roundRect">
            <a:avLst>
              <a:gd name="adj" fmla="val 6977"/>
            </a:avLst>
          </a:prstGeom>
          <a:solidFill>
            <a:srgbClr val="1C2333"/>
          </a:solidFill>
          <a:ln/>
          <a:effectLst>
            <a:outerShdw sx="100000" sy="100000" kx="0" ky="0" algn="bl" rotWithShape="0" blurRad="177800" dist="50800" dir="2700000">
              <a:srgbClr val="000000">
                <a:alpha val="35000"/>
              </a:srgbClr>
            </a:outerShdw>
          </a:effectLst>
        </p:spPr>
      </p:sp>
      <p:sp>
        <p:nvSpPr>
          <p:cNvPr id="10" name="Text 8"/>
          <p:cNvSpPr/>
          <p:nvPr/>
        </p:nvSpPr>
        <p:spPr>
          <a:xfrm>
            <a:off x="3236976" y="1097280"/>
            <a:ext cx="2697480" cy="5486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1" name="Text 9"/>
          <p:cNvSpPr/>
          <p:nvPr/>
        </p:nvSpPr>
        <p:spPr>
          <a:xfrm>
            <a:off x="3236976" y="1645920"/>
            <a:ext cx="2697480" cy="320040"/>
          </a:xfrm>
          <a:prstGeom prst="rect">
            <a:avLst/>
          </a:prstGeom>
          <a:noFill/>
          <a:ln/>
        </p:spPr>
        <p:txBody>
          <a:bodyPr wrap="square" lIns="0" tIns="0" rIns="0" bIns="0" rtlCol="0" anchor="ctr"/>
          <a:lstStyle/>
          <a:p>
            <a:pPr algn="ctr" indent="0" marL="0">
              <a:buNone/>
            </a:pPr>
            <a:r>
              <a:rPr lang="en-US" sz="1300" b="1" dirty="0">
                <a:solidFill>
                  <a:srgbClr val="FF6B35"/>
                </a:solidFill>
                <a:latin typeface="Calibri" pitchFamily="34" charset="0"/>
                <a:ea typeface="Calibri" pitchFamily="34" charset="-122"/>
                <a:cs typeface="Calibri" pitchFamily="34" charset="-120"/>
              </a:rPr>
              <a:t>Trafic</a:t>
            </a:r>
            <a:endParaRPr lang="en-US" sz="1300" dirty="0"/>
          </a:p>
        </p:txBody>
      </p:sp>
      <p:sp>
        <p:nvSpPr>
          <p:cNvPr id="12" name="Text 10"/>
          <p:cNvSpPr/>
          <p:nvPr/>
        </p:nvSpPr>
        <p:spPr>
          <a:xfrm>
            <a:off x="3328416" y="1975104"/>
            <a:ext cx="2514600" cy="41148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775K obs. · 49 sites</a:t>
            </a:r>
            <a:endParaRPr lang="en-US" sz="1000" dirty="0"/>
          </a:p>
        </p:txBody>
      </p:sp>
      <p:sp>
        <p:nvSpPr>
          <p:cNvPr id="13" name="Shape 11"/>
          <p:cNvSpPr/>
          <p:nvPr/>
        </p:nvSpPr>
        <p:spPr>
          <a:xfrm>
            <a:off x="6089904" y="987552"/>
            <a:ext cx="2697480" cy="1572768"/>
          </a:xfrm>
          <a:prstGeom prst="roundRect">
            <a:avLst>
              <a:gd name="adj" fmla="val 6977"/>
            </a:avLst>
          </a:prstGeom>
          <a:solidFill>
            <a:srgbClr val="1C2333"/>
          </a:solidFill>
          <a:ln/>
          <a:effectLst>
            <a:outerShdw sx="100000" sy="100000" kx="0" ky="0" algn="bl" rotWithShape="0" blurRad="177800" dist="50800" dir="2700000">
              <a:srgbClr val="000000">
                <a:alpha val="35000"/>
              </a:srgbClr>
            </a:outerShdw>
          </a:effectLst>
        </p:spPr>
      </p:sp>
      <p:sp>
        <p:nvSpPr>
          <p:cNvPr id="14" name="Text 12"/>
          <p:cNvSpPr/>
          <p:nvPr/>
        </p:nvSpPr>
        <p:spPr>
          <a:xfrm>
            <a:off x="6089904" y="1097280"/>
            <a:ext cx="2697480" cy="5486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5" name="Text 13"/>
          <p:cNvSpPr/>
          <p:nvPr/>
        </p:nvSpPr>
        <p:spPr>
          <a:xfrm>
            <a:off x="6089904" y="1645920"/>
            <a:ext cx="2697480" cy="320040"/>
          </a:xfrm>
          <a:prstGeom prst="rect">
            <a:avLst/>
          </a:prstGeom>
          <a:noFill/>
          <a:ln/>
        </p:spPr>
        <p:txBody>
          <a:bodyPr wrap="square" lIns="0" tIns="0" rIns="0" bIns="0" rtlCol="0" anchor="ctr"/>
          <a:lstStyle/>
          <a:p>
            <a:pPr algn="ctr" indent="0" marL="0">
              <a:buNone/>
            </a:pPr>
            <a:r>
              <a:rPr lang="en-US" sz="1300" b="1" dirty="0">
                <a:solidFill>
                  <a:srgbClr val="FF6B35"/>
                </a:solidFill>
                <a:latin typeface="Calibri" pitchFamily="34" charset="0"/>
                <a:ea typeface="Calibri" pitchFamily="34" charset="-122"/>
                <a:cs typeface="Calibri" pitchFamily="34" charset="-120"/>
              </a:rPr>
              <a:t>Déplacements</a:t>
            </a:r>
            <a:endParaRPr lang="en-US" sz="1300" dirty="0"/>
          </a:p>
        </p:txBody>
      </p:sp>
      <p:sp>
        <p:nvSpPr>
          <p:cNvPr id="16" name="Text 14"/>
          <p:cNvSpPr/>
          <p:nvPr/>
        </p:nvSpPr>
        <p:spPr>
          <a:xfrm>
            <a:off x="6181344" y="1975104"/>
            <a:ext cx="2514600" cy="41148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Flux zones · coûts · durées</a:t>
            </a:r>
            <a:endParaRPr lang="en-US" sz="1000" dirty="0"/>
          </a:p>
        </p:txBody>
      </p:sp>
      <p:sp>
        <p:nvSpPr>
          <p:cNvPr id="17" name="Shape 15"/>
          <p:cNvSpPr/>
          <p:nvPr/>
        </p:nvSpPr>
        <p:spPr>
          <a:xfrm>
            <a:off x="384048" y="2788920"/>
            <a:ext cx="2697480" cy="1572768"/>
          </a:xfrm>
          <a:prstGeom prst="roundRect">
            <a:avLst>
              <a:gd name="adj" fmla="val 6977"/>
            </a:avLst>
          </a:prstGeom>
          <a:solidFill>
            <a:srgbClr val="1C2333"/>
          </a:solidFill>
          <a:ln/>
          <a:effectLst>
            <a:outerShdw sx="100000" sy="100000" kx="0" ky="0" algn="bl" rotWithShape="0" blurRad="177800" dist="50800" dir="2700000">
              <a:srgbClr val="000000">
                <a:alpha val="35000"/>
              </a:srgbClr>
            </a:outerShdw>
          </a:effectLst>
        </p:spPr>
      </p:sp>
      <p:sp>
        <p:nvSpPr>
          <p:cNvPr id="18" name="Text 16"/>
          <p:cNvSpPr/>
          <p:nvPr/>
        </p:nvSpPr>
        <p:spPr>
          <a:xfrm>
            <a:off x="384048" y="2898648"/>
            <a:ext cx="2697480" cy="5486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9" name="Text 17"/>
          <p:cNvSpPr/>
          <p:nvPr/>
        </p:nvSpPr>
        <p:spPr>
          <a:xfrm>
            <a:off x="384048" y="3447288"/>
            <a:ext cx="2697480" cy="320040"/>
          </a:xfrm>
          <a:prstGeom prst="rect">
            <a:avLst/>
          </a:prstGeom>
          <a:noFill/>
          <a:ln/>
        </p:spPr>
        <p:txBody>
          <a:bodyPr wrap="square" lIns="0" tIns="0" rIns="0" bIns="0" rtlCol="0" anchor="ctr"/>
          <a:lstStyle/>
          <a:p>
            <a:pPr algn="ctr" indent="0" marL="0">
              <a:buNone/>
            </a:pPr>
            <a:r>
              <a:rPr lang="en-US" sz="1300" b="1" dirty="0">
                <a:solidFill>
                  <a:srgbClr val="FF6B35"/>
                </a:solidFill>
                <a:latin typeface="Calibri" pitchFamily="34" charset="0"/>
                <a:ea typeface="Calibri" pitchFamily="34" charset="-122"/>
                <a:cs typeface="Calibri" pitchFamily="34" charset="-120"/>
              </a:rPr>
              <a:t>Démographie</a:t>
            </a:r>
            <a:endParaRPr lang="en-US" sz="1300" dirty="0"/>
          </a:p>
        </p:txBody>
      </p:sp>
      <p:sp>
        <p:nvSpPr>
          <p:cNvPr id="20" name="Text 18"/>
          <p:cNvSpPr/>
          <p:nvPr/>
        </p:nvSpPr>
        <p:spPr>
          <a:xfrm>
            <a:off x="475488" y="3776472"/>
            <a:ext cx="2514600" cy="41148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Profil sociodémographique</a:t>
            </a:r>
            <a:endParaRPr lang="en-US" sz="1000" dirty="0"/>
          </a:p>
        </p:txBody>
      </p:sp>
      <p:sp>
        <p:nvSpPr>
          <p:cNvPr id="21" name="Shape 19"/>
          <p:cNvSpPr/>
          <p:nvPr/>
        </p:nvSpPr>
        <p:spPr>
          <a:xfrm>
            <a:off x="3236976" y="2788920"/>
            <a:ext cx="2697480" cy="1572768"/>
          </a:xfrm>
          <a:prstGeom prst="roundRect">
            <a:avLst>
              <a:gd name="adj" fmla="val 6977"/>
            </a:avLst>
          </a:prstGeom>
          <a:solidFill>
            <a:srgbClr val="1C2333"/>
          </a:solidFill>
          <a:ln/>
          <a:effectLst>
            <a:outerShdw sx="100000" sy="100000" kx="0" ky="0" algn="bl" rotWithShape="0" blurRad="177800" dist="50800" dir="2700000">
              <a:srgbClr val="000000">
                <a:alpha val="35000"/>
              </a:srgbClr>
            </a:outerShdw>
          </a:effectLst>
        </p:spPr>
      </p:sp>
      <p:sp>
        <p:nvSpPr>
          <p:cNvPr id="22" name="Text 20"/>
          <p:cNvSpPr/>
          <p:nvPr/>
        </p:nvSpPr>
        <p:spPr>
          <a:xfrm>
            <a:off x="3236976" y="2898648"/>
            <a:ext cx="2697480" cy="5486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3" name="Text 21"/>
          <p:cNvSpPr/>
          <p:nvPr/>
        </p:nvSpPr>
        <p:spPr>
          <a:xfrm>
            <a:off x="3236976" y="3447288"/>
            <a:ext cx="2697480" cy="320040"/>
          </a:xfrm>
          <a:prstGeom prst="rect">
            <a:avLst/>
          </a:prstGeom>
          <a:noFill/>
          <a:ln/>
        </p:spPr>
        <p:txBody>
          <a:bodyPr wrap="square" lIns="0" tIns="0" rIns="0" bIns="0" rtlCol="0" anchor="ctr"/>
          <a:lstStyle/>
          <a:p>
            <a:pPr algn="ctr" indent="0" marL="0">
              <a:buNone/>
            </a:pPr>
            <a:r>
              <a:rPr lang="en-US" sz="1300" b="1" dirty="0">
                <a:solidFill>
                  <a:srgbClr val="FF6B35"/>
                </a:solidFill>
                <a:latin typeface="Calibri" pitchFamily="34" charset="0"/>
                <a:ea typeface="Calibri" pitchFamily="34" charset="-122"/>
                <a:cs typeface="Calibri" pitchFamily="34" charset="-120"/>
              </a:rPr>
              <a:t>Accessibilité</a:t>
            </a:r>
            <a:endParaRPr lang="en-US" sz="1300" dirty="0"/>
          </a:p>
        </p:txBody>
      </p:sp>
      <p:sp>
        <p:nvSpPr>
          <p:cNvPr id="24" name="Text 22"/>
          <p:cNvSpPr/>
          <p:nvPr/>
        </p:nvSpPr>
        <p:spPr>
          <a:xfrm>
            <a:off x="3328416" y="3776472"/>
            <a:ext cx="2514600" cy="41148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Scores · services · risques</a:t>
            </a:r>
            <a:endParaRPr lang="en-US" sz="1000" dirty="0"/>
          </a:p>
        </p:txBody>
      </p:sp>
      <p:sp>
        <p:nvSpPr>
          <p:cNvPr id="25" name="Shape 23"/>
          <p:cNvSpPr/>
          <p:nvPr/>
        </p:nvSpPr>
        <p:spPr>
          <a:xfrm>
            <a:off x="6089904" y="2788920"/>
            <a:ext cx="2697480" cy="1572768"/>
          </a:xfrm>
          <a:prstGeom prst="roundRect">
            <a:avLst>
              <a:gd name="adj" fmla="val 6977"/>
            </a:avLst>
          </a:prstGeom>
          <a:solidFill>
            <a:srgbClr val="1C2333"/>
          </a:solidFill>
          <a:ln/>
          <a:effectLst>
            <a:outerShdw sx="100000" sy="100000" kx="0" ky="0" algn="bl" rotWithShape="0" blurRad="177800" dist="50800" dir="2700000">
              <a:srgbClr val="000000">
                <a:alpha val="35000"/>
              </a:srgbClr>
            </a:outerShdw>
          </a:effectLst>
        </p:spPr>
      </p:sp>
      <p:sp>
        <p:nvSpPr>
          <p:cNvPr id="26" name="Text 24"/>
          <p:cNvSpPr/>
          <p:nvPr/>
        </p:nvSpPr>
        <p:spPr>
          <a:xfrm>
            <a:off x="6089904" y="2898648"/>
            <a:ext cx="2697480" cy="5486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7" name="Text 25"/>
          <p:cNvSpPr/>
          <p:nvPr/>
        </p:nvSpPr>
        <p:spPr>
          <a:xfrm>
            <a:off x="6089904" y="3447288"/>
            <a:ext cx="2697480" cy="320040"/>
          </a:xfrm>
          <a:prstGeom prst="rect">
            <a:avLst/>
          </a:prstGeom>
          <a:noFill/>
          <a:ln/>
        </p:spPr>
        <p:txBody>
          <a:bodyPr wrap="square" lIns="0" tIns="0" rIns="0" bIns="0" rtlCol="0" anchor="ctr"/>
          <a:lstStyle/>
          <a:p>
            <a:pPr algn="ctr" indent="0" marL="0">
              <a:buNone/>
            </a:pPr>
            <a:r>
              <a:rPr lang="en-US" sz="1300" b="1" dirty="0">
                <a:solidFill>
                  <a:srgbClr val="FF6B35"/>
                </a:solidFill>
                <a:latin typeface="Calibri" pitchFamily="34" charset="0"/>
                <a:ea typeface="Calibri" pitchFamily="34" charset="-122"/>
                <a:cs typeface="Calibri" pitchFamily="34" charset="-120"/>
              </a:rPr>
              <a:t>IA</a:t>
            </a:r>
            <a:endParaRPr lang="en-US" sz="1300" dirty="0"/>
          </a:p>
        </p:txBody>
      </p:sp>
      <p:sp>
        <p:nvSpPr>
          <p:cNvPr id="28" name="Text 26"/>
          <p:cNvSpPr/>
          <p:nvPr/>
        </p:nvSpPr>
        <p:spPr>
          <a:xfrm>
            <a:off x="6181344" y="3776472"/>
            <a:ext cx="2514600" cy="41148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Métriques ML · performance</a:t>
            </a:r>
            <a:endParaRPr lang="en-US" sz="1000" dirty="0"/>
          </a:p>
        </p:txBody>
      </p:sp>
      <p:sp>
        <p:nvSpPr>
          <p:cNvPr id="29" name="Text 27"/>
          <p:cNvSpPr/>
          <p:nvPr/>
        </p:nvSpPr>
        <p:spPr>
          <a:xfrm>
            <a:off x="0" y="4846320"/>
            <a:ext cx="9144000" cy="228600"/>
          </a:xfrm>
          <a:prstGeom prst="rect">
            <a:avLst/>
          </a:prstGeom>
          <a:noFill/>
          <a:ln/>
        </p:spPr>
        <p:txBody>
          <a:bodyPr wrap="square" lIns="0" tIns="0" rIns="0" bIns="0" rtlCol="0" anchor="ctr"/>
          <a:lstStyle/>
          <a:p>
            <a:pPr algn="ctr" indent="0" marL="0">
              <a:buNone/>
            </a:pPr>
            <a:r>
              <a:rPr lang="en-US" sz="900" dirty="0">
                <a:solidFill>
                  <a:srgbClr val="4B5563"/>
                </a:solidFill>
                <a:latin typeface="Calibri" pitchFamily="34" charset="0"/>
                <a:ea typeface="Calibri" pitchFamily="34" charset="-122"/>
                <a:cs typeface="Calibri" pitchFamily="34" charset="-120"/>
              </a:rPr>
              <a:t>Mode clair/sombre · Navigation intégrée · Connecté au DW PostgreSQL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457200" y="256032"/>
            <a:ext cx="1005840" cy="64008"/>
          </a:xfrm>
          <a:prstGeom prst="rect">
            <a:avLst/>
          </a:prstGeom>
          <a:solidFill>
            <a:srgbClr val="FF6B35"/>
          </a:solidFill>
          <a:ln w="12700">
            <a:solidFill>
              <a:srgbClr val="FF6B35"/>
            </a:solidFill>
            <a:prstDash val="solid"/>
          </a:ln>
        </p:spPr>
      </p:sp>
      <p:sp>
        <p:nvSpPr>
          <p:cNvPr id="3" name="Text 1"/>
          <p:cNvSpPr/>
          <p:nvPr/>
        </p:nvSpPr>
        <p:spPr>
          <a:xfrm>
            <a:off x="457200" y="365760"/>
            <a:ext cx="8229600" cy="411480"/>
          </a:xfrm>
          <a:prstGeom prst="rect">
            <a:avLst/>
          </a:prstGeom>
          <a:noFill/>
          <a:ln/>
        </p:spPr>
        <p:txBody>
          <a:bodyPr wrap="square" lIns="0" tIns="0" rIns="0" bIns="0" rtlCol="0" anchor="ctr"/>
          <a:lstStyle/>
          <a:p>
            <a:pPr indent="0" marL="0">
              <a:buNone/>
            </a:pPr>
            <a:r>
              <a:rPr lang="en-US" sz="2600" b="1" dirty="0">
                <a:solidFill>
                  <a:srgbClr val="F9FAFB"/>
                </a:solidFill>
                <a:latin typeface="Calibri" pitchFamily="34" charset="0"/>
                <a:ea typeface="Calibri" pitchFamily="34" charset="-122"/>
                <a:cs typeface="Calibri" pitchFamily="34" charset="-120"/>
              </a:rPr>
              <a:t>Application Web — Architecture</a:t>
            </a:r>
            <a:endParaRPr lang="en-US" sz="2600" dirty="0"/>
          </a:p>
        </p:txBody>
      </p:sp>
      <p:sp>
        <p:nvSpPr>
          <p:cNvPr id="4" name="Text 2"/>
          <p:cNvSpPr/>
          <p:nvPr/>
        </p:nvSpPr>
        <p:spPr>
          <a:xfrm>
            <a:off x="0" y="4892040"/>
            <a:ext cx="9144000" cy="256032"/>
          </a:xfrm>
          <a:prstGeom prst="rect">
            <a:avLst/>
          </a:prstGeom>
          <a:noFill/>
          <a:ln/>
        </p:spPr>
        <p:txBody>
          <a:bodyPr wrap="square" lIns="0" tIns="0" rIns="0" bIns="0" rtlCol="0" anchor="ctr"/>
          <a:lstStyle/>
          <a:p>
            <a:pPr algn="ctr" indent="0" marL="0">
              <a:buNone/>
            </a:pPr>
            <a:r>
              <a:rPr lang="en-US" sz="800" dirty="0">
                <a:solidFill>
                  <a:srgbClr val="374151"/>
                </a:solidFill>
                <a:latin typeface="Calibri" pitchFamily="34" charset="0"/>
                <a:ea typeface="Calibri" pitchFamily="34" charset="-122"/>
                <a:cs typeface="Calibri" pitchFamily="34" charset="-120"/>
              </a:rPr>
              <a:t>ESPRIT · SIMAC · CETUD  |  9 / 18</a:t>
            </a:r>
            <a:endParaRPr lang="en-US" sz="800" dirty="0"/>
          </a:p>
        </p:txBody>
      </p:sp>
      <p:sp>
        <p:nvSpPr>
          <p:cNvPr id="5" name="Shape 3"/>
          <p:cNvSpPr/>
          <p:nvPr/>
        </p:nvSpPr>
        <p:spPr>
          <a:xfrm>
            <a:off x="384048" y="1005840"/>
            <a:ext cx="8375904" cy="749808"/>
          </a:xfrm>
          <a:prstGeom prst="roundRect">
            <a:avLst>
              <a:gd name="adj" fmla="val 14634"/>
            </a:avLst>
          </a:prstGeom>
          <a:solidFill>
            <a:srgbClr val="1E3A5F"/>
          </a:solidFill>
          <a:ln/>
          <a:effectLst>
            <a:outerShdw sx="100000" sy="100000" kx="0" ky="0" algn="bl" rotWithShape="0" blurRad="177800" dist="50800" dir="2700000">
              <a:srgbClr val="000000">
                <a:alpha val="35000"/>
              </a:srgbClr>
            </a:outerShdw>
          </a:effectLst>
        </p:spPr>
      </p:sp>
      <p:sp>
        <p:nvSpPr>
          <p:cNvPr id="6" name="Text 4"/>
          <p:cNvSpPr/>
          <p:nvPr/>
        </p:nvSpPr>
        <p:spPr>
          <a:xfrm>
            <a:off x="502920" y="1143000"/>
            <a:ext cx="594360" cy="45720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7" name="Text 5"/>
          <p:cNvSpPr/>
          <p:nvPr/>
        </p:nvSpPr>
        <p:spPr>
          <a:xfrm>
            <a:off x="1143000" y="1078992"/>
            <a:ext cx="4114800" cy="320040"/>
          </a:xfrm>
          <a:prstGeom prst="rect">
            <a:avLst/>
          </a:prstGeom>
          <a:noFill/>
          <a:ln/>
        </p:spPr>
        <p:txBody>
          <a:bodyPr wrap="square" lIns="0" tIns="0" rIns="0" bIns="0" rtlCol="0" anchor="ctr"/>
          <a:lstStyle/>
          <a:p>
            <a:pPr indent="0" marL="0">
              <a:buNone/>
            </a:pPr>
            <a:r>
              <a:rPr lang="en-US" sz="1300" b="1" dirty="0">
                <a:solidFill>
                  <a:srgbClr val="F9FAFB"/>
                </a:solidFill>
                <a:latin typeface="Calibri" pitchFamily="34" charset="0"/>
                <a:ea typeface="Calibri" pitchFamily="34" charset="-122"/>
                <a:cs typeface="Calibri" pitchFamily="34" charset="-120"/>
              </a:rPr>
              <a:t>Frontend React.js</a:t>
            </a:r>
            <a:endParaRPr lang="en-US" sz="1300" dirty="0"/>
          </a:p>
        </p:txBody>
      </p:sp>
      <p:sp>
        <p:nvSpPr>
          <p:cNvPr id="8" name="Text 6"/>
          <p:cNvSpPr/>
          <p:nvPr/>
        </p:nvSpPr>
        <p:spPr>
          <a:xfrm>
            <a:off x="1143000" y="1408176"/>
            <a:ext cx="7406640" cy="256032"/>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ThemeProvider (dark/light) · React Router · Auth JWT</a:t>
            </a:r>
            <a:endParaRPr lang="en-US" sz="1000" dirty="0"/>
          </a:p>
        </p:txBody>
      </p:sp>
      <p:sp>
        <p:nvSpPr>
          <p:cNvPr id="9" name="Text 7"/>
          <p:cNvSpPr/>
          <p:nvPr/>
        </p:nvSpPr>
        <p:spPr>
          <a:xfrm>
            <a:off x="4297680" y="1755648"/>
            <a:ext cx="548640" cy="201168"/>
          </a:xfrm>
          <a:prstGeom prst="rect">
            <a:avLst/>
          </a:prstGeom>
          <a:noFill/>
          <a:ln/>
        </p:spPr>
        <p:txBody>
          <a:bodyPr wrap="square" lIns="0" tIns="0" rIns="0" bIns="0" rtlCol="0" anchor="ctr"/>
          <a:lstStyle/>
          <a:p>
            <a:pPr algn="ctr" indent="0" marL="0">
              <a:buNone/>
            </a:pPr>
            <a:r>
              <a:rPr lang="en-US" sz="1200" dirty="0">
                <a:solidFill>
                  <a:srgbClr val="FF6B35"/>
                </a:solidFill>
                <a:latin typeface="Calibri" pitchFamily="34" charset="0"/>
                <a:ea typeface="Calibri" pitchFamily="34" charset="-122"/>
                <a:cs typeface="Calibri" pitchFamily="34" charset="-120"/>
              </a:rPr>
              <a:t>↓</a:t>
            </a:r>
            <a:endParaRPr lang="en-US" sz="1200" dirty="0"/>
          </a:p>
        </p:txBody>
      </p:sp>
      <p:sp>
        <p:nvSpPr>
          <p:cNvPr id="10" name="Shape 8"/>
          <p:cNvSpPr/>
          <p:nvPr/>
        </p:nvSpPr>
        <p:spPr>
          <a:xfrm>
            <a:off x="384048" y="1965960"/>
            <a:ext cx="8375904" cy="749808"/>
          </a:xfrm>
          <a:prstGeom prst="roundRect">
            <a:avLst>
              <a:gd name="adj" fmla="val 14634"/>
            </a:avLst>
          </a:prstGeom>
          <a:solidFill>
            <a:srgbClr val="1A3D2E"/>
          </a:solidFill>
          <a:ln/>
          <a:effectLst>
            <a:outerShdw sx="100000" sy="100000" kx="0" ky="0" algn="bl" rotWithShape="0" blurRad="177800" dist="50800" dir="2700000">
              <a:srgbClr val="000000">
                <a:alpha val="35000"/>
              </a:srgbClr>
            </a:outerShdw>
          </a:effectLst>
        </p:spPr>
      </p:sp>
      <p:sp>
        <p:nvSpPr>
          <p:cNvPr id="11" name="Text 9"/>
          <p:cNvSpPr/>
          <p:nvPr/>
        </p:nvSpPr>
        <p:spPr>
          <a:xfrm>
            <a:off x="502920" y="2103120"/>
            <a:ext cx="594360" cy="45720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2" name="Text 10"/>
          <p:cNvSpPr/>
          <p:nvPr/>
        </p:nvSpPr>
        <p:spPr>
          <a:xfrm>
            <a:off x="1143000" y="2039112"/>
            <a:ext cx="4114800" cy="320040"/>
          </a:xfrm>
          <a:prstGeom prst="rect">
            <a:avLst/>
          </a:prstGeom>
          <a:noFill/>
          <a:ln/>
        </p:spPr>
        <p:txBody>
          <a:bodyPr wrap="square" lIns="0" tIns="0" rIns="0" bIns="0" rtlCol="0" anchor="ctr"/>
          <a:lstStyle/>
          <a:p>
            <a:pPr indent="0" marL="0">
              <a:buNone/>
            </a:pPr>
            <a:r>
              <a:rPr lang="en-US" sz="1300" b="1" dirty="0">
                <a:solidFill>
                  <a:srgbClr val="F9FAFB"/>
                </a:solidFill>
                <a:latin typeface="Calibri" pitchFamily="34" charset="0"/>
                <a:ea typeface="Calibri" pitchFamily="34" charset="-122"/>
                <a:cs typeface="Calibri" pitchFamily="34" charset="-120"/>
              </a:rPr>
              <a:t>API FastAPI (Python)</a:t>
            </a:r>
            <a:endParaRPr lang="en-US" sz="1300" dirty="0"/>
          </a:p>
        </p:txBody>
      </p:sp>
      <p:sp>
        <p:nvSpPr>
          <p:cNvPr id="13" name="Text 11"/>
          <p:cNvSpPr/>
          <p:nvPr/>
        </p:nvSpPr>
        <p:spPr>
          <a:xfrm>
            <a:off x="1143000" y="2368296"/>
            <a:ext cx="7406640" cy="256032"/>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9 endpoints REST · Pydantic · Swagger · joblib models</a:t>
            </a:r>
            <a:endParaRPr lang="en-US" sz="1000" dirty="0"/>
          </a:p>
        </p:txBody>
      </p:sp>
      <p:sp>
        <p:nvSpPr>
          <p:cNvPr id="14" name="Text 12"/>
          <p:cNvSpPr/>
          <p:nvPr/>
        </p:nvSpPr>
        <p:spPr>
          <a:xfrm>
            <a:off x="4297680" y="2715768"/>
            <a:ext cx="548640" cy="201168"/>
          </a:xfrm>
          <a:prstGeom prst="rect">
            <a:avLst/>
          </a:prstGeom>
          <a:noFill/>
          <a:ln/>
        </p:spPr>
        <p:txBody>
          <a:bodyPr wrap="square" lIns="0" tIns="0" rIns="0" bIns="0" rtlCol="0" anchor="ctr"/>
          <a:lstStyle/>
          <a:p>
            <a:pPr algn="ctr" indent="0" marL="0">
              <a:buNone/>
            </a:pPr>
            <a:r>
              <a:rPr lang="en-US" sz="1200" dirty="0">
                <a:solidFill>
                  <a:srgbClr val="FF6B35"/>
                </a:solidFill>
                <a:latin typeface="Calibri" pitchFamily="34" charset="0"/>
                <a:ea typeface="Calibri" pitchFamily="34" charset="-122"/>
                <a:cs typeface="Calibri" pitchFamily="34" charset="-120"/>
              </a:rPr>
              <a:t>↓</a:t>
            </a:r>
            <a:endParaRPr lang="en-US" sz="1200" dirty="0"/>
          </a:p>
        </p:txBody>
      </p:sp>
      <p:sp>
        <p:nvSpPr>
          <p:cNvPr id="15" name="Shape 13"/>
          <p:cNvSpPr/>
          <p:nvPr/>
        </p:nvSpPr>
        <p:spPr>
          <a:xfrm>
            <a:off x="384048" y="2926080"/>
            <a:ext cx="8375904" cy="749808"/>
          </a:xfrm>
          <a:prstGeom prst="roundRect">
            <a:avLst>
              <a:gd name="adj" fmla="val 14634"/>
            </a:avLst>
          </a:prstGeom>
          <a:solidFill>
            <a:srgbClr val="3B1F5E"/>
          </a:solidFill>
          <a:ln/>
          <a:effectLst>
            <a:outerShdw sx="100000" sy="100000" kx="0" ky="0" algn="bl" rotWithShape="0" blurRad="177800" dist="50800" dir="2700000">
              <a:srgbClr val="000000">
                <a:alpha val="35000"/>
              </a:srgbClr>
            </a:outerShdw>
          </a:effectLst>
        </p:spPr>
      </p:sp>
      <p:sp>
        <p:nvSpPr>
          <p:cNvPr id="16" name="Text 14"/>
          <p:cNvSpPr/>
          <p:nvPr/>
        </p:nvSpPr>
        <p:spPr>
          <a:xfrm>
            <a:off x="502920" y="3063240"/>
            <a:ext cx="594360" cy="45720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7" name="Text 15"/>
          <p:cNvSpPr/>
          <p:nvPr/>
        </p:nvSpPr>
        <p:spPr>
          <a:xfrm>
            <a:off x="1143000" y="2999232"/>
            <a:ext cx="4114800" cy="320040"/>
          </a:xfrm>
          <a:prstGeom prst="rect">
            <a:avLst/>
          </a:prstGeom>
          <a:noFill/>
          <a:ln/>
        </p:spPr>
        <p:txBody>
          <a:bodyPr wrap="square" lIns="0" tIns="0" rIns="0" bIns="0" rtlCol="0" anchor="ctr"/>
          <a:lstStyle/>
          <a:p>
            <a:pPr indent="0" marL="0">
              <a:buNone/>
            </a:pPr>
            <a:r>
              <a:rPr lang="en-US" sz="1300" b="1" dirty="0">
                <a:solidFill>
                  <a:srgbClr val="F9FAFB"/>
                </a:solidFill>
                <a:latin typeface="Calibri" pitchFamily="34" charset="0"/>
                <a:ea typeface="Calibri" pitchFamily="34" charset="-122"/>
                <a:cs typeface="Calibri" pitchFamily="34" charset="-120"/>
              </a:rPr>
              <a:t>Modèles ML (joblib)</a:t>
            </a:r>
            <a:endParaRPr lang="en-US" sz="1300" dirty="0"/>
          </a:p>
        </p:txBody>
      </p:sp>
      <p:sp>
        <p:nvSpPr>
          <p:cNvPr id="18" name="Text 16"/>
          <p:cNvSpPr/>
          <p:nvPr/>
        </p:nvSpPr>
        <p:spPr>
          <a:xfrm>
            <a:off x="1143000" y="3328416"/>
            <a:ext cx="7406640" cy="256032"/>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4 modèles sérialisés · chargés au démarrage · inférence rapide</a:t>
            </a:r>
            <a:endParaRPr lang="en-US" sz="1000" dirty="0"/>
          </a:p>
        </p:txBody>
      </p:sp>
      <p:sp>
        <p:nvSpPr>
          <p:cNvPr id="19" name="Text 17"/>
          <p:cNvSpPr/>
          <p:nvPr/>
        </p:nvSpPr>
        <p:spPr>
          <a:xfrm>
            <a:off x="4297680" y="3675888"/>
            <a:ext cx="548640" cy="201168"/>
          </a:xfrm>
          <a:prstGeom prst="rect">
            <a:avLst/>
          </a:prstGeom>
          <a:noFill/>
          <a:ln/>
        </p:spPr>
        <p:txBody>
          <a:bodyPr wrap="square" lIns="0" tIns="0" rIns="0" bIns="0" rtlCol="0" anchor="ctr"/>
          <a:lstStyle/>
          <a:p>
            <a:pPr algn="ctr" indent="0" marL="0">
              <a:buNone/>
            </a:pPr>
            <a:r>
              <a:rPr lang="en-US" sz="1200" dirty="0">
                <a:solidFill>
                  <a:srgbClr val="FF6B35"/>
                </a:solidFill>
                <a:latin typeface="Calibri" pitchFamily="34" charset="0"/>
                <a:ea typeface="Calibri" pitchFamily="34" charset="-122"/>
                <a:cs typeface="Calibri" pitchFamily="34" charset="-120"/>
              </a:rPr>
              <a:t>↓</a:t>
            </a:r>
            <a:endParaRPr lang="en-US" sz="1200" dirty="0"/>
          </a:p>
        </p:txBody>
      </p:sp>
      <p:sp>
        <p:nvSpPr>
          <p:cNvPr id="20" name="Shape 18"/>
          <p:cNvSpPr/>
          <p:nvPr/>
        </p:nvSpPr>
        <p:spPr>
          <a:xfrm>
            <a:off x="384048" y="3886200"/>
            <a:ext cx="8375904" cy="749808"/>
          </a:xfrm>
          <a:prstGeom prst="roundRect">
            <a:avLst>
              <a:gd name="adj" fmla="val 14634"/>
            </a:avLst>
          </a:prstGeom>
          <a:solidFill>
            <a:srgbClr val="1A2540"/>
          </a:solidFill>
          <a:ln/>
          <a:effectLst>
            <a:outerShdw sx="100000" sy="100000" kx="0" ky="0" algn="bl" rotWithShape="0" blurRad="177800" dist="50800" dir="2700000">
              <a:srgbClr val="000000">
                <a:alpha val="35000"/>
              </a:srgbClr>
            </a:outerShdw>
          </a:effectLst>
        </p:spPr>
      </p:sp>
      <p:sp>
        <p:nvSpPr>
          <p:cNvPr id="21" name="Text 19"/>
          <p:cNvSpPr/>
          <p:nvPr/>
        </p:nvSpPr>
        <p:spPr>
          <a:xfrm>
            <a:off x="502920" y="4023360"/>
            <a:ext cx="594360" cy="45720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22" name="Text 20"/>
          <p:cNvSpPr/>
          <p:nvPr/>
        </p:nvSpPr>
        <p:spPr>
          <a:xfrm>
            <a:off x="1143000" y="3959352"/>
            <a:ext cx="4114800" cy="320040"/>
          </a:xfrm>
          <a:prstGeom prst="rect">
            <a:avLst/>
          </a:prstGeom>
          <a:noFill/>
          <a:ln/>
        </p:spPr>
        <p:txBody>
          <a:bodyPr wrap="square" lIns="0" tIns="0" rIns="0" bIns="0" rtlCol="0" anchor="ctr"/>
          <a:lstStyle/>
          <a:p>
            <a:pPr indent="0" marL="0">
              <a:buNone/>
            </a:pPr>
            <a:r>
              <a:rPr lang="en-US" sz="1300" b="1" dirty="0">
                <a:solidFill>
                  <a:srgbClr val="F9FAFB"/>
                </a:solidFill>
                <a:latin typeface="Calibri" pitchFamily="34" charset="0"/>
                <a:ea typeface="Calibri" pitchFamily="34" charset="-122"/>
                <a:cs typeface="Calibri" pitchFamily="34" charset="-120"/>
              </a:rPr>
              <a:t>PostgreSQL Data Warehouse</a:t>
            </a:r>
            <a:endParaRPr lang="en-US" sz="1300" dirty="0"/>
          </a:p>
        </p:txBody>
      </p:sp>
      <p:sp>
        <p:nvSpPr>
          <p:cNvPr id="23" name="Text 21"/>
          <p:cNvSpPr/>
          <p:nvPr/>
        </p:nvSpPr>
        <p:spPr>
          <a:xfrm>
            <a:off x="1143000" y="4288536"/>
            <a:ext cx="7406640" cy="256032"/>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Source de vérité · 4 tables de faits · requêtes optimisées</a:t>
            </a:r>
            <a:endParaRPr lang="en-US" sz="1000" dirty="0"/>
          </a:p>
        </p:txBody>
      </p:sp>
      <p:sp>
        <p:nvSpPr>
          <p:cNvPr id="24" name="Shape 22"/>
          <p:cNvSpPr/>
          <p:nvPr/>
        </p:nvSpPr>
        <p:spPr>
          <a:xfrm>
            <a:off x="384048" y="4663440"/>
            <a:ext cx="8375904" cy="292608"/>
          </a:xfrm>
          <a:prstGeom prst="roundRect">
            <a:avLst>
              <a:gd name="adj" fmla="val 37500"/>
            </a:avLst>
          </a:prstGeom>
          <a:solidFill>
            <a:srgbClr val="1A1D2E"/>
          </a:solidFill>
          <a:ln/>
          <a:effectLst>
            <a:outerShdw sx="100000" sy="100000" kx="0" ky="0" algn="bl" rotWithShape="0" blurRad="177800" dist="50800" dir="2700000">
              <a:srgbClr val="000000">
                <a:alpha val="35000"/>
              </a:srgbClr>
            </a:outerShdw>
          </a:effectLst>
        </p:spPr>
      </p:sp>
      <p:sp>
        <p:nvSpPr>
          <p:cNvPr id="25" name="Text 23"/>
          <p:cNvSpPr/>
          <p:nvPr/>
        </p:nvSpPr>
        <p:spPr>
          <a:xfrm>
            <a:off x="502920" y="4690872"/>
            <a:ext cx="8229600" cy="228600"/>
          </a:xfrm>
          <a:prstGeom prst="rect">
            <a:avLst/>
          </a:prstGeom>
          <a:noFill/>
          <a:ln/>
        </p:spPr>
        <p:txBody>
          <a:bodyPr wrap="square" lIns="0" tIns="0" rIns="0" bIns="0" rtlCol="0" anchor="ctr"/>
          <a:lstStyle/>
          <a:p>
            <a:pPr algn="ctr" indent="0" marL="0">
              <a:buNone/>
            </a:pPr>
            <a:r>
              <a:rPr lang="en-US" sz="1100" dirty="0">
                <a:solidFill>
                  <a:srgbClr val="FF6B35"/>
                </a:solidFill>
                <a:latin typeface="Calibri" pitchFamily="34" charset="0"/>
                <a:ea typeface="Calibri" pitchFamily="34" charset="-122"/>
                <a:cs typeface="Calibri" pitchFamily="34" charset="-120"/>
              </a:rPr>
              <a:t>RBAC : Citoyen  ·  Chef d'exploitation  ·  Directeur de planification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457200" y="256032"/>
            <a:ext cx="1005840" cy="64008"/>
          </a:xfrm>
          <a:prstGeom prst="rect">
            <a:avLst/>
          </a:prstGeom>
          <a:solidFill>
            <a:srgbClr val="FF6B35"/>
          </a:solidFill>
          <a:ln w="12700">
            <a:solidFill>
              <a:srgbClr val="FF6B35"/>
            </a:solidFill>
            <a:prstDash val="solid"/>
          </a:ln>
        </p:spPr>
      </p:sp>
      <p:sp>
        <p:nvSpPr>
          <p:cNvPr id="3" name="Text 1"/>
          <p:cNvSpPr/>
          <p:nvPr/>
        </p:nvSpPr>
        <p:spPr>
          <a:xfrm>
            <a:off x="457200" y="365760"/>
            <a:ext cx="8229600" cy="411480"/>
          </a:xfrm>
          <a:prstGeom prst="rect">
            <a:avLst/>
          </a:prstGeom>
          <a:noFill/>
          <a:ln/>
        </p:spPr>
        <p:txBody>
          <a:bodyPr wrap="square" lIns="0" tIns="0" rIns="0" bIns="0" rtlCol="0" anchor="ctr"/>
          <a:lstStyle/>
          <a:p>
            <a:pPr indent="0" marL="0">
              <a:buNone/>
            </a:pPr>
            <a:r>
              <a:rPr lang="en-US" sz="2600" b="1" dirty="0">
                <a:solidFill>
                  <a:srgbClr val="F9FAFB"/>
                </a:solidFill>
                <a:latin typeface="Calibri" pitchFamily="34" charset="0"/>
                <a:ea typeface="Calibri" pitchFamily="34" charset="-122"/>
                <a:cs typeface="Calibri" pitchFamily="34" charset="-120"/>
              </a:rPr>
              <a:t>Parcours citoyen</a:t>
            </a:r>
            <a:endParaRPr lang="en-US" sz="2600" dirty="0"/>
          </a:p>
        </p:txBody>
      </p:sp>
      <p:sp>
        <p:nvSpPr>
          <p:cNvPr id="4" name="Text 2"/>
          <p:cNvSpPr/>
          <p:nvPr/>
        </p:nvSpPr>
        <p:spPr>
          <a:xfrm>
            <a:off x="0" y="4892040"/>
            <a:ext cx="9144000" cy="256032"/>
          </a:xfrm>
          <a:prstGeom prst="rect">
            <a:avLst/>
          </a:prstGeom>
          <a:noFill/>
          <a:ln/>
        </p:spPr>
        <p:txBody>
          <a:bodyPr wrap="square" lIns="0" tIns="0" rIns="0" bIns="0" rtlCol="0" anchor="ctr"/>
          <a:lstStyle/>
          <a:p>
            <a:pPr algn="ctr" indent="0" marL="0">
              <a:buNone/>
            </a:pPr>
            <a:r>
              <a:rPr lang="en-US" sz="800" dirty="0">
                <a:solidFill>
                  <a:srgbClr val="374151"/>
                </a:solidFill>
                <a:latin typeface="Calibri" pitchFamily="34" charset="0"/>
                <a:ea typeface="Calibri" pitchFamily="34" charset="-122"/>
                <a:cs typeface="Calibri" pitchFamily="34" charset="-120"/>
              </a:rPr>
              <a:t>ESPRIT · SIMAC · CETUD  |  10 / 18</a:t>
            </a:r>
            <a:endParaRPr lang="en-US" sz="800" dirty="0"/>
          </a:p>
        </p:txBody>
      </p:sp>
      <p:sp>
        <p:nvSpPr>
          <p:cNvPr id="5" name="Shape 3"/>
          <p:cNvSpPr/>
          <p:nvPr/>
        </p:nvSpPr>
        <p:spPr>
          <a:xfrm>
            <a:off x="384048" y="987552"/>
            <a:ext cx="1993392" cy="3200400"/>
          </a:xfrm>
          <a:prstGeom prst="roundRect">
            <a:avLst>
              <a:gd name="adj" fmla="val 5505"/>
            </a:avLst>
          </a:prstGeom>
          <a:solidFill>
            <a:srgbClr val="1C2333"/>
          </a:solidFill>
          <a:ln/>
          <a:effectLst>
            <a:outerShdw sx="100000" sy="100000" kx="0" ky="0" algn="bl" rotWithShape="0" blurRad="177800" dist="50800" dir="2700000">
              <a:srgbClr val="000000">
                <a:alpha val="35000"/>
              </a:srgbClr>
            </a:outerShdw>
          </a:effectLst>
        </p:spPr>
      </p:sp>
      <p:sp>
        <p:nvSpPr>
          <p:cNvPr id="6" name="Shape 4"/>
          <p:cNvSpPr/>
          <p:nvPr/>
        </p:nvSpPr>
        <p:spPr>
          <a:xfrm>
            <a:off x="1024128" y="1097280"/>
            <a:ext cx="713232" cy="713232"/>
          </a:xfrm>
          <a:prstGeom prst="ellipse">
            <a:avLst/>
          </a:prstGeom>
          <a:solidFill>
            <a:srgbClr val="FF6B35"/>
          </a:solidFill>
          <a:ln w="12700">
            <a:solidFill>
              <a:srgbClr val="FF6B35"/>
            </a:solidFill>
            <a:prstDash val="solid"/>
          </a:ln>
        </p:spPr>
      </p:sp>
      <p:sp>
        <p:nvSpPr>
          <p:cNvPr id="7" name="Text 5"/>
          <p:cNvSpPr/>
          <p:nvPr/>
        </p:nvSpPr>
        <p:spPr>
          <a:xfrm>
            <a:off x="1024128" y="1097280"/>
            <a:ext cx="713232" cy="713232"/>
          </a:xfrm>
          <a:prstGeom prst="rect">
            <a:avLst/>
          </a:prstGeom>
          <a:noFill/>
          <a:ln/>
        </p:spPr>
        <p:txBody>
          <a:bodyPr wrap="square" lIns="0" tIns="0" rIns="0" bIns="0" rtlCol="0" anchor="ctr"/>
          <a:lstStyle/>
          <a:p>
            <a:pPr algn="ctr" indent="0" marL="0">
              <a:buNone/>
            </a:pPr>
            <a:r>
              <a:rPr lang="en-US" sz="2200" b="1" dirty="0">
                <a:solidFill>
                  <a:srgbClr val="F9FAFB"/>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475488" y="1938528"/>
            <a:ext cx="1828800" cy="347472"/>
          </a:xfrm>
          <a:prstGeom prst="rect">
            <a:avLst/>
          </a:prstGeom>
          <a:noFill/>
          <a:ln/>
        </p:spPr>
        <p:txBody>
          <a:bodyPr wrap="square" lIns="0" tIns="0" rIns="0" bIns="0" rtlCol="0" anchor="ctr"/>
          <a:lstStyle/>
          <a:p>
            <a:pPr algn="ctr" indent="0" marL="0">
              <a:buNone/>
            </a:pPr>
            <a:r>
              <a:rPr lang="en-US" sz="1300" b="1" dirty="0">
                <a:solidFill>
                  <a:srgbClr val="F9FAFB"/>
                </a:solidFill>
                <a:latin typeface="Calibri" pitchFamily="34" charset="0"/>
                <a:ea typeface="Calibri" pitchFamily="34" charset="-122"/>
                <a:cs typeface="Calibri" pitchFamily="34" charset="-120"/>
              </a:rPr>
              <a:t>Accueil</a:t>
            </a:r>
            <a:endParaRPr lang="en-US" sz="1300" dirty="0"/>
          </a:p>
        </p:txBody>
      </p:sp>
      <p:sp>
        <p:nvSpPr>
          <p:cNvPr id="9" name="Text 7"/>
          <p:cNvSpPr/>
          <p:nvPr/>
        </p:nvSpPr>
        <p:spPr>
          <a:xfrm>
            <a:off x="475488" y="2331720"/>
            <a:ext cx="1828800" cy="155448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Page d'accueil bilingue · identité visuelle TransportDakar orange/bleu</a:t>
            </a:r>
            <a:endParaRPr lang="en-US" sz="1000" dirty="0"/>
          </a:p>
        </p:txBody>
      </p:sp>
      <p:sp>
        <p:nvSpPr>
          <p:cNvPr id="10" name="Text 8"/>
          <p:cNvSpPr/>
          <p:nvPr/>
        </p:nvSpPr>
        <p:spPr>
          <a:xfrm>
            <a:off x="2377440" y="2103120"/>
            <a:ext cx="274320" cy="365760"/>
          </a:xfrm>
          <a:prstGeom prst="rect">
            <a:avLst/>
          </a:prstGeom>
          <a:noFill/>
          <a:ln/>
        </p:spPr>
        <p:txBody>
          <a:bodyPr wrap="square" lIns="0" tIns="0" rIns="0" bIns="0" rtlCol="0" anchor="ctr"/>
          <a:lstStyle/>
          <a:p>
            <a:pPr algn="ctr" indent="0" marL="0">
              <a:buNone/>
            </a:pPr>
            <a:r>
              <a:rPr lang="en-US" sz="1800" dirty="0">
                <a:solidFill>
                  <a:srgbClr val="FF6B35"/>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2523744" y="987552"/>
            <a:ext cx="1993392" cy="3200400"/>
          </a:xfrm>
          <a:prstGeom prst="roundRect">
            <a:avLst>
              <a:gd name="adj" fmla="val 5505"/>
            </a:avLst>
          </a:prstGeom>
          <a:solidFill>
            <a:srgbClr val="1C2333"/>
          </a:solidFill>
          <a:ln/>
          <a:effectLst>
            <a:outerShdw sx="100000" sy="100000" kx="0" ky="0" algn="bl" rotWithShape="0" blurRad="177800" dist="50800" dir="2700000">
              <a:srgbClr val="000000">
                <a:alpha val="35000"/>
              </a:srgbClr>
            </a:outerShdw>
          </a:effectLst>
        </p:spPr>
      </p:sp>
      <p:sp>
        <p:nvSpPr>
          <p:cNvPr id="12" name="Shape 10"/>
          <p:cNvSpPr/>
          <p:nvPr/>
        </p:nvSpPr>
        <p:spPr>
          <a:xfrm>
            <a:off x="3163824" y="1097280"/>
            <a:ext cx="713232" cy="713232"/>
          </a:xfrm>
          <a:prstGeom prst="ellipse">
            <a:avLst/>
          </a:prstGeom>
          <a:solidFill>
            <a:srgbClr val="FF6B35"/>
          </a:solidFill>
          <a:ln w="12700">
            <a:solidFill>
              <a:srgbClr val="FF6B35"/>
            </a:solidFill>
            <a:prstDash val="solid"/>
          </a:ln>
        </p:spPr>
      </p:sp>
      <p:sp>
        <p:nvSpPr>
          <p:cNvPr id="13" name="Text 11"/>
          <p:cNvSpPr/>
          <p:nvPr/>
        </p:nvSpPr>
        <p:spPr>
          <a:xfrm>
            <a:off x="3163824" y="1097280"/>
            <a:ext cx="713232" cy="713232"/>
          </a:xfrm>
          <a:prstGeom prst="rect">
            <a:avLst/>
          </a:prstGeom>
          <a:noFill/>
          <a:ln/>
        </p:spPr>
        <p:txBody>
          <a:bodyPr wrap="square" lIns="0" tIns="0" rIns="0" bIns="0" rtlCol="0" anchor="ctr"/>
          <a:lstStyle/>
          <a:p>
            <a:pPr algn="ctr" indent="0" marL="0">
              <a:buNone/>
            </a:pPr>
            <a:r>
              <a:rPr lang="en-US" sz="2200" b="1" dirty="0">
                <a:solidFill>
                  <a:srgbClr val="F9FAFB"/>
                </a:solidFill>
                <a:latin typeface="Calibri" pitchFamily="34" charset="0"/>
                <a:ea typeface="Calibri" pitchFamily="34" charset="-122"/>
                <a:cs typeface="Calibri" pitchFamily="34" charset="-120"/>
              </a:rPr>
              <a:t>2</a:t>
            </a:r>
            <a:endParaRPr lang="en-US" sz="2200" dirty="0"/>
          </a:p>
        </p:txBody>
      </p:sp>
      <p:sp>
        <p:nvSpPr>
          <p:cNvPr id="14" name="Text 12"/>
          <p:cNvSpPr/>
          <p:nvPr/>
        </p:nvSpPr>
        <p:spPr>
          <a:xfrm>
            <a:off x="2615184" y="1938528"/>
            <a:ext cx="1828800" cy="347472"/>
          </a:xfrm>
          <a:prstGeom prst="rect">
            <a:avLst/>
          </a:prstGeom>
          <a:noFill/>
          <a:ln/>
        </p:spPr>
        <p:txBody>
          <a:bodyPr wrap="square" lIns="0" tIns="0" rIns="0" bIns="0" rtlCol="0" anchor="ctr"/>
          <a:lstStyle/>
          <a:p>
            <a:pPr algn="ctr" indent="0" marL="0">
              <a:buNone/>
            </a:pPr>
            <a:r>
              <a:rPr lang="en-US" sz="1300" b="1" dirty="0">
                <a:solidFill>
                  <a:srgbClr val="F9FAFB"/>
                </a:solidFill>
                <a:latin typeface="Calibri" pitchFamily="34" charset="0"/>
                <a:ea typeface="Calibri" pitchFamily="34" charset="-122"/>
                <a:cs typeface="Calibri" pitchFamily="34" charset="-120"/>
              </a:rPr>
              <a:t>Formulaire</a:t>
            </a:r>
            <a:endParaRPr lang="en-US" sz="1300" dirty="0"/>
          </a:p>
        </p:txBody>
      </p:sp>
      <p:sp>
        <p:nvSpPr>
          <p:cNvPr id="15" name="Text 13"/>
          <p:cNvSpPr/>
          <p:nvPr/>
        </p:nvSpPr>
        <p:spPr>
          <a:xfrm>
            <a:off x="2615184" y="2331720"/>
            <a:ext cx="1828800" cy="155448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Profil mobilité : zone, âge, statut, véhicule — validation contextuelle dynamique</a:t>
            </a:r>
            <a:endParaRPr lang="en-US" sz="1000" dirty="0"/>
          </a:p>
        </p:txBody>
      </p:sp>
      <p:sp>
        <p:nvSpPr>
          <p:cNvPr id="16" name="Text 14"/>
          <p:cNvSpPr/>
          <p:nvPr/>
        </p:nvSpPr>
        <p:spPr>
          <a:xfrm>
            <a:off x="4517136" y="2103120"/>
            <a:ext cx="274320" cy="365760"/>
          </a:xfrm>
          <a:prstGeom prst="rect">
            <a:avLst/>
          </a:prstGeom>
          <a:noFill/>
          <a:ln/>
        </p:spPr>
        <p:txBody>
          <a:bodyPr wrap="square" lIns="0" tIns="0" rIns="0" bIns="0" rtlCol="0" anchor="ctr"/>
          <a:lstStyle/>
          <a:p>
            <a:pPr algn="ctr" indent="0" marL="0">
              <a:buNone/>
            </a:pPr>
            <a:r>
              <a:rPr lang="en-US" sz="1800" dirty="0">
                <a:solidFill>
                  <a:srgbClr val="FF6B35"/>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4663440" y="987552"/>
            <a:ext cx="1993392" cy="3200400"/>
          </a:xfrm>
          <a:prstGeom prst="roundRect">
            <a:avLst>
              <a:gd name="adj" fmla="val 5505"/>
            </a:avLst>
          </a:prstGeom>
          <a:solidFill>
            <a:srgbClr val="1C2333"/>
          </a:solidFill>
          <a:ln/>
          <a:effectLst>
            <a:outerShdw sx="100000" sy="100000" kx="0" ky="0" algn="bl" rotWithShape="0" blurRad="177800" dist="50800" dir="2700000">
              <a:srgbClr val="000000">
                <a:alpha val="35000"/>
              </a:srgbClr>
            </a:outerShdw>
          </a:effectLst>
        </p:spPr>
      </p:sp>
      <p:sp>
        <p:nvSpPr>
          <p:cNvPr id="18" name="Shape 16"/>
          <p:cNvSpPr/>
          <p:nvPr/>
        </p:nvSpPr>
        <p:spPr>
          <a:xfrm>
            <a:off x="5303520" y="1097280"/>
            <a:ext cx="713232" cy="713232"/>
          </a:xfrm>
          <a:prstGeom prst="ellipse">
            <a:avLst/>
          </a:prstGeom>
          <a:solidFill>
            <a:srgbClr val="FF6B35"/>
          </a:solidFill>
          <a:ln w="12700">
            <a:solidFill>
              <a:srgbClr val="FF6B35"/>
            </a:solidFill>
            <a:prstDash val="solid"/>
          </a:ln>
        </p:spPr>
      </p:sp>
      <p:sp>
        <p:nvSpPr>
          <p:cNvPr id="19" name="Text 17"/>
          <p:cNvSpPr/>
          <p:nvPr/>
        </p:nvSpPr>
        <p:spPr>
          <a:xfrm>
            <a:off x="5303520" y="1097280"/>
            <a:ext cx="713232" cy="713232"/>
          </a:xfrm>
          <a:prstGeom prst="rect">
            <a:avLst/>
          </a:prstGeom>
          <a:noFill/>
          <a:ln/>
        </p:spPr>
        <p:txBody>
          <a:bodyPr wrap="square" lIns="0" tIns="0" rIns="0" bIns="0" rtlCol="0" anchor="ctr"/>
          <a:lstStyle/>
          <a:p>
            <a:pPr algn="ctr" indent="0" marL="0">
              <a:buNone/>
            </a:pPr>
            <a:r>
              <a:rPr lang="en-US" sz="2200" b="1" dirty="0">
                <a:solidFill>
                  <a:srgbClr val="F9FAFB"/>
                </a:solidFill>
                <a:latin typeface="Calibri" pitchFamily="34" charset="0"/>
                <a:ea typeface="Calibri" pitchFamily="34" charset="-122"/>
                <a:cs typeface="Calibri" pitchFamily="34" charset="-120"/>
              </a:rPr>
              <a:t>3</a:t>
            </a:r>
            <a:endParaRPr lang="en-US" sz="2200" dirty="0"/>
          </a:p>
        </p:txBody>
      </p:sp>
      <p:sp>
        <p:nvSpPr>
          <p:cNvPr id="20" name="Text 18"/>
          <p:cNvSpPr/>
          <p:nvPr/>
        </p:nvSpPr>
        <p:spPr>
          <a:xfrm>
            <a:off x="4754880" y="1938528"/>
            <a:ext cx="1828800" cy="347472"/>
          </a:xfrm>
          <a:prstGeom prst="rect">
            <a:avLst/>
          </a:prstGeom>
          <a:noFill/>
          <a:ln/>
        </p:spPr>
        <p:txBody>
          <a:bodyPr wrap="square" lIns="0" tIns="0" rIns="0" bIns="0" rtlCol="0" anchor="ctr"/>
          <a:lstStyle/>
          <a:p>
            <a:pPr algn="ctr" indent="0" marL="0">
              <a:buNone/>
            </a:pPr>
            <a:r>
              <a:rPr lang="en-US" sz="1300" b="1" dirty="0">
                <a:solidFill>
                  <a:srgbClr val="F9FAFB"/>
                </a:solidFill>
                <a:latin typeface="Calibri" pitchFamily="34" charset="0"/>
                <a:ea typeface="Calibri" pitchFamily="34" charset="-122"/>
                <a:cs typeface="Calibri" pitchFamily="34" charset="-120"/>
              </a:rPr>
              <a:t>Recommandation</a:t>
            </a:r>
            <a:endParaRPr lang="en-US" sz="1300" dirty="0"/>
          </a:p>
        </p:txBody>
      </p:sp>
      <p:sp>
        <p:nvSpPr>
          <p:cNvPr id="21" name="Text 19"/>
          <p:cNvSpPr/>
          <p:nvPr/>
        </p:nvSpPr>
        <p:spPr>
          <a:xfrm>
            <a:off x="4754880" y="2331720"/>
            <a:ext cx="1828800" cy="155448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Top 3 modes de transport avec durée, coût et score de confiance</a:t>
            </a:r>
            <a:endParaRPr lang="en-US" sz="1000" dirty="0"/>
          </a:p>
        </p:txBody>
      </p:sp>
      <p:sp>
        <p:nvSpPr>
          <p:cNvPr id="22" name="Text 20"/>
          <p:cNvSpPr/>
          <p:nvPr/>
        </p:nvSpPr>
        <p:spPr>
          <a:xfrm>
            <a:off x="6656832" y="2103120"/>
            <a:ext cx="274320" cy="365760"/>
          </a:xfrm>
          <a:prstGeom prst="rect">
            <a:avLst/>
          </a:prstGeom>
          <a:noFill/>
          <a:ln/>
        </p:spPr>
        <p:txBody>
          <a:bodyPr wrap="square" lIns="0" tIns="0" rIns="0" bIns="0" rtlCol="0" anchor="ctr"/>
          <a:lstStyle/>
          <a:p>
            <a:pPr algn="ctr" indent="0" marL="0">
              <a:buNone/>
            </a:pPr>
            <a:r>
              <a:rPr lang="en-US" sz="1800" dirty="0">
                <a:solidFill>
                  <a:srgbClr val="FF6B35"/>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6803136" y="987552"/>
            <a:ext cx="1993392" cy="3200400"/>
          </a:xfrm>
          <a:prstGeom prst="roundRect">
            <a:avLst>
              <a:gd name="adj" fmla="val 5505"/>
            </a:avLst>
          </a:prstGeom>
          <a:solidFill>
            <a:srgbClr val="1C2333"/>
          </a:solidFill>
          <a:ln/>
          <a:effectLst>
            <a:outerShdw sx="100000" sy="100000" kx="0" ky="0" algn="bl" rotWithShape="0" blurRad="177800" dist="50800" dir="2700000">
              <a:srgbClr val="000000">
                <a:alpha val="35000"/>
              </a:srgbClr>
            </a:outerShdw>
          </a:effectLst>
        </p:spPr>
      </p:sp>
      <p:sp>
        <p:nvSpPr>
          <p:cNvPr id="24" name="Shape 22"/>
          <p:cNvSpPr/>
          <p:nvPr/>
        </p:nvSpPr>
        <p:spPr>
          <a:xfrm>
            <a:off x="7443216" y="1097280"/>
            <a:ext cx="713232" cy="713232"/>
          </a:xfrm>
          <a:prstGeom prst="ellipse">
            <a:avLst/>
          </a:prstGeom>
          <a:solidFill>
            <a:srgbClr val="FF6B35"/>
          </a:solidFill>
          <a:ln w="12700">
            <a:solidFill>
              <a:srgbClr val="FF6B35"/>
            </a:solidFill>
            <a:prstDash val="solid"/>
          </a:ln>
        </p:spPr>
      </p:sp>
      <p:sp>
        <p:nvSpPr>
          <p:cNvPr id="25" name="Text 23"/>
          <p:cNvSpPr/>
          <p:nvPr/>
        </p:nvSpPr>
        <p:spPr>
          <a:xfrm>
            <a:off x="7443216" y="1097280"/>
            <a:ext cx="713232" cy="713232"/>
          </a:xfrm>
          <a:prstGeom prst="rect">
            <a:avLst/>
          </a:prstGeom>
          <a:noFill/>
          <a:ln/>
        </p:spPr>
        <p:txBody>
          <a:bodyPr wrap="square" lIns="0" tIns="0" rIns="0" bIns="0" rtlCol="0" anchor="ctr"/>
          <a:lstStyle/>
          <a:p>
            <a:pPr algn="ctr" indent="0" marL="0">
              <a:buNone/>
            </a:pPr>
            <a:r>
              <a:rPr lang="en-US" sz="2200" b="1" dirty="0">
                <a:solidFill>
                  <a:srgbClr val="F9FAFB"/>
                </a:solidFill>
                <a:latin typeface="Calibri" pitchFamily="34" charset="0"/>
                <a:ea typeface="Calibri" pitchFamily="34" charset="-122"/>
                <a:cs typeface="Calibri" pitchFamily="34" charset="-120"/>
              </a:rPr>
              <a:t>4</a:t>
            </a:r>
            <a:endParaRPr lang="en-US" sz="2200" dirty="0"/>
          </a:p>
        </p:txBody>
      </p:sp>
      <p:sp>
        <p:nvSpPr>
          <p:cNvPr id="26" name="Text 24"/>
          <p:cNvSpPr/>
          <p:nvPr/>
        </p:nvSpPr>
        <p:spPr>
          <a:xfrm>
            <a:off x="6894576" y="1938528"/>
            <a:ext cx="1828800" cy="347472"/>
          </a:xfrm>
          <a:prstGeom prst="rect">
            <a:avLst/>
          </a:prstGeom>
          <a:noFill/>
          <a:ln/>
        </p:spPr>
        <p:txBody>
          <a:bodyPr wrap="square" lIns="0" tIns="0" rIns="0" bIns="0" rtlCol="0" anchor="ctr"/>
          <a:lstStyle/>
          <a:p>
            <a:pPr algn="ctr" indent="0" marL="0">
              <a:buNone/>
            </a:pPr>
            <a:r>
              <a:rPr lang="en-US" sz="1300" b="1" dirty="0">
                <a:solidFill>
                  <a:srgbClr val="F9FAFB"/>
                </a:solidFill>
                <a:latin typeface="Calibri" pitchFamily="34" charset="0"/>
                <a:ea typeface="Calibri" pitchFamily="34" charset="-122"/>
                <a:cs typeface="Calibri" pitchFamily="34" charset="-120"/>
              </a:rPr>
              <a:t>Avis citoyen</a:t>
            </a:r>
            <a:endParaRPr lang="en-US" sz="1300" dirty="0"/>
          </a:p>
        </p:txBody>
      </p:sp>
      <p:sp>
        <p:nvSpPr>
          <p:cNvPr id="27" name="Text 25"/>
          <p:cNvSpPr/>
          <p:nvPr/>
        </p:nvSpPr>
        <p:spPr>
          <a:xfrm>
            <a:off x="6894576" y="2331720"/>
            <a:ext cx="1828800" cy="155448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Note de satisfaction + commentaire libre — boucle de rétroaction qualitative</a:t>
            </a:r>
            <a:endParaRPr lang="en-US" sz="1000" dirty="0"/>
          </a:p>
        </p:txBody>
      </p:sp>
      <p:sp>
        <p:nvSpPr>
          <p:cNvPr id="28" name="Text 26"/>
          <p:cNvSpPr/>
          <p:nvPr/>
        </p:nvSpPr>
        <p:spPr>
          <a:xfrm>
            <a:off x="384048" y="4315968"/>
            <a:ext cx="8375904" cy="292608"/>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Mode clair/sombre disponible sur toutes les pages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457200" y="256032"/>
            <a:ext cx="1005840" cy="64008"/>
          </a:xfrm>
          <a:prstGeom prst="rect">
            <a:avLst/>
          </a:prstGeom>
          <a:solidFill>
            <a:srgbClr val="FF6B35"/>
          </a:solidFill>
          <a:ln w="12700">
            <a:solidFill>
              <a:srgbClr val="FF6B35"/>
            </a:solidFill>
            <a:prstDash val="solid"/>
          </a:ln>
        </p:spPr>
      </p:sp>
      <p:sp>
        <p:nvSpPr>
          <p:cNvPr id="3" name="Text 1"/>
          <p:cNvSpPr/>
          <p:nvPr/>
        </p:nvSpPr>
        <p:spPr>
          <a:xfrm>
            <a:off x="457200" y="365760"/>
            <a:ext cx="8229600" cy="411480"/>
          </a:xfrm>
          <a:prstGeom prst="rect">
            <a:avLst/>
          </a:prstGeom>
          <a:noFill/>
          <a:ln/>
        </p:spPr>
        <p:txBody>
          <a:bodyPr wrap="square" lIns="0" tIns="0" rIns="0" bIns="0" rtlCol="0" anchor="ctr"/>
          <a:lstStyle/>
          <a:p>
            <a:pPr indent="0" marL="0">
              <a:buNone/>
            </a:pPr>
            <a:r>
              <a:rPr lang="en-US" sz="2600" b="1" dirty="0">
                <a:solidFill>
                  <a:srgbClr val="F9FAFB"/>
                </a:solidFill>
                <a:latin typeface="Calibri" pitchFamily="34" charset="0"/>
                <a:ea typeface="Calibri" pitchFamily="34" charset="-122"/>
                <a:cs typeface="Calibri" pitchFamily="34" charset="-120"/>
              </a:rPr>
              <a:t>Espace décideurs — 7 modules</a:t>
            </a:r>
            <a:endParaRPr lang="en-US" sz="2600" dirty="0"/>
          </a:p>
        </p:txBody>
      </p:sp>
      <p:sp>
        <p:nvSpPr>
          <p:cNvPr id="4" name="Text 2"/>
          <p:cNvSpPr/>
          <p:nvPr/>
        </p:nvSpPr>
        <p:spPr>
          <a:xfrm>
            <a:off x="0" y="4892040"/>
            <a:ext cx="9144000" cy="256032"/>
          </a:xfrm>
          <a:prstGeom prst="rect">
            <a:avLst/>
          </a:prstGeom>
          <a:noFill/>
          <a:ln/>
        </p:spPr>
        <p:txBody>
          <a:bodyPr wrap="square" lIns="0" tIns="0" rIns="0" bIns="0" rtlCol="0" anchor="ctr"/>
          <a:lstStyle/>
          <a:p>
            <a:pPr algn="ctr" indent="0" marL="0">
              <a:buNone/>
            </a:pPr>
            <a:r>
              <a:rPr lang="en-US" sz="800" dirty="0">
                <a:solidFill>
                  <a:srgbClr val="374151"/>
                </a:solidFill>
                <a:latin typeface="Calibri" pitchFamily="34" charset="0"/>
                <a:ea typeface="Calibri" pitchFamily="34" charset="-122"/>
                <a:cs typeface="Calibri" pitchFamily="34" charset="-120"/>
              </a:rPr>
              <a:t>ESPRIT · SIMAC · CETUD  |  11 / 18</a:t>
            </a:r>
            <a:endParaRPr lang="en-US" sz="800" dirty="0"/>
          </a:p>
        </p:txBody>
      </p:sp>
      <p:sp>
        <p:nvSpPr>
          <p:cNvPr id="5" name="Shape 3"/>
          <p:cNvSpPr/>
          <p:nvPr/>
        </p:nvSpPr>
        <p:spPr>
          <a:xfrm>
            <a:off x="384048" y="960120"/>
            <a:ext cx="4160520" cy="804672"/>
          </a:xfrm>
          <a:prstGeom prst="roundRect">
            <a:avLst>
              <a:gd name="adj" fmla="val 13636"/>
            </a:avLst>
          </a:prstGeom>
          <a:solidFill>
            <a:srgbClr val="1C2333"/>
          </a:solidFill>
          <a:ln/>
          <a:effectLst>
            <a:outerShdw sx="100000" sy="100000" kx="0" ky="0" algn="bl" rotWithShape="0" blurRad="177800" dist="50800" dir="2700000">
              <a:srgbClr val="000000">
                <a:alpha val="35000"/>
              </a:srgbClr>
            </a:outerShdw>
          </a:effectLst>
        </p:spPr>
      </p:sp>
      <p:sp>
        <p:nvSpPr>
          <p:cNvPr id="6" name="Shape 4"/>
          <p:cNvSpPr/>
          <p:nvPr/>
        </p:nvSpPr>
        <p:spPr>
          <a:xfrm>
            <a:off x="475488" y="1051560"/>
            <a:ext cx="987552" cy="256032"/>
          </a:xfrm>
          <a:prstGeom prst="roundRect">
            <a:avLst>
              <a:gd name="adj" fmla="val 17857"/>
            </a:avLst>
          </a:prstGeom>
          <a:solidFill>
            <a:srgbClr val="1A2E1A"/>
          </a:solidFill>
          <a:ln w="12700">
            <a:solidFill>
              <a:srgbClr val="10B981"/>
            </a:solidFill>
            <a:prstDash val="solid"/>
          </a:ln>
        </p:spPr>
      </p:sp>
      <p:sp>
        <p:nvSpPr>
          <p:cNvPr id="7" name="Text 5"/>
          <p:cNvSpPr/>
          <p:nvPr/>
        </p:nvSpPr>
        <p:spPr>
          <a:xfrm>
            <a:off x="475488" y="1051560"/>
            <a:ext cx="987552" cy="256032"/>
          </a:xfrm>
          <a:prstGeom prst="rect">
            <a:avLst/>
          </a:prstGeom>
          <a:noFill/>
          <a:ln/>
        </p:spPr>
        <p:txBody>
          <a:bodyPr wrap="square" lIns="0" tIns="0" rIns="0" bIns="0" rtlCol="0" anchor="ctr"/>
          <a:lstStyle/>
          <a:p>
            <a:pPr algn="ctr" indent="0" marL="0">
              <a:buNone/>
            </a:pPr>
            <a:r>
              <a:rPr lang="en-US" sz="800" dirty="0">
                <a:solidFill>
                  <a:srgbClr val="10B981"/>
                </a:solidFill>
                <a:latin typeface="Calibri" pitchFamily="34" charset="0"/>
                <a:ea typeface="Calibri" pitchFamily="34" charset="-122"/>
                <a:cs typeface="Calibri" pitchFamily="34" charset="-120"/>
              </a:rPr>
              <a:t>Tous</a:t>
            </a:r>
            <a:endParaRPr lang="en-US" sz="800" dirty="0"/>
          </a:p>
        </p:txBody>
      </p:sp>
      <p:sp>
        <p:nvSpPr>
          <p:cNvPr id="8" name="Text 6"/>
          <p:cNvSpPr/>
          <p:nvPr/>
        </p:nvSpPr>
        <p:spPr>
          <a:xfrm>
            <a:off x="1527048" y="1014984"/>
            <a:ext cx="2834640" cy="320040"/>
          </a:xfrm>
          <a:prstGeom prst="rect">
            <a:avLst/>
          </a:prstGeom>
          <a:noFill/>
          <a:ln/>
        </p:spPr>
        <p:txBody>
          <a:bodyPr wrap="square" lIns="0" tIns="0" rIns="0" bIns="0" rtlCol="0" anchor="ctr"/>
          <a:lstStyle/>
          <a:p>
            <a:pPr indent="0" marL="0">
              <a:buNone/>
            </a:pPr>
            <a:r>
              <a:rPr lang="en-US" sz="1200" b="1" dirty="0">
                <a:solidFill>
                  <a:srgbClr val="F9FAFB"/>
                </a:solidFill>
                <a:latin typeface="Calibri" pitchFamily="34" charset="0"/>
                <a:ea typeface="Calibri" pitchFamily="34" charset="-122"/>
                <a:cs typeface="Calibri" pitchFamily="34" charset="-120"/>
              </a:rPr>
              <a:t>Vue Générale</a:t>
            </a:r>
            <a:endParaRPr lang="en-US" sz="1200" dirty="0"/>
          </a:p>
        </p:txBody>
      </p:sp>
      <p:sp>
        <p:nvSpPr>
          <p:cNvPr id="9" name="Text 7"/>
          <p:cNvSpPr/>
          <p:nvPr/>
        </p:nvSpPr>
        <p:spPr>
          <a:xfrm>
            <a:off x="1527048" y="1362456"/>
            <a:ext cx="2926080" cy="32004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KPIs globaux : trafic, zones à risque, anomalies</a:t>
            </a:r>
            <a:endParaRPr lang="en-US" sz="1000" dirty="0"/>
          </a:p>
        </p:txBody>
      </p:sp>
      <p:sp>
        <p:nvSpPr>
          <p:cNvPr id="10" name="Shape 8"/>
          <p:cNvSpPr/>
          <p:nvPr/>
        </p:nvSpPr>
        <p:spPr>
          <a:xfrm>
            <a:off x="384048" y="1947672"/>
            <a:ext cx="4160520" cy="804672"/>
          </a:xfrm>
          <a:prstGeom prst="roundRect">
            <a:avLst>
              <a:gd name="adj" fmla="val 13636"/>
            </a:avLst>
          </a:prstGeom>
          <a:solidFill>
            <a:srgbClr val="1C2333"/>
          </a:solidFill>
          <a:ln/>
          <a:effectLst>
            <a:outerShdw sx="100000" sy="100000" kx="0" ky="0" algn="bl" rotWithShape="0" blurRad="177800" dist="50800" dir="2700000">
              <a:srgbClr val="000000">
                <a:alpha val="35000"/>
              </a:srgbClr>
            </a:outerShdw>
          </a:effectLst>
        </p:spPr>
      </p:sp>
      <p:sp>
        <p:nvSpPr>
          <p:cNvPr id="11" name="Shape 9"/>
          <p:cNvSpPr/>
          <p:nvPr/>
        </p:nvSpPr>
        <p:spPr>
          <a:xfrm>
            <a:off x="475488" y="2039112"/>
            <a:ext cx="987552" cy="256032"/>
          </a:xfrm>
          <a:prstGeom prst="roundRect">
            <a:avLst>
              <a:gd name="adj" fmla="val 17857"/>
            </a:avLst>
          </a:prstGeom>
          <a:solidFill>
            <a:srgbClr val="1A2E1A"/>
          </a:solidFill>
          <a:ln w="12700">
            <a:solidFill>
              <a:srgbClr val="10B981"/>
            </a:solidFill>
            <a:prstDash val="solid"/>
          </a:ln>
        </p:spPr>
      </p:sp>
      <p:sp>
        <p:nvSpPr>
          <p:cNvPr id="12" name="Text 10"/>
          <p:cNvSpPr/>
          <p:nvPr/>
        </p:nvSpPr>
        <p:spPr>
          <a:xfrm>
            <a:off x="475488" y="2039112"/>
            <a:ext cx="987552" cy="256032"/>
          </a:xfrm>
          <a:prstGeom prst="rect">
            <a:avLst/>
          </a:prstGeom>
          <a:noFill/>
          <a:ln/>
        </p:spPr>
        <p:txBody>
          <a:bodyPr wrap="square" lIns="0" tIns="0" rIns="0" bIns="0" rtlCol="0" anchor="ctr"/>
          <a:lstStyle/>
          <a:p>
            <a:pPr algn="ctr" indent="0" marL="0">
              <a:buNone/>
            </a:pPr>
            <a:r>
              <a:rPr lang="en-US" sz="800" dirty="0">
                <a:solidFill>
                  <a:srgbClr val="10B981"/>
                </a:solidFill>
                <a:latin typeface="Calibri" pitchFamily="34" charset="0"/>
                <a:ea typeface="Calibri" pitchFamily="34" charset="-122"/>
                <a:cs typeface="Calibri" pitchFamily="34" charset="-120"/>
              </a:rPr>
              <a:t>Tous</a:t>
            </a:r>
            <a:endParaRPr lang="en-US" sz="800" dirty="0"/>
          </a:p>
        </p:txBody>
      </p:sp>
      <p:sp>
        <p:nvSpPr>
          <p:cNvPr id="13" name="Text 11"/>
          <p:cNvSpPr/>
          <p:nvPr/>
        </p:nvSpPr>
        <p:spPr>
          <a:xfrm>
            <a:off x="1527048" y="2002536"/>
            <a:ext cx="2834640" cy="320040"/>
          </a:xfrm>
          <a:prstGeom prst="rect">
            <a:avLst/>
          </a:prstGeom>
          <a:noFill/>
          <a:ln/>
        </p:spPr>
        <p:txBody>
          <a:bodyPr wrap="square" lIns="0" tIns="0" rIns="0" bIns="0" rtlCol="0" anchor="ctr"/>
          <a:lstStyle/>
          <a:p>
            <a:pPr indent="0" marL="0">
              <a:buNone/>
            </a:pPr>
            <a:r>
              <a:rPr lang="en-US" sz="1200" b="1" dirty="0">
                <a:solidFill>
                  <a:srgbClr val="F9FAFB"/>
                </a:solidFill>
                <a:latin typeface="Calibri" pitchFamily="34" charset="0"/>
                <a:ea typeface="Calibri" pitchFamily="34" charset="-122"/>
                <a:cs typeface="Calibri" pitchFamily="34" charset="-120"/>
              </a:rPr>
              <a:t>Zones à Risque</a:t>
            </a:r>
            <a:endParaRPr lang="en-US" sz="1200" dirty="0"/>
          </a:p>
        </p:txBody>
      </p:sp>
      <p:sp>
        <p:nvSpPr>
          <p:cNvPr id="14" name="Text 12"/>
          <p:cNvSpPr/>
          <p:nvPr/>
        </p:nvSpPr>
        <p:spPr>
          <a:xfrm>
            <a:off x="1527048" y="2350008"/>
            <a:ext cx="2926080" cy="32004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41 zones · 4 niveaux · export PDF</a:t>
            </a:r>
            <a:endParaRPr lang="en-US" sz="1000" dirty="0"/>
          </a:p>
        </p:txBody>
      </p:sp>
      <p:sp>
        <p:nvSpPr>
          <p:cNvPr id="15" name="Shape 13"/>
          <p:cNvSpPr/>
          <p:nvPr/>
        </p:nvSpPr>
        <p:spPr>
          <a:xfrm>
            <a:off x="384048" y="2935224"/>
            <a:ext cx="4160520" cy="804672"/>
          </a:xfrm>
          <a:prstGeom prst="roundRect">
            <a:avLst>
              <a:gd name="adj" fmla="val 13636"/>
            </a:avLst>
          </a:prstGeom>
          <a:solidFill>
            <a:srgbClr val="1C2333"/>
          </a:solidFill>
          <a:ln/>
          <a:effectLst>
            <a:outerShdw sx="100000" sy="100000" kx="0" ky="0" algn="bl" rotWithShape="0" blurRad="177800" dist="50800" dir="2700000">
              <a:srgbClr val="000000">
                <a:alpha val="35000"/>
              </a:srgbClr>
            </a:outerShdw>
          </a:effectLst>
        </p:spPr>
      </p:sp>
      <p:sp>
        <p:nvSpPr>
          <p:cNvPr id="16" name="Shape 14"/>
          <p:cNvSpPr/>
          <p:nvPr/>
        </p:nvSpPr>
        <p:spPr>
          <a:xfrm>
            <a:off x="475488" y="3026664"/>
            <a:ext cx="987552" cy="256032"/>
          </a:xfrm>
          <a:prstGeom prst="roundRect">
            <a:avLst>
              <a:gd name="adj" fmla="val 17857"/>
            </a:avLst>
          </a:prstGeom>
          <a:solidFill>
            <a:srgbClr val="1A2E1A"/>
          </a:solidFill>
          <a:ln w="12700">
            <a:solidFill>
              <a:srgbClr val="10B981"/>
            </a:solidFill>
            <a:prstDash val="solid"/>
          </a:ln>
        </p:spPr>
      </p:sp>
      <p:sp>
        <p:nvSpPr>
          <p:cNvPr id="17" name="Text 15"/>
          <p:cNvSpPr/>
          <p:nvPr/>
        </p:nvSpPr>
        <p:spPr>
          <a:xfrm>
            <a:off x="475488" y="3026664"/>
            <a:ext cx="987552" cy="256032"/>
          </a:xfrm>
          <a:prstGeom prst="rect">
            <a:avLst/>
          </a:prstGeom>
          <a:noFill/>
          <a:ln/>
        </p:spPr>
        <p:txBody>
          <a:bodyPr wrap="square" lIns="0" tIns="0" rIns="0" bIns="0" rtlCol="0" anchor="ctr"/>
          <a:lstStyle/>
          <a:p>
            <a:pPr algn="ctr" indent="0" marL="0">
              <a:buNone/>
            </a:pPr>
            <a:r>
              <a:rPr lang="en-US" sz="800" dirty="0">
                <a:solidFill>
                  <a:srgbClr val="10B981"/>
                </a:solidFill>
                <a:latin typeface="Calibri" pitchFamily="34" charset="0"/>
                <a:ea typeface="Calibri" pitchFamily="34" charset="-122"/>
                <a:cs typeface="Calibri" pitchFamily="34" charset="-120"/>
              </a:rPr>
              <a:t>Tous</a:t>
            </a:r>
            <a:endParaRPr lang="en-US" sz="800" dirty="0"/>
          </a:p>
        </p:txBody>
      </p:sp>
      <p:sp>
        <p:nvSpPr>
          <p:cNvPr id="18" name="Text 16"/>
          <p:cNvSpPr/>
          <p:nvPr/>
        </p:nvSpPr>
        <p:spPr>
          <a:xfrm>
            <a:off x="1527048" y="2990088"/>
            <a:ext cx="2834640" cy="320040"/>
          </a:xfrm>
          <a:prstGeom prst="rect">
            <a:avLst/>
          </a:prstGeom>
          <a:noFill/>
          <a:ln/>
        </p:spPr>
        <p:txBody>
          <a:bodyPr wrap="square" lIns="0" tIns="0" rIns="0" bIns="0" rtlCol="0" anchor="ctr"/>
          <a:lstStyle/>
          <a:p>
            <a:pPr indent="0" marL="0">
              <a:buNone/>
            </a:pPr>
            <a:r>
              <a:rPr lang="en-US" sz="1200" b="1" dirty="0">
                <a:solidFill>
                  <a:srgbClr val="F9FAFB"/>
                </a:solidFill>
                <a:latin typeface="Calibri" pitchFamily="34" charset="0"/>
                <a:ea typeface="Calibri" pitchFamily="34" charset="-122"/>
                <a:cs typeface="Calibri" pitchFamily="34" charset="-120"/>
              </a:rPr>
              <a:t>Anomalies Trafic</a:t>
            </a:r>
            <a:endParaRPr lang="en-US" sz="1200" dirty="0"/>
          </a:p>
        </p:txBody>
      </p:sp>
      <p:sp>
        <p:nvSpPr>
          <p:cNvPr id="19" name="Text 17"/>
          <p:cNvSpPr/>
          <p:nvPr/>
        </p:nvSpPr>
        <p:spPr>
          <a:xfrm>
            <a:off x="1527048" y="3337560"/>
            <a:ext cx="2926080" cy="32004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723 anomalies · drill-down · export PDF</a:t>
            </a:r>
            <a:endParaRPr lang="en-US" sz="1000" dirty="0"/>
          </a:p>
        </p:txBody>
      </p:sp>
      <p:sp>
        <p:nvSpPr>
          <p:cNvPr id="20" name="Shape 18"/>
          <p:cNvSpPr/>
          <p:nvPr/>
        </p:nvSpPr>
        <p:spPr>
          <a:xfrm>
            <a:off x="384048" y="3922776"/>
            <a:ext cx="4160520" cy="804672"/>
          </a:xfrm>
          <a:prstGeom prst="roundRect">
            <a:avLst>
              <a:gd name="adj" fmla="val 13636"/>
            </a:avLst>
          </a:prstGeom>
          <a:solidFill>
            <a:srgbClr val="1C2333"/>
          </a:solidFill>
          <a:ln/>
          <a:effectLst>
            <a:outerShdw sx="100000" sy="100000" kx="0" ky="0" algn="bl" rotWithShape="0" blurRad="177800" dist="50800" dir="2700000">
              <a:srgbClr val="000000">
                <a:alpha val="35000"/>
              </a:srgbClr>
            </a:outerShdw>
          </a:effectLst>
        </p:spPr>
      </p:sp>
      <p:sp>
        <p:nvSpPr>
          <p:cNvPr id="21" name="Shape 19"/>
          <p:cNvSpPr/>
          <p:nvPr/>
        </p:nvSpPr>
        <p:spPr>
          <a:xfrm>
            <a:off x="475488" y="4014216"/>
            <a:ext cx="987552" cy="256032"/>
          </a:xfrm>
          <a:prstGeom prst="roundRect">
            <a:avLst>
              <a:gd name="adj" fmla="val 17857"/>
            </a:avLst>
          </a:prstGeom>
          <a:solidFill>
            <a:srgbClr val="1A2E1A"/>
          </a:solidFill>
          <a:ln w="12700">
            <a:solidFill>
              <a:srgbClr val="10B981"/>
            </a:solidFill>
            <a:prstDash val="solid"/>
          </a:ln>
        </p:spPr>
      </p:sp>
      <p:sp>
        <p:nvSpPr>
          <p:cNvPr id="22" name="Text 20"/>
          <p:cNvSpPr/>
          <p:nvPr/>
        </p:nvSpPr>
        <p:spPr>
          <a:xfrm>
            <a:off x="475488" y="4014216"/>
            <a:ext cx="987552" cy="256032"/>
          </a:xfrm>
          <a:prstGeom prst="rect">
            <a:avLst/>
          </a:prstGeom>
          <a:noFill/>
          <a:ln/>
        </p:spPr>
        <p:txBody>
          <a:bodyPr wrap="square" lIns="0" tIns="0" rIns="0" bIns="0" rtlCol="0" anchor="ctr"/>
          <a:lstStyle/>
          <a:p>
            <a:pPr algn="ctr" indent="0" marL="0">
              <a:buNone/>
            </a:pPr>
            <a:r>
              <a:rPr lang="en-US" sz="800" dirty="0">
                <a:solidFill>
                  <a:srgbClr val="10B981"/>
                </a:solidFill>
                <a:latin typeface="Calibri" pitchFamily="34" charset="0"/>
                <a:ea typeface="Calibri" pitchFamily="34" charset="-122"/>
                <a:cs typeface="Calibri" pitchFamily="34" charset="-120"/>
              </a:rPr>
              <a:t>Tous</a:t>
            </a:r>
            <a:endParaRPr lang="en-US" sz="800" dirty="0"/>
          </a:p>
        </p:txBody>
      </p:sp>
      <p:sp>
        <p:nvSpPr>
          <p:cNvPr id="23" name="Text 21"/>
          <p:cNvSpPr/>
          <p:nvPr/>
        </p:nvSpPr>
        <p:spPr>
          <a:xfrm>
            <a:off x="1527048" y="3977640"/>
            <a:ext cx="2834640" cy="320040"/>
          </a:xfrm>
          <a:prstGeom prst="rect">
            <a:avLst/>
          </a:prstGeom>
          <a:noFill/>
          <a:ln/>
        </p:spPr>
        <p:txBody>
          <a:bodyPr wrap="square" lIns="0" tIns="0" rIns="0" bIns="0" rtlCol="0" anchor="ctr"/>
          <a:lstStyle/>
          <a:p>
            <a:pPr indent="0" marL="0">
              <a:buNone/>
            </a:pPr>
            <a:r>
              <a:rPr lang="en-US" sz="1200" b="1" dirty="0">
                <a:solidFill>
                  <a:srgbClr val="F9FAFB"/>
                </a:solidFill>
                <a:latin typeface="Calibri" pitchFamily="34" charset="0"/>
                <a:ea typeface="Calibri" pitchFamily="34" charset="-122"/>
                <a:cs typeface="Calibri" pitchFamily="34" charset="-120"/>
              </a:rPr>
              <a:t>Segmentation</a:t>
            </a:r>
            <a:endParaRPr lang="en-US" sz="1200" dirty="0"/>
          </a:p>
        </p:txBody>
      </p:sp>
      <p:sp>
        <p:nvSpPr>
          <p:cNvPr id="24" name="Text 22"/>
          <p:cNvSpPr/>
          <p:nvPr/>
        </p:nvSpPr>
        <p:spPr>
          <a:xfrm>
            <a:off x="1527048" y="4325112"/>
            <a:ext cx="2926080" cy="32004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5 profils K-Means · caractéristiques</a:t>
            </a:r>
            <a:endParaRPr lang="en-US" sz="1000" dirty="0"/>
          </a:p>
        </p:txBody>
      </p:sp>
      <p:sp>
        <p:nvSpPr>
          <p:cNvPr id="25" name="Shape 23"/>
          <p:cNvSpPr/>
          <p:nvPr/>
        </p:nvSpPr>
        <p:spPr>
          <a:xfrm>
            <a:off x="4846320" y="960120"/>
            <a:ext cx="4160520" cy="804672"/>
          </a:xfrm>
          <a:prstGeom prst="roundRect">
            <a:avLst>
              <a:gd name="adj" fmla="val 13636"/>
            </a:avLst>
          </a:prstGeom>
          <a:solidFill>
            <a:srgbClr val="1C2333"/>
          </a:solidFill>
          <a:ln/>
          <a:effectLst>
            <a:outerShdw sx="100000" sy="100000" kx="0" ky="0" algn="bl" rotWithShape="0" blurRad="177800" dist="50800" dir="2700000">
              <a:srgbClr val="000000">
                <a:alpha val="35000"/>
              </a:srgbClr>
            </a:outerShdw>
          </a:effectLst>
        </p:spPr>
      </p:sp>
      <p:sp>
        <p:nvSpPr>
          <p:cNvPr id="26" name="Shape 24"/>
          <p:cNvSpPr/>
          <p:nvPr/>
        </p:nvSpPr>
        <p:spPr>
          <a:xfrm>
            <a:off x="4937760" y="1051560"/>
            <a:ext cx="987552" cy="256032"/>
          </a:xfrm>
          <a:prstGeom prst="roundRect">
            <a:avLst>
              <a:gd name="adj" fmla="val 17857"/>
            </a:avLst>
          </a:prstGeom>
          <a:solidFill>
            <a:srgbClr val="1A2E1A"/>
          </a:solidFill>
          <a:ln w="12700">
            <a:solidFill>
              <a:srgbClr val="10B981"/>
            </a:solidFill>
            <a:prstDash val="solid"/>
          </a:ln>
        </p:spPr>
      </p:sp>
      <p:sp>
        <p:nvSpPr>
          <p:cNvPr id="27" name="Text 25"/>
          <p:cNvSpPr/>
          <p:nvPr/>
        </p:nvSpPr>
        <p:spPr>
          <a:xfrm>
            <a:off x="4937760" y="1051560"/>
            <a:ext cx="987552" cy="256032"/>
          </a:xfrm>
          <a:prstGeom prst="rect">
            <a:avLst/>
          </a:prstGeom>
          <a:noFill/>
          <a:ln/>
        </p:spPr>
        <p:txBody>
          <a:bodyPr wrap="square" lIns="0" tIns="0" rIns="0" bIns="0" rtlCol="0" anchor="ctr"/>
          <a:lstStyle/>
          <a:p>
            <a:pPr algn="ctr" indent="0" marL="0">
              <a:buNone/>
            </a:pPr>
            <a:r>
              <a:rPr lang="en-US" sz="800" dirty="0">
                <a:solidFill>
                  <a:srgbClr val="10B981"/>
                </a:solidFill>
                <a:latin typeface="Calibri" pitchFamily="34" charset="0"/>
                <a:ea typeface="Calibri" pitchFamily="34" charset="-122"/>
                <a:cs typeface="Calibri" pitchFamily="34" charset="-120"/>
              </a:rPr>
              <a:t>Tous</a:t>
            </a:r>
            <a:endParaRPr lang="en-US" sz="800" dirty="0"/>
          </a:p>
        </p:txBody>
      </p:sp>
      <p:sp>
        <p:nvSpPr>
          <p:cNvPr id="28" name="Text 26"/>
          <p:cNvSpPr/>
          <p:nvPr/>
        </p:nvSpPr>
        <p:spPr>
          <a:xfrm>
            <a:off x="5989320" y="1014984"/>
            <a:ext cx="2834640" cy="320040"/>
          </a:xfrm>
          <a:prstGeom prst="rect">
            <a:avLst/>
          </a:prstGeom>
          <a:noFill/>
          <a:ln/>
        </p:spPr>
        <p:txBody>
          <a:bodyPr wrap="square" lIns="0" tIns="0" rIns="0" bIns="0" rtlCol="0" anchor="ctr"/>
          <a:lstStyle/>
          <a:p>
            <a:pPr indent="0" marL="0">
              <a:buNone/>
            </a:pPr>
            <a:r>
              <a:rPr lang="en-US" sz="1200" b="1" dirty="0">
                <a:solidFill>
                  <a:srgbClr val="F9FAFB"/>
                </a:solidFill>
                <a:latin typeface="Calibri" pitchFamily="34" charset="0"/>
                <a:ea typeface="Calibri" pitchFamily="34" charset="-122"/>
                <a:cs typeface="Calibri" pitchFamily="34" charset="-120"/>
              </a:rPr>
              <a:t>Simulateur Risque</a:t>
            </a:r>
            <a:endParaRPr lang="en-US" sz="1200" dirty="0"/>
          </a:p>
        </p:txBody>
      </p:sp>
      <p:sp>
        <p:nvSpPr>
          <p:cNvPr id="29" name="Text 27"/>
          <p:cNvSpPr/>
          <p:nvPr/>
        </p:nvSpPr>
        <p:spPr>
          <a:xfrm>
            <a:off x="5989320" y="1362456"/>
            <a:ext cx="2926080" cy="32004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7 curseurs · score temps réel</a:t>
            </a:r>
            <a:endParaRPr lang="en-US" sz="1000" dirty="0"/>
          </a:p>
        </p:txBody>
      </p:sp>
      <p:sp>
        <p:nvSpPr>
          <p:cNvPr id="30" name="Shape 28"/>
          <p:cNvSpPr/>
          <p:nvPr/>
        </p:nvSpPr>
        <p:spPr>
          <a:xfrm>
            <a:off x="4846320" y="1947672"/>
            <a:ext cx="4160520" cy="804672"/>
          </a:xfrm>
          <a:prstGeom prst="roundRect">
            <a:avLst>
              <a:gd name="adj" fmla="val 13636"/>
            </a:avLst>
          </a:prstGeom>
          <a:solidFill>
            <a:srgbClr val="1A1D2E"/>
          </a:solidFill>
          <a:ln/>
          <a:effectLst>
            <a:outerShdw sx="100000" sy="100000" kx="0" ky="0" algn="bl" rotWithShape="0" blurRad="177800" dist="50800" dir="2700000">
              <a:srgbClr val="000000">
                <a:alpha val="35000"/>
              </a:srgbClr>
            </a:outerShdw>
          </a:effectLst>
        </p:spPr>
      </p:sp>
      <p:sp>
        <p:nvSpPr>
          <p:cNvPr id="31" name="Shape 29"/>
          <p:cNvSpPr/>
          <p:nvPr/>
        </p:nvSpPr>
        <p:spPr>
          <a:xfrm>
            <a:off x="4937760" y="2039112"/>
            <a:ext cx="987552" cy="256032"/>
          </a:xfrm>
          <a:prstGeom prst="roundRect">
            <a:avLst>
              <a:gd name="adj" fmla="val 17857"/>
            </a:avLst>
          </a:prstGeom>
          <a:solidFill>
            <a:srgbClr val="2D1A5E"/>
          </a:solidFill>
          <a:ln w="12700">
            <a:solidFill>
              <a:srgbClr val="06B6D4"/>
            </a:solidFill>
            <a:prstDash val="solid"/>
          </a:ln>
        </p:spPr>
      </p:sp>
      <p:sp>
        <p:nvSpPr>
          <p:cNvPr id="32" name="Text 30"/>
          <p:cNvSpPr/>
          <p:nvPr/>
        </p:nvSpPr>
        <p:spPr>
          <a:xfrm>
            <a:off x="4937760" y="2039112"/>
            <a:ext cx="987552" cy="256032"/>
          </a:xfrm>
          <a:prstGeom prst="rect">
            <a:avLst/>
          </a:prstGeom>
          <a:noFill/>
          <a:ln/>
        </p:spPr>
        <p:txBody>
          <a:bodyPr wrap="square" lIns="0" tIns="0" rIns="0" bIns="0" rtlCol="0" anchor="ctr"/>
          <a:lstStyle/>
          <a:p>
            <a:pPr algn="ctr" indent="0" marL="0">
              <a:buNone/>
            </a:pPr>
            <a:r>
              <a:rPr lang="en-US" sz="800" dirty="0">
                <a:solidFill>
                  <a:srgbClr val="06B6D4"/>
                </a:solidFill>
                <a:latin typeface="Calibri" pitchFamily="34" charset="0"/>
                <a:ea typeface="Calibri" pitchFamily="34" charset="-122"/>
                <a:cs typeface="Calibri" pitchFamily="34" charset="-120"/>
              </a:rPr>
              <a:t>Directeur</a:t>
            </a:r>
            <a:endParaRPr lang="en-US" sz="800" dirty="0"/>
          </a:p>
        </p:txBody>
      </p:sp>
      <p:sp>
        <p:nvSpPr>
          <p:cNvPr id="33" name="Text 31"/>
          <p:cNvSpPr/>
          <p:nvPr/>
        </p:nvSpPr>
        <p:spPr>
          <a:xfrm>
            <a:off x="5989320" y="2002536"/>
            <a:ext cx="2834640" cy="320040"/>
          </a:xfrm>
          <a:prstGeom prst="rect">
            <a:avLst/>
          </a:prstGeom>
          <a:noFill/>
          <a:ln/>
        </p:spPr>
        <p:txBody>
          <a:bodyPr wrap="square" lIns="0" tIns="0" rIns="0" bIns="0" rtlCol="0" anchor="ctr"/>
          <a:lstStyle/>
          <a:p>
            <a:pPr indent="0" marL="0">
              <a:buNone/>
            </a:pPr>
            <a:r>
              <a:rPr lang="en-US" sz="1200" b="1" dirty="0">
                <a:solidFill>
                  <a:srgbClr val="F9FAFB"/>
                </a:solidFill>
                <a:latin typeface="Calibri" pitchFamily="34" charset="0"/>
                <a:ea typeface="Calibri" pitchFamily="34" charset="-122"/>
                <a:cs typeface="Calibri" pitchFamily="34" charset="-120"/>
              </a:rPr>
              <a:t>ML Insights</a:t>
            </a:r>
            <a:endParaRPr lang="en-US" sz="1200" dirty="0"/>
          </a:p>
        </p:txBody>
      </p:sp>
      <p:sp>
        <p:nvSpPr>
          <p:cNvPr id="34" name="Text 32"/>
          <p:cNvSpPr/>
          <p:nvPr/>
        </p:nvSpPr>
        <p:spPr>
          <a:xfrm>
            <a:off x="5989320" y="2350008"/>
            <a:ext cx="2926080" cy="32004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Métriques · importance variables</a:t>
            </a:r>
            <a:endParaRPr lang="en-US" sz="1000" dirty="0"/>
          </a:p>
        </p:txBody>
      </p:sp>
      <p:sp>
        <p:nvSpPr>
          <p:cNvPr id="35" name="Shape 33"/>
          <p:cNvSpPr/>
          <p:nvPr/>
        </p:nvSpPr>
        <p:spPr>
          <a:xfrm>
            <a:off x="4846320" y="2935224"/>
            <a:ext cx="4160520" cy="804672"/>
          </a:xfrm>
          <a:prstGeom prst="roundRect">
            <a:avLst>
              <a:gd name="adj" fmla="val 13636"/>
            </a:avLst>
          </a:prstGeom>
          <a:solidFill>
            <a:srgbClr val="1A1D2E"/>
          </a:solidFill>
          <a:ln/>
          <a:effectLst>
            <a:outerShdw sx="100000" sy="100000" kx="0" ky="0" algn="bl" rotWithShape="0" blurRad="177800" dist="50800" dir="2700000">
              <a:srgbClr val="000000">
                <a:alpha val="35000"/>
              </a:srgbClr>
            </a:outerShdw>
          </a:effectLst>
        </p:spPr>
      </p:sp>
      <p:sp>
        <p:nvSpPr>
          <p:cNvPr id="36" name="Shape 34"/>
          <p:cNvSpPr/>
          <p:nvPr/>
        </p:nvSpPr>
        <p:spPr>
          <a:xfrm>
            <a:off x="4937760" y="3026664"/>
            <a:ext cx="987552" cy="256032"/>
          </a:xfrm>
          <a:prstGeom prst="roundRect">
            <a:avLst>
              <a:gd name="adj" fmla="val 17857"/>
            </a:avLst>
          </a:prstGeom>
          <a:solidFill>
            <a:srgbClr val="2D1A5E"/>
          </a:solidFill>
          <a:ln w="12700">
            <a:solidFill>
              <a:srgbClr val="06B6D4"/>
            </a:solidFill>
            <a:prstDash val="solid"/>
          </a:ln>
        </p:spPr>
      </p:sp>
      <p:sp>
        <p:nvSpPr>
          <p:cNvPr id="37" name="Text 35"/>
          <p:cNvSpPr/>
          <p:nvPr/>
        </p:nvSpPr>
        <p:spPr>
          <a:xfrm>
            <a:off x="4937760" y="3026664"/>
            <a:ext cx="987552" cy="256032"/>
          </a:xfrm>
          <a:prstGeom prst="rect">
            <a:avLst/>
          </a:prstGeom>
          <a:noFill/>
          <a:ln/>
        </p:spPr>
        <p:txBody>
          <a:bodyPr wrap="square" lIns="0" tIns="0" rIns="0" bIns="0" rtlCol="0" anchor="ctr"/>
          <a:lstStyle/>
          <a:p>
            <a:pPr algn="ctr" indent="0" marL="0">
              <a:buNone/>
            </a:pPr>
            <a:r>
              <a:rPr lang="en-US" sz="800" dirty="0">
                <a:solidFill>
                  <a:srgbClr val="06B6D4"/>
                </a:solidFill>
                <a:latin typeface="Calibri" pitchFamily="34" charset="0"/>
                <a:ea typeface="Calibri" pitchFamily="34" charset="-122"/>
                <a:cs typeface="Calibri" pitchFamily="34" charset="-120"/>
              </a:rPr>
              <a:t>Directeur</a:t>
            </a:r>
            <a:endParaRPr lang="en-US" sz="800" dirty="0"/>
          </a:p>
        </p:txBody>
      </p:sp>
      <p:sp>
        <p:nvSpPr>
          <p:cNvPr id="38" name="Text 36"/>
          <p:cNvSpPr/>
          <p:nvPr/>
        </p:nvSpPr>
        <p:spPr>
          <a:xfrm>
            <a:off x="5989320" y="2990088"/>
            <a:ext cx="2834640" cy="320040"/>
          </a:xfrm>
          <a:prstGeom prst="rect">
            <a:avLst/>
          </a:prstGeom>
          <a:noFill/>
          <a:ln/>
        </p:spPr>
        <p:txBody>
          <a:bodyPr wrap="square" lIns="0" tIns="0" rIns="0" bIns="0" rtlCol="0" anchor="ctr"/>
          <a:lstStyle/>
          <a:p>
            <a:pPr indent="0" marL="0">
              <a:buNone/>
            </a:pPr>
            <a:r>
              <a:rPr lang="en-US" sz="1200" b="1" dirty="0">
                <a:solidFill>
                  <a:srgbClr val="F9FAFB"/>
                </a:solidFill>
                <a:latin typeface="Calibri" pitchFamily="34" charset="0"/>
                <a:ea typeface="Calibri" pitchFamily="34" charset="-122"/>
                <a:cs typeface="Calibri" pitchFamily="34" charset="-120"/>
              </a:rPr>
              <a:t>Évolution</a:t>
            </a:r>
            <a:endParaRPr lang="en-US" sz="1200" dirty="0"/>
          </a:p>
        </p:txBody>
      </p:sp>
      <p:sp>
        <p:nvSpPr>
          <p:cNvPr id="39" name="Text 37"/>
          <p:cNvSpPr/>
          <p:nvPr/>
        </p:nvSpPr>
        <p:spPr>
          <a:xfrm>
            <a:off x="5989320" y="3337560"/>
            <a:ext cx="2926080" cy="32004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Tendances 2010–2023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457200" y="256032"/>
            <a:ext cx="1005840" cy="64008"/>
          </a:xfrm>
          <a:prstGeom prst="rect">
            <a:avLst/>
          </a:prstGeom>
          <a:solidFill>
            <a:srgbClr val="FF6B35"/>
          </a:solidFill>
          <a:ln w="12700">
            <a:solidFill>
              <a:srgbClr val="FF6B35"/>
            </a:solidFill>
            <a:prstDash val="solid"/>
          </a:ln>
        </p:spPr>
      </p:sp>
      <p:sp>
        <p:nvSpPr>
          <p:cNvPr id="3" name="Text 1"/>
          <p:cNvSpPr/>
          <p:nvPr/>
        </p:nvSpPr>
        <p:spPr>
          <a:xfrm>
            <a:off x="457200" y="365760"/>
            <a:ext cx="8229600" cy="411480"/>
          </a:xfrm>
          <a:prstGeom prst="rect">
            <a:avLst/>
          </a:prstGeom>
          <a:noFill/>
          <a:ln/>
        </p:spPr>
        <p:txBody>
          <a:bodyPr wrap="square" lIns="0" tIns="0" rIns="0" bIns="0" rtlCol="0" anchor="ctr"/>
          <a:lstStyle/>
          <a:p>
            <a:pPr indent="0" marL="0">
              <a:buNone/>
            </a:pPr>
            <a:r>
              <a:rPr lang="en-US" sz="2600" b="1" dirty="0">
                <a:solidFill>
                  <a:srgbClr val="F9FAFB"/>
                </a:solidFill>
                <a:latin typeface="Calibri" pitchFamily="34" charset="0"/>
                <a:ea typeface="Calibri" pitchFamily="34" charset="-122"/>
                <a:cs typeface="Calibri" pitchFamily="34" charset="-120"/>
              </a:rPr>
              <a:t>Résultats quantitatifs</a:t>
            </a:r>
            <a:endParaRPr lang="en-US" sz="2600" dirty="0"/>
          </a:p>
        </p:txBody>
      </p:sp>
      <p:sp>
        <p:nvSpPr>
          <p:cNvPr id="4" name="Text 2"/>
          <p:cNvSpPr/>
          <p:nvPr/>
        </p:nvSpPr>
        <p:spPr>
          <a:xfrm>
            <a:off x="0" y="4892040"/>
            <a:ext cx="9144000" cy="256032"/>
          </a:xfrm>
          <a:prstGeom prst="rect">
            <a:avLst/>
          </a:prstGeom>
          <a:noFill/>
          <a:ln/>
        </p:spPr>
        <p:txBody>
          <a:bodyPr wrap="square" lIns="0" tIns="0" rIns="0" bIns="0" rtlCol="0" anchor="ctr"/>
          <a:lstStyle/>
          <a:p>
            <a:pPr algn="ctr" indent="0" marL="0">
              <a:buNone/>
            </a:pPr>
            <a:r>
              <a:rPr lang="en-US" sz="800" dirty="0">
                <a:solidFill>
                  <a:srgbClr val="374151"/>
                </a:solidFill>
                <a:latin typeface="Calibri" pitchFamily="34" charset="0"/>
                <a:ea typeface="Calibri" pitchFamily="34" charset="-122"/>
                <a:cs typeface="Calibri" pitchFamily="34" charset="-120"/>
              </a:rPr>
              <a:t>ESPRIT · SIMAC · CETUD  |  12 / 18</a:t>
            </a:r>
            <a:endParaRPr lang="en-US" sz="800" dirty="0"/>
          </a:p>
        </p:txBody>
      </p:sp>
      <p:sp>
        <p:nvSpPr>
          <p:cNvPr id="5" name="Shape 3"/>
          <p:cNvSpPr/>
          <p:nvPr/>
        </p:nvSpPr>
        <p:spPr>
          <a:xfrm>
            <a:off x="384048" y="914400"/>
            <a:ext cx="8375904" cy="1508760"/>
          </a:xfrm>
          <a:prstGeom prst="roundRect">
            <a:avLst>
              <a:gd name="adj" fmla="val 7273"/>
            </a:avLst>
          </a:prstGeom>
          <a:solidFill>
            <a:srgbClr val="1C2333"/>
          </a:solidFill>
          <a:ln/>
          <a:effectLst>
            <a:outerShdw sx="100000" sy="100000" kx="0" ky="0" algn="bl" rotWithShape="0" blurRad="177800" dist="50800" dir="2700000">
              <a:srgbClr val="000000">
                <a:alpha val="35000"/>
              </a:srgbClr>
            </a:outerShdw>
          </a:effectLst>
        </p:spPr>
      </p:sp>
      <p:sp>
        <p:nvSpPr>
          <p:cNvPr id="6" name="Text 4"/>
          <p:cNvSpPr/>
          <p:nvPr/>
        </p:nvSpPr>
        <p:spPr>
          <a:xfrm>
            <a:off x="594360" y="1005840"/>
            <a:ext cx="3657600" cy="320040"/>
          </a:xfrm>
          <a:prstGeom prst="rect">
            <a:avLst/>
          </a:prstGeom>
          <a:noFill/>
          <a:ln/>
        </p:spPr>
        <p:txBody>
          <a:bodyPr wrap="square" lIns="0" tIns="0" rIns="0" bIns="0" rtlCol="0" anchor="ctr"/>
          <a:lstStyle/>
          <a:p>
            <a:pPr indent="0" marL="0">
              <a:buNone/>
            </a:pPr>
            <a:r>
              <a:rPr lang="en-US" sz="1200" b="1" dirty="0">
                <a:solidFill>
                  <a:srgbClr val="FF6B35"/>
                </a:solidFill>
                <a:latin typeface="Calibri" pitchFamily="34" charset="0"/>
                <a:ea typeface="Calibri" pitchFamily="34" charset="-122"/>
                <a:cs typeface="Calibri" pitchFamily="34" charset="-120"/>
              </a:rPr>
              <a:t>Machine Learning</a:t>
            </a:r>
            <a:endParaRPr lang="en-US" sz="1200" dirty="0"/>
          </a:p>
        </p:txBody>
      </p:sp>
      <p:sp>
        <p:nvSpPr>
          <p:cNvPr id="7" name="Text 5"/>
          <p:cNvSpPr/>
          <p:nvPr/>
        </p:nvSpPr>
        <p:spPr>
          <a:xfrm>
            <a:off x="594360" y="1389888"/>
            <a:ext cx="3474720" cy="292608"/>
          </a:xfrm>
          <a:prstGeom prst="rect">
            <a:avLst/>
          </a:prstGeom>
          <a:noFill/>
          <a:ln/>
        </p:spPr>
        <p:txBody>
          <a:bodyPr wrap="square" lIns="0" tIns="0" rIns="0" bIns="0" rtlCol="0" anchor="ctr"/>
          <a:lstStyle/>
          <a:p>
            <a:pPr indent="0" marL="0">
              <a:buNone/>
            </a:pPr>
            <a:r>
              <a:rPr lang="en-US" sz="1000" dirty="0">
                <a:solidFill>
                  <a:srgbClr val="F9FAFB"/>
                </a:solidFill>
                <a:latin typeface="Calibri" pitchFamily="34" charset="0"/>
                <a:ea typeface="Calibri" pitchFamily="34" charset="-122"/>
                <a:cs typeface="Calibri" pitchFamily="34" charset="-120"/>
              </a:rPr>
              <a:t>◆  Random Forest (recommandation)</a:t>
            </a:r>
            <a:endParaRPr lang="en-US" sz="1000" dirty="0"/>
          </a:p>
        </p:txBody>
      </p:sp>
      <p:sp>
        <p:nvSpPr>
          <p:cNvPr id="8" name="Text 6"/>
          <p:cNvSpPr/>
          <p:nvPr/>
        </p:nvSpPr>
        <p:spPr>
          <a:xfrm>
            <a:off x="3794760" y="1389888"/>
            <a:ext cx="1828800" cy="292608"/>
          </a:xfrm>
          <a:prstGeom prst="rect">
            <a:avLst/>
          </a:prstGeom>
          <a:noFill/>
          <a:ln/>
        </p:spPr>
        <p:txBody>
          <a:bodyPr wrap="square" lIns="0" tIns="0" rIns="0" bIns="0" rtlCol="0" anchor="ctr"/>
          <a:lstStyle/>
          <a:p>
            <a:pPr algn="r" indent="0" marL="0">
              <a:buNone/>
            </a:pPr>
            <a:r>
              <a:rPr lang="en-US" sz="1000" dirty="0">
                <a:solidFill>
                  <a:srgbClr val="10B981"/>
                </a:solidFill>
                <a:latin typeface="Calibri" pitchFamily="34" charset="0"/>
                <a:ea typeface="Calibri" pitchFamily="34" charset="-122"/>
                <a:cs typeface="Calibri" pitchFamily="34" charset="-120"/>
              </a:rPr>
              <a:t>87% accuracy</a:t>
            </a:r>
            <a:endParaRPr lang="en-US" sz="1000" dirty="0"/>
          </a:p>
        </p:txBody>
      </p:sp>
      <p:sp>
        <p:nvSpPr>
          <p:cNvPr id="9" name="Text 7"/>
          <p:cNvSpPr/>
          <p:nvPr/>
        </p:nvSpPr>
        <p:spPr>
          <a:xfrm>
            <a:off x="4709160" y="1389888"/>
            <a:ext cx="3474720" cy="292608"/>
          </a:xfrm>
          <a:prstGeom prst="rect">
            <a:avLst/>
          </a:prstGeom>
          <a:noFill/>
          <a:ln/>
        </p:spPr>
        <p:txBody>
          <a:bodyPr wrap="square" lIns="0" tIns="0" rIns="0" bIns="0" rtlCol="0" anchor="ctr"/>
          <a:lstStyle/>
          <a:p>
            <a:pPr indent="0" marL="0">
              <a:buNone/>
            </a:pPr>
            <a:r>
              <a:rPr lang="en-US" sz="1000" dirty="0">
                <a:solidFill>
                  <a:srgbClr val="F9FAFB"/>
                </a:solidFill>
                <a:latin typeface="Calibri" pitchFamily="34" charset="0"/>
                <a:ea typeface="Calibri" pitchFamily="34" charset="-122"/>
                <a:cs typeface="Calibri" pitchFamily="34" charset="-120"/>
              </a:rPr>
              <a:t>◆  Random Forest (inaccessibilité)</a:t>
            </a:r>
            <a:endParaRPr lang="en-US" sz="1000" dirty="0"/>
          </a:p>
        </p:txBody>
      </p:sp>
      <p:sp>
        <p:nvSpPr>
          <p:cNvPr id="10" name="Text 8"/>
          <p:cNvSpPr/>
          <p:nvPr/>
        </p:nvSpPr>
        <p:spPr>
          <a:xfrm>
            <a:off x="7909560" y="1389888"/>
            <a:ext cx="1828800" cy="292608"/>
          </a:xfrm>
          <a:prstGeom prst="rect">
            <a:avLst/>
          </a:prstGeom>
          <a:noFill/>
          <a:ln/>
        </p:spPr>
        <p:txBody>
          <a:bodyPr wrap="square" lIns="0" tIns="0" rIns="0" bIns="0" rtlCol="0" anchor="ctr"/>
          <a:lstStyle/>
          <a:p>
            <a:pPr algn="r" indent="0" marL="0">
              <a:buNone/>
            </a:pPr>
            <a:r>
              <a:rPr lang="en-US" sz="1000" dirty="0">
                <a:solidFill>
                  <a:srgbClr val="10B981"/>
                </a:solidFill>
                <a:latin typeface="Calibri" pitchFamily="34" charset="0"/>
                <a:ea typeface="Calibri" pitchFamily="34" charset="-122"/>
                <a:cs typeface="Calibri" pitchFamily="34" charset="-120"/>
              </a:rPr>
              <a:t>85% accuracy · AUC 0.91</a:t>
            </a:r>
            <a:endParaRPr lang="en-US" sz="1000" dirty="0"/>
          </a:p>
        </p:txBody>
      </p:sp>
      <p:sp>
        <p:nvSpPr>
          <p:cNvPr id="11" name="Text 9"/>
          <p:cNvSpPr/>
          <p:nvPr/>
        </p:nvSpPr>
        <p:spPr>
          <a:xfrm>
            <a:off x="594360" y="1801368"/>
            <a:ext cx="3474720" cy="292608"/>
          </a:xfrm>
          <a:prstGeom prst="rect">
            <a:avLst/>
          </a:prstGeom>
          <a:noFill/>
          <a:ln/>
        </p:spPr>
        <p:txBody>
          <a:bodyPr wrap="square" lIns="0" tIns="0" rIns="0" bIns="0" rtlCol="0" anchor="ctr"/>
          <a:lstStyle/>
          <a:p>
            <a:pPr indent="0" marL="0">
              <a:buNone/>
            </a:pPr>
            <a:r>
              <a:rPr lang="en-US" sz="1000" dirty="0">
                <a:solidFill>
                  <a:srgbClr val="F9FAFB"/>
                </a:solidFill>
                <a:latin typeface="Calibri" pitchFamily="34" charset="0"/>
                <a:ea typeface="Calibri" pitchFamily="34" charset="-122"/>
                <a:cs typeface="Calibri" pitchFamily="34" charset="-120"/>
              </a:rPr>
              <a:t>◆  Anomalies (consensus 3 modèles)</a:t>
            </a:r>
            <a:endParaRPr lang="en-US" sz="1000" dirty="0"/>
          </a:p>
        </p:txBody>
      </p:sp>
      <p:sp>
        <p:nvSpPr>
          <p:cNvPr id="12" name="Text 10"/>
          <p:cNvSpPr/>
          <p:nvPr/>
        </p:nvSpPr>
        <p:spPr>
          <a:xfrm>
            <a:off x="3794760" y="1801368"/>
            <a:ext cx="1828800" cy="292608"/>
          </a:xfrm>
          <a:prstGeom prst="rect">
            <a:avLst/>
          </a:prstGeom>
          <a:noFill/>
          <a:ln/>
        </p:spPr>
        <p:txBody>
          <a:bodyPr wrap="square" lIns="0" tIns="0" rIns="0" bIns="0" rtlCol="0" anchor="ctr"/>
          <a:lstStyle/>
          <a:p>
            <a:pPr algn="r" indent="0" marL="0">
              <a:buNone/>
            </a:pPr>
            <a:r>
              <a:rPr lang="en-US" sz="1000" dirty="0">
                <a:solidFill>
                  <a:srgbClr val="10B981"/>
                </a:solidFill>
                <a:latin typeface="Calibri" pitchFamily="34" charset="0"/>
                <a:ea typeface="Calibri" pitchFamily="34" charset="-122"/>
                <a:cs typeface="Calibri" pitchFamily="34" charset="-120"/>
              </a:rPr>
              <a:t>90.6% accord · 723 anomalies</a:t>
            </a:r>
            <a:endParaRPr lang="en-US" sz="1000" dirty="0"/>
          </a:p>
        </p:txBody>
      </p:sp>
      <p:sp>
        <p:nvSpPr>
          <p:cNvPr id="13" name="Text 11"/>
          <p:cNvSpPr/>
          <p:nvPr/>
        </p:nvSpPr>
        <p:spPr>
          <a:xfrm>
            <a:off x="4709160" y="1801368"/>
            <a:ext cx="3474720" cy="292608"/>
          </a:xfrm>
          <a:prstGeom prst="rect">
            <a:avLst/>
          </a:prstGeom>
          <a:noFill/>
          <a:ln/>
        </p:spPr>
        <p:txBody>
          <a:bodyPr wrap="square" lIns="0" tIns="0" rIns="0" bIns="0" rtlCol="0" anchor="ctr"/>
          <a:lstStyle/>
          <a:p>
            <a:pPr indent="0" marL="0">
              <a:buNone/>
            </a:pPr>
            <a:r>
              <a:rPr lang="en-US" sz="1000" dirty="0">
                <a:solidFill>
                  <a:srgbClr val="F9FAFB"/>
                </a:solidFill>
                <a:latin typeface="Calibri" pitchFamily="34" charset="0"/>
                <a:ea typeface="Calibri" pitchFamily="34" charset="-122"/>
                <a:cs typeface="Calibri" pitchFamily="34" charset="-120"/>
              </a:rPr>
              <a:t>◆  K-Means segmentation</a:t>
            </a:r>
            <a:endParaRPr lang="en-US" sz="1000" dirty="0"/>
          </a:p>
        </p:txBody>
      </p:sp>
      <p:sp>
        <p:nvSpPr>
          <p:cNvPr id="14" name="Text 12"/>
          <p:cNvSpPr/>
          <p:nvPr/>
        </p:nvSpPr>
        <p:spPr>
          <a:xfrm>
            <a:off x="7909560" y="1801368"/>
            <a:ext cx="1828800" cy="292608"/>
          </a:xfrm>
          <a:prstGeom prst="rect">
            <a:avLst/>
          </a:prstGeom>
          <a:noFill/>
          <a:ln/>
        </p:spPr>
        <p:txBody>
          <a:bodyPr wrap="square" lIns="0" tIns="0" rIns="0" bIns="0" rtlCol="0" anchor="ctr"/>
          <a:lstStyle/>
          <a:p>
            <a:pPr algn="r" indent="0" marL="0">
              <a:buNone/>
            </a:pPr>
            <a:r>
              <a:rPr lang="en-US" sz="1000" dirty="0">
                <a:solidFill>
                  <a:srgbClr val="10B981"/>
                </a:solidFill>
                <a:latin typeface="Calibri" pitchFamily="34" charset="0"/>
                <a:ea typeface="Calibri" pitchFamily="34" charset="-122"/>
                <a:cs typeface="Calibri" pitchFamily="34" charset="-120"/>
              </a:rPr>
              <a:t>Silhouette 0.68 · k=5</a:t>
            </a:r>
            <a:endParaRPr lang="en-US" sz="1000" dirty="0"/>
          </a:p>
        </p:txBody>
      </p:sp>
      <p:sp>
        <p:nvSpPr>
          <p:cNvPr id="15" name="Shape 13"/>
          <p:cNvSpPr/>
          <p:nvPr/>
        </p:nvSpPr>
        <p:spPr>
          <a:xfrm>
            <a:off x="384048" y="2578608"/>
            <a:ext cx="4114800" cy="2286000"/>
          </a:xfrm>
          <a:prstGeom prst="roundRect">
            <a:avLst>
              <a:gd name="adj" fmla="val 4800"/>
            </a:avLst>
          </a:prstGeom>
          <a:solidFill>
            <a:srgbClr val="1C2333"/>
          </a:solidFill>
          <a:ln/>
          <a:effectLst>
            <a:outerShdw sx="100000" sy="100000" kx="0" ky="0" algn="bl" rotWithShape="0" blurRad="177800" dist="50800" dir="2700000">
              <a:srgbClr val="000000">
                <a:alpha val="35000"/>
              </a:srgbClr>
            </a:outerShdw>
          </a:effectLst>
        </p:spPr>
      </p:sp>
      <p:sp>
        <p:nvSpPr>
          <p:cNvPr id="16" name="Text 14"/>
          <p:cNvSpPr/>
          <p:nvPr/>
        </p:nvSpPr>
        <p:spPr>
          <a:xfrm>
            <a:off x="594360" y="2670048"/>
            <a:ext cx="3200400" cy="320040"/>
          </a:xfrm>
          <a:prstGeom prst="rect">
            <a:avLst/>
          </a:prstGeom>
          <a:noFill/>
          <a:ln/>
        </p:spPr>
        <p:txBody>
          <a:bodyPr wrap="square" lIns="0" tIns="0" rIns="0" bIns="0" rtlCol="0" anchor="ctr"/>
          <a:lstStyle/>
          <a:p>
            <a:pPr indent="0" marL="0">
              <a:buNone/>
            </a:pPr>
            <a:r>
              <a:rPr lang="en-US" sz="1200" b="1" dirty="0">
                <a:solidFill>
                  <a:srgbClr val="06B6D4"/>
                </a:solidFill>
                <a:latin typeface="Calibri" pitchFamily="34" charset="0"/>
                <a:ea typeface="Calibri" pitchFamily="34" charset="-122"/>
                <a:cs typeface="Calibri" pitchFamily="34" charset="-120"/>
              </a:rPr>
              <a:t>Data Warehouse</a:t>
            </a:r>
            <a:endParaRPr lang="en-US" sz="1200" dirty="0"/>
          </a:p>
        </p:txBody>
      </p:sp>
      <p:sp>
        <p:nvSpPr>
          <p:cNvPr id="17" name="Text 15"/>
          <p:cNvSpPr/>
          <p:nvPr/>
        </p:nvSpPr>
        <p:spPr>
          <a:xfrm>
            <a:off x="594360" y="3063240"/>
            <a:ext cx="256032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Tables de faits</a:t>
            </a:r>
            <a:endParaRPr lang="en-US" sz="1000" dirty="0"/>
          </a:p>
        </p:txBody>
      </p:sp>
      <p:sp>
        <p:nvSpPr>
          <p:cNvPr id="18" name="Text 16"/>
          <p:cNvSpPr/>
          <p:nvPr/>
        </p:nvSpPr>
        <p:spPr>
          <a:xfrm>
            <a:off x="3200400" y="3063240"/>
            <a:ext cx="1005840" cy="274320"/>
          </a:xfrm>
          <a:prstGeom prst="rect">
            <a:avLst/>
          </a:prstGeom>
          <a:noFill/>
          <a:ln/>
        </p:spPr>
        <p:txBody>
          <a:bodyPr wrap="square" lIns="0" tIns="0" rIns="0" bIns="0" rtlCol="0" anchor="ctr"/>
          <a:lstStyle/>
          <a:p>
            <a:pPr algn="r" indent="0" marL="0">
              <a:buNone/>
            </a:pPr>
            <a:r>
              <a:rPr lang="en-US" sz="1000" b="1" dirty="0">
                <a:solidFill>
                  <a:srgbClr val="F9FAFB"/>
                </a:solidFill>
                <a:latin typeface="Calibri" pitchFamily="34" charset="0"/>
                <a:ea typeface="Calibri" pitchFamily="34" charset="-122"/>
                <a:cs typeface="Calibri" pitchFamily="34" charset="-120"/>
              </a:rPr>
              <a:t>4</a:t>
            </a:r>
            <a:endParaRPr lang="en-US" sz="1000" dirty="0"/>
          </a:p>
        </p:txBody>
      </p:sp>
      <p:sp>
        <p:nvSpPr>
          <p:cNvPr id="19" name="Text 17"/>
          <p:cNvSpPr/>
          <p:nvPr/>
        </p:nvSpPr>
        <p:spPr>
          <a:xfrm>
            <a:off x="594360" y="3401568"/>
            <a:ext cx="256032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Dimensions</a:t>
            </a:r>
            <a:endParaRPr lang="en-US" sz="1000" dirty="0"/>
          </a:p>
        </p:txBody>
      </p:sp>
      <p:sp>
        <p:nvSpPr>
          <p:cNvPr id="20" name="Text 18"/>
          <p:cNvSpPr/>
          <p:nvPr/>
        </p:nvSpPr>
        <p:spPr>
          <a:xfrm>
            <a:off x="3200400" y="3401568"/>
            <a:ext cx="1005840" cy="274320"/>
          </a:xfrm>
          <a:prstGeom prst="rect">
            <a:avLst/>
          </a:prstGeom>
          <a:noFill/>
          <a:ln/>
        </p:spPr>
        <p:txBody>
          <a:bodyPr wrap="square" lIns="0" tIns="0" rIns="0" bIns="0" rtlCol="0" anchor="ctr"/>
          <a:lstStyle/>
          <a:p>
            <a:pPr algn="r" indent="0" marL="0">
              <a:buNone/>
            </a:pPr>
            <a:r>
              <a:rPr lang="en-US" sz="1000" b="1" dirty="0">
                <a:solidFill>
                  <a:srgbClr val="F9FAFB"/>
                </a:solidFill>
                <a:latin typeface="Calibri" pitchFamily="34" charset="0"/>
                <a:ea typeface="Calibri" pitchFamily="34" charset="-122"/>
                <a:cs typeface="Calibri" pitchFamily="34" charset="-120"/>
              </a:rPr>
              <a:t>15</a:t>
            </a:r>
            <a:endParaRPr lang="en-US" sz="1000" dirty="0"/>
          </a:p>
        </p:txBody>
      </p:sp>
      <p:sp>
        <p:nvSpPr>
          <p:cNvPr id="21" name="Text 19"/>
          <p:cNvSpPr/>
          <p:nvPr/>
        </p:nvSpPr>
        <p:spPr>
          <a:xfrm>
            <a:off x="594360" y="3739896"/>
            <a:ext cx="256032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Lignes trafic</a:t>
            </a:r>
            <a:endParaRPr lang="en-US" sz="1000" dirty="0"/>
          </a:p>
        </p:txBody>
      </p:sp>
      <p:sp>
        <p:nvSpPr>
          <p:cNvPr id="22" name="Text 20"/>
          <p:cNvSpPr/>
          <p:nvPr/>
        </p:nvSpPr>
        <p:spPr>
          <a:xfrm>
            <a:off x="3200400" y="3739896"/>
            <a:ext cx="1005840" cy="274320"/>
          </a:xfrm>
          <a:prstGeom prst="rect">
            <a:avLst/>
          </a:prstGeom>
          <a:noFill/>
          <a:ln/>
        </p:spPr>
        <p:txBody>
          <a:bodyPr wrap="square" lIns="0" tIns="0" rIns="0" bIns="0" rtlCol="0" anchor="ctr"/>
          <a:lstStyle/>
          <a:p>
            <a:pPr algn="r" indent="0" marL="0">
              <a:buNone/>
            </a:pPr>
            <a:r>
              <a:rPr lang="en-US" sz="1000" b="1" dirty="0">
                <a:solidFill>
                  <a:srgbClr val="F9FAFB"/>
                </a:solidFill>
                <a:latin typeface="Calibri" pitchFamily="34" charset="0"/>
                <a:ea typeface="Calibri" pitchFamily="34" charset="-122"/>
                <a:cs typeface="Calibri" pitchFamily="34" charset="-120"/>
              </a:rPr>
              <a:t>775 480</a:t>
            </a:r>
            <a:endParaRPr lang="en-US" sz="1000" dirty="0"/>
          </a:p>
        </p:txBody>
      </p:sp>
      <p:sp>
        <p:nvSpPr>
          <p:cNvPr id="23" name="Text 21"/>
          <p:cNvSpPr/>
          <p:nvPr/>
        </p:nvSpPr>
        <p:spPr>
          <a:xfrm>
            <a:off x="594360" y="4078224"/>
            <a:ext cx="256032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Individus EMD</a:t>
            </a:r>
            <a:endParaRPr lang="en-US" sz="1000" dirty="0"/>
          </a:p>
        </p:txBody>
      </p:sp>
      <p:sp>
        <p:nvSpPr>
          <p:cNvPr id="24" name="Text 22"/>
          <p:cNvSpPr/>
          <p:nvPr/>
        </p:nvSpPr>
        <p:spPr>
          <a:xfrm>
            <a:off x="3200400" y="4078224"/>
            <a:ext cx="1005840" cy="274320"/>
          </a:xfrm>
          <a:prstGeom prst="rect">
            <a:avLst/>
          </a:prstGeom>
          <a:noFill/>
          <a:ln/>
        </p:spPr>
        <p:txBody>
          <a:bodyPr wrap="square" lIns="0" tIns="0" rIns="0" bIns="0" rtlCol="0" anchor="ctr"/>
          <a:lstStyle/>
          <a:p>
            <a:pPr algn="r" indent="0" marL="0">
              <a:buNone/>
            </a:pPr>
            <a:r>
              <a:rPr lang="en-US" sz="1000" b="1" dirty="0">
                <a:solidFill>
                  <a:srgbClr val="F9FAFB"/>
                </a:solidFill>
                <a:latin typeface="Calibri" pitchFamily="34" charset="0"/>
                <a:ea typeface="Calibri" pitchFamily="34" charset="-122"/>
                <a:cs typeface="Calibri" pitchFamily="34" charset="-120"/>
              </a:rPr>
              <a:t>37 248</a:t>
            </a:r>
            <a:endParaRPr lang="en-US" sz="1000" dirty="0"/>
          </a:p>
        </p:txBody>
      </p:sp>
      <p:sp>
        <p:nvSpPr>
          <p:cNvPr id="25" name="Text 23"/>
          <p:cNvSpPr/>
          <p:nvPr/>
        </p:nvSpPr>
        <p:spPr>
          <a:xfrm>
            <a:off x="594360" y="4416552"/>
            <a:ext cx="256032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Sites trafic</a:t>
            </a:r>
            <a:endParaRPr lang="en-US" sz="1000" dirty="0"/>
          </a:p>
        </p:txBody>
      </p:sp>
      <p:sp>
        <p:nvSpPr>
          <p:cNvPr id="26" name="Text 24"/>
          <p:cNvSpPr/>
          <p:nvPr/>
        </p:nvSpPr>
        <p:spPr>
          <a:xfrm>
            <a:off x="3200400" y="4416552"/>
            <a:ext cx="1005840" cy="274320"/>
          </a:xfrm>
          <a:prstGeom prst="rect">
            <a:avLst/>
          </a:prstGeom>
          <a:noFill/>
          <a:ln/>
        </p:spPr>
        <p:txBody>
          <a:bodyPr wrap="square" lIns="0" tIns="0" rIns="0" bIns="0" rtlCol="0" anchor="ctr"/>
          <a:lstStyle/>
          <a:p>
            <a:pPr algn="r" indent="0" marL="0">
              <a:buNone/>
            </a:pPr>
            <a:r>
              <a:rPr lang="en-US" sz="1000" b="1" dirty="0">
                <a:solidFill>
                  <a:srgbClr val="F9FAFB"/>
                </a:solidFill>
                <a:latin typeface="Calibri" pitchFamily="34" charset="0"/>
                <a:ea typeface="Calibri" pitchFamily="34" charset="-122"/>
                <a:cs typeface="Calibri" pitchFamily="34" charset="-120"/>
              </a:rPr>
              <a:t>49</a:t>
            </a:r>
            <a:endParaRPr lang="en-US" sz="1000" dirty="0"/>
          </a:p>
        </p:txBody>
      </p:sp>
      <p:sp>
        <p:nvSpPr>
          <p:cNvPr id="27" name="Shape 25"/>
          <p:cNvSpPr/>
          <p:nvPr/>
        </p:nvSpPr>
        <p:spPr>
          <a:xfrm>
            <a:off x="4645152" y="2578608"/>
            <a:ext cx="4114800" cy="2286000"/>
          </a:xfrm>
          <a:prstGeom prst="roundRect">
            <a:avLst>
              <a:gd name="adj" fmla="val 4800"/>
            </a:avLst>
          </a:prstGeom>
          <a:solidFill>
            <a:srgbClr val="1C2333"/>
          </a:solidFill>
          <a:ln/>
          <a:effectLst>
            <a:outerShdw sx="100000" sy="100000" kx="0" ky="0" algn="bl" rotWithShape="0" blurRad="177800" dist="50800" dir="2700000">
              <a:srgbClr val="000000">
                <a:alpha val="35000"/>
              </a:srgbClr>
            </a:outerShdw>
          </a:effectLst>
        </p:spPr>
      </p:sp>
      <p:sp>
        <p:nvSpPr>
          <p:cNvPr id="28" name="Text 26"/>
          <p:cNvSpPr/>
          <p:nvPr/>
        </p:nvSpPr>
        <p:spPr>
          <a:xfrm>
            <a:off x="4846320" y="2670048"/>
            <a:ext cx="3657600" cy="320040"/>
          </a:xfrm>
          <a:prstGeom prst="rect">
            <a:avLst/>
          </a:prstGeom>
          <a:noFill/>
          <a:ln/>
        </p:spPr>
        <p:txBody>
          <a:bodyPr wrap="square" lIns="0" tIns="0" rIns="0" bIns="0" rtlCol="0" anchor="ctr"/>
          <a:lstStyle/>
          <a:p>
            <a:pPr indent="0" marL="0">
              <a:buNone/>
            </a:pPr>
            <a:r>
              <a:rPr lang="en-US" sz="1200" b="1" dirty="0">
                <a:solidFill>
                  <a:srgbClr val="FF6B35"/>
                </a:solidFill>
                <a:latin typeface="Calibri" pitchFamily="34" charset="0"/>
                <a:ea typeface="Calibri" pitchFamily="34" charset="-122"/>
                <a:cs typeface="Calibri" pitchFamily="34" charset="-120"/>
              </a:rPr>
              <a:t>Application &amp; Cockpit</a:t>
            </a:r>
            <a:endParaRPr lang="en-US" sz="1200" dirty="0"/>
          </a:p>
        </p:txBody>
      </p:sp>
      <p:sp>
        <p:nvSpPr>
          <p:cNvPr id="29" name="Text 27"/>
          <p:cNvSpPr/>
          <p:nvPr/>
        </p:nvSpPr>
        <p:spPr>
          <a:xfrm>
            <a:off x="4846320" y="3063240"/>
            <a:ext cx="256032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Endpoints API</a:t>
            </a:r>
            <a:endParaRPr lang="en-US" sz="1000" dirty="0"/>
          </a:p>
        </p:txBody>
      </p:sp>
      <p:sp>
        <p:nvSpPr>
          <p:cNvPr id="30" name="Text 28"/>
          <p:cNvSpPr/>
          <p:nvPr/>
        </p:nvSpPr>
        <p:spPr>
          <a:xfrm>
            <a:off x="7406640" y="3063240"/>
            <a:ext cx="1005840" cy="274320"/>
          </a:xfrm>
          <a:prstGeom prst="rect">
            <a:avLst/>
          </a:prstGeom>
          <a:noFill/>
          <a:ln/>
        </p:spPr>
        <p:txBody>
          <a:bodyPr wrap="square" lIns="0" tIns="0" rIns="0" bIns="0" rtlCol="0" anchor="ctr"/>
          <a:lstStyle/>
          <a:p>
            <a:pPr algn="r" indent="0" marL="0">
              <a:buNone/>
            </a:pPr>
            <a:r>
              <a:rPr lang="en-US" sz="1000" b="1" dirty="0">
                <a:solidFill>
                  <a:srgbClr val="F9FAFB"/>
                </a:solidFill>
                <a:latin typeface="Calibri" pitchFamily="34" charset="0"/>
                <a:ea typeface="Calibri" pitchFamily="34" charset="-122"/>
                <a:cs typeface="Calibri" pitchFamily="34" charset="-120"/>
              </a:rPr>
              <a:t>9</a:t>
            </a:r>
            <a:endParaRPr lang="en-US" sz="1000" dirty="0"/>
          </a:p>
        </p:txBody>
      </p:sp>
      <p:sp>
        <p:nvSpPr>
          <p:cNvPr id="31" name="Text 29"/>
          <p:cNvSpPr/>
          <p:nvPr/>
        </p:nvSpPr>
        <p:spPr>
          <a:xfrm>
            <a:off x="4846320" y="3401568"/>
            <a:ext cx="256032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Pages décideurs</a:t>
            </a:r>
            <a:endParaRPr lang="en-US" sz="1000" dirty="0"/>
          </a:p>
        </p:txBody>
      </p:sp>
      <p:sp>
        <p:nvSpPr>
          <p:cNvPr id="32" name="Text 30"/>
          <p:cNvSpPr/>
          <p:nvPr/>
        </p:nvSpPr>
        <p:spPr>
          <a:xfrm>
            <a:off x="7406640" y="3401568"/>
            <a:ext cx="1005840" cy="274320"/>
          </a:xfrm>
          <a:prstGeom prst="rect">
            <a:avLst/>
          </a:prstGeom>
          <a:noFill/>
          <a:ln/>
        </p:spPr>
        <p:txBody>
          <a:bodyPr wrap="square" lIns="0" tIns="0" rIns="0" bIns="0" rtlCol="0" anchor="ctr"/>
          <a:lstStyle/>
          <a:p>
            <a:pPr algn="r" indent="0" marL="0">
              <a:buNone/>
            </a:pPr>
            <a:r>
              <a:rPr lang="en-US" sz="1000" b="1" dirty="0">
                <a:solidFill>
                  <a:srgbClr val="F9FAFB"/>
                </a:solidFill>
                <a:latin typeface="Calibri" pitchFamily="34" charset="0"/>
                <a:ea typeface="Calibri" pitchFamily="34" charset="-122"/>
                <a:cs typeface="Calibri" pitchFamily="34" charset="-120"/>
              </a:rPr>
              <a:t>7</a:t>
            </a:r>
            <a:endParaRPr lang="en-US" sz="1000" dirty="0"/>
          </a:p>
        </p:txBody>
      </p:sp>
      <p:sp>
        <p:nvSpPr>
          <p:cNvPr id="33" name="Text 31"/>
          <p:cNvSpPr/>
          <p:nvPr/>
        </p:nvSpPr>
        <p:spPr>
          <a:xfrm>
            <a:off x="4846320" y="3739896"/>
            <a:ext cx="256032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Sheets Knowage</a:t>
            </a:r>
            <a:endParaRPr lang="en-US" sz="1000" dirty="0"/>
          </a:p>
        </p:txBody>
      </p:sp>
      <p:sp>
        <p:nvSpPr>
          <p:cNvPr id="34" name="Text 32"/>
          <p:cNvSpPr/>
          <p:nvPr/>
        </p:nvSpPr>
        <p:spPr>
          <a:xfrm>
            <a:off x="7406640" y="3739896"/>
            <a:ext cx="1005840" cy="274320"/>
          </a:xfrm>
          <a:prstGeom prst="rect">
            <a:avLst/>
          </a:prstGeom>
          <a:noFill/>
          <a:ln/>
        </p:spPr>
        <p:txBody>
          <a:bodyPr wrap="square" lIns="0" tIns="0" rIns="0" bIns="0" rtlCol="0" anchor="ctr"/>
          <a:lstStyle/>
          <a:p>
            <a:pPr algn="r" indent="0" marL="0">
              <a:buNone/>
            </a:pPr>
            <a:r>
              <a:rPr lang="en-US" sz="1000" b="1" dirty="0">
                <a:solidFill>
                  <a:srgbClr val="F9FAFB"/>
                </a:solidFill>
                <a:latin typeface="Calibri" pitchFamily="34" charset="0"/>
                <a:ea typeface="Calibri" pitchFamily="34" charset="-122"/>
                <a:cs typeface="Calibri" pitchFamily="34" charset="-120"/>
              </a:rPr>
              <a:t>6</a:t>
            </a:r>
            <a:endParaRPr lang="en-US" sz="1000" dirty="0"/>
          </a:p>
        </p:txBody>
      </p:sp>
      <p:sp>
        <p:nvSpPr>
          <p:cNvPr id="35" name="Text 33"/>
          <p:cNvSpPr/>
          <p:nvPr/>
        </p:nvSpPr>
        <p:spPr>
          <a:xfrm>
            <a:off x="4846320" y="4078224"/>
            <a:ext cx="256032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Rôles RBAC</a:t>
            </a:r>
            <a:endParaRPr lang="en-US" sz="1000" dirty="0"/>
          </a:p>
        </p:txBody>
      </p:sp>
      <p:sp>
        <p:nvSpPr>
          <p:cNvPr id="36" name="Text 34"/>
          <p:cNvSpPr/>
          <p:nvPr/>
        </p:nvSpPr>
        <p:spPr>
          <a:xfrm>
            <a:off x="7406640" y="4078224"/>
            <a:ext cx="1005840" cy="274320"/>
          </a:xfrm>
          <a:prstGeom prst="rect">
            <a:avLst/>
          </a:prstGeom>
          <a:noFill/>
          <a:ln/>
        </p:spPr>
        <p:txBody>
          <a:bodyPr wrap="square" lIns="0" tIns="0" rIns="0" bIns="0" rtlCol="0" anchor="ctr"/>
          <a:lstStyle/>
          <a:p>
            <a:pPr algn="r" indent="0" marL="0">
              <a:buNone/>
            </a:pPr>
            <a:r>
              <a:rPr lang="en-US" sz="1000" b="1" dirty="0">
                <a:solidFill>
                  <a:srgbClr val="F9FAFB"/>
                </a:solidFill>
                <a:latin typeface="Calibri" pitchFamily="34" charset="0"/>
                <a:ea typeface="Calibri" pitchFamily="34" charset="-122"/>
                <a:cs typeface="Calibri" pitchFamily="34" charset="-120"/>
              </a:rPr>
              <a:t>3</a:t>
            </a:r>
            <a:endParaRPr lang="en-US" sz="1000" dirty="0"/>
          </a:p>
        </p:txBody>
      </p:sp>
      <p:sp>
        <p:nvSpPr>
          <p:cNvPr id="37" name="Text 35"/>
          <p:cNvSpPr/>
          <p:nvPr/>
        </p:nvSpPr>
        <p:spPr>
          <a:xfrm>
            <a:off x="4846320" y="4416552"/>
            <a:ext cx="256032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Export PDF</a:t>
            </a:r>
            <a:endParaRPr lang="en-US" sz="1000" dirty="0"/>
          </a:p>
        </p:txBody>
      </p:sp>
      <p:sp>
        <p:nvSpPr>
          <p:cNvPr id="38" name="Text 36"/>
          <p:cNvSpPr/>
          <p:nvPr/>
        </p:nvSpPr>
        <p:spPr>
          <a:xfrm>
            <a:off x="7406640" y="4416552"/>
            <a:ext cx="1005840" cy="274320"/>
          </a:xfrm>
          <a:prstGeom prst="rect">
            <a:avLst/>
          </a:prstGeom>
          <a:noFill/>
          <a:ln/>
        </p:spPr>
        <p:txBody>
          <a:bodyPr wrap="square" lIns="0" tIns="0" rIns="0" bIns="0" rtlCol="0" anchor="ctr"/>
          <a:lstStyle/>
          <a:p>
            <a:pPr algn="r" indent="0" marL="0">
              <a:buNone/>
            </a:pPr>
            <a:r>
              <a:rPr lang="en-US" sz="1000" b="1" dirty="0">
                <a:solidFill>
                  <a:srgbClr val="F9FAFB"/>
                </a:solidFill>
                <a:latin typeface="Calibri" pitchFamily="34" charset="0"/>
                <a:ea typeface="Calibri" pitchFamily="34" charset="-122"/>
                <a:cs typeface="Calibri" pitchFamily="34" charset="-120"/>
              </a:rPr>
              <a:t>✓ 2 pages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457200" y="256032"/>
            <a:ext cx="1005840" cy="64008"/>
          </a:xfrm>
          <a:prstGeom prst="rect">
            <a:avLst/>
          </a:prstGeom>
          <a:solidFill>
            <a:srgbClr val="FF6B35"/>
          </a:solidFill>
          <a:ln w="12700">
            <a:solidFill>
              <a:srgbClr val="FF6B35"/>
            </a:solidFill>
            <a:prstDash val="solid"/>
          </a:ln>
        </p:spPr>
      </p:sp>
      <p:sp>
        <p:nvSpPr>
          <p:cNvPr id="3" name="Text 1"/>
          <p:cNvSpPr/>
          <p:nvPr/>
        </p:nvSpPr>
        <p:spPr>
          <a:xfrm>
            <a:off x="457200" y="365760"/>
            <a:ext cx="8229600" cy="411480"/>
          </a:xfrm>
          <a:prstGeom prst="rect">
            <a:avLst/>
          </a:prstGeom>
          <a:noFill/>
          <a:ln/>
        </p:spPr>
        <p:txBody>
          <a:bodyPr wrap="square" lIns="0" tIns="0" rIns="0" bIns="0" rtlCol="0" anchor="ctr"/>
          <a:lstStyle/>
          <a:p>
            <a:pPr indent="0" marL="0">
              <a:buNone/>
            </a:pPr>
            <a:r>
              <a:rPr lang="en-US" sz="2600" b="1" dirty="0">
                <a:solidFill>
                  <a:srgbClr val="F9FAFB"/>
                </a:solidFill>
                <a:latin typeface="Calibri" pitchFamily="34" charset="0"/>
                <a:ea typeface="Calibri" pitchFamily="34" charset="-122"/>
                <a:cs typeface="Calibri" pitchFamily="34" charset="-120"/>
              </a:rPr>
              <a:t>Perspectives &amp; Améliorations</a:t>
            </a:r>
            <a:endParaRPr lang="en-US" sz="2600" dirty="0"/>
          </a:p>
        </p:txBody>
      </p:sp>
      <p:sp>
        <p:nvSpPr>
          <p:cNvPr id="4" name="Text 2"/>
          <p:cNvSpPr/>
          <p:nvPr/>
        </p:nvSpPr>
        <p:spPr>
          <a:xfrm>
            <a:off x="0" y="4892040"/>
            <a:ext cx="9144000" cy="256032"/>
          </a:xfrm>
          <a:prstGeom prst="rect">
            <a:avLst/>
          </a:prstGeom>
          <a:noFill/>
          <a:ln/>
        </p:spPr>
        <p:txBody>
          <a:bodyPr wrap="square" lIns="0" tIns="0" rIns="0" bIns="0" rtlCol="0" anchor="ctr"/>
          <a:lstStyle/>
          <a:p>
            <a:pPr algn="ctr" indent="0" marL="0">
              <a:buNone/>
            </a:pPr>
            <a:r>
              <a:rPr lang="en-US" sz="800" dirty="0">
                <a:solidFill>
                  <a:srgbClr val="374151"/>
                </a:solidFill>
                <a:latin typeface="Calibri" pitchFamily="34" charset="0"/>
                <a:ea typeface="Calibri" pitchFamily="34" charset="-122"/>
                <a:cs typeface="Calibri" pitchFamily="34" charset="-120"/>
              </a:rPr>
              <a:t>ESPRIT · SIMAC · CETUD  |  13 / 18</a:t>
            </a:r>
            <a:endParaRPr lang="en-US" sz="800" dirty="0"/>
          </a:p>
        </p:txBody>
      </p:sp>
      <p:sp>
        <p:nvSpPr>
          <p:cNvPr id="5" name="Shape 3"/>
          <p:cNvSpPr/>
          <p:nvPr/>
        </p:nvSpPr>
        <p:spPr>
          <a:xfrm>
            <a:off x="384048" y="987552"/>
            <a:ext cx="2697480" cy="1572768"/>
          </a:xfrm>
          <a:prstGeom prst="roundRect">
            <a:avLst>
              <a:gd name="adj" fmla="val 6977"/>
            </a:avLst>
          </a:prstGeom>
          <a:solidFill>
            <a:srgbClr val="1C2333"/>
          </a:solidFill>
          <a:ln/>
          <a:effectLst>
            <a:outerShdw sx="100000" sy="100000" kx="0" ky="0" algn="bl" rotWithShape="0" blurRad="177800" dist="50800" dir="2700000">
              <a:srgbClr val="000000">
                <a:alpha val="35000"/>
              </a:srgbClr>
            </a:outerShdw>
          </a:effectLst>
        </p:spPr>
      </p:sp>
      <p:sp>
        <p:nvSpPr>
          <p:cNvPr id="6" name="Text 4"/>
          <p:cNvSpPr/>
          <p:nvPr/>
        </p:nvSpPr>
        <p:spPr>
          <a:xfrm>
            <a:off x="384048" y="1078992"/>
            <a:ext cx="2697480" cy="475488"/>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7" name="Text 5"/>
          <p:cNvSpPr/>
          <p:nvPr/>
        </p:nvSpPr>
        <p:spPr>
          <a:xfrm>
            <a:off x="475488" y="1581912"/>
            <a:ext cx="2514600" cy="320040"/>
          </a:xfrm>
          <a:prstGeom prst="rect">
            <a:avLst/>
          </a:prstGeom>
          <a:noFill/>
          <a:ln/>
        </p:spPr>
        <p:txBody>
          <a:bodyPr wrap="square" lIns="0" tIns="0" rIns="0" bIns="0" rtlCol="0" anchor="ctr"/>
          <a:lstStyle/>
          <a:p>
            <a:pPr algn="ctr" indent="0" marL="0">
              <a:buNone/>
            </a:pPr>
            <a:r>
              <a:rPr lang="en-US" sz="1200" b="1" dirty="0">
                <a:solidFill>
                  <a:srgbClr val="FF6B35"/>
                </a:solidFill>
                <a:latin typeface="Calibri" pitchFamily="34" charset="0"/>
                <a:ea typeface="Calibri" pitchFamily="34" charset="-122"/>
                <a:cs typeface="Calibri" pitchFamily="34" charset="-120"/>
              </a:rPr>
              <a:t>Données temps réel</a:t>
            </a:r>
            <a:endParaRPr lang="en-US" sz="1200" dirty="0"/>
          </a:p>
        </p:txBody>
      </p:sp>
      <p:sp>
        <p:nvSpPr>
          <p:cNvPr id="8" name="Text 6"/>
          <p:cNvSpPr/>
          <p:nvPr/>
        </p:nvSpPr>
        <p:spPr>
          <a:xfrm>
            <a:off x="475488" y="1920240"/>
            <a:ext cx="2514600" cy="54864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GPS bus + capteurs IoT pour actualisation continue du DW</a:t>
            </a:r>
            <a:endParaRPr lang="en-US" sz="1000" dirty="0"/>
          </a:p>
        </p:txBody>
      </p:sp>
      <p:sp>
        <p:nvSpPr>
          <p:cNvPr id="9" name="Shape 7"/>
          <p:cNvSpPr/>
          <p:nvPr/>
        </p:nvSpPr>
        <p:spPr>
          <a:xfrm>
            <a:off x="3236976" y="987552"/>
            <a:ext cx="2697480" cy="1572768"/>
          </a:xfrm>
          <a:prstGeom prst="roundRect">
            <a:avLst>
              <a:gd name="adj" fmla="val 6977"/>
            </a:avLst>
          </a:prstGeom>
          <a:solidFill>
            <a:srgbClr val="1C2333"/>
          </a:solidFill>
          <a:ln/>
          <a:effectLst>
            <a:outerShdw sx="100000" sy="100000" kx="0" ky="0" algn="bl" rotWithShape="0" blurRad="177800" dist="50800" dir="2700000">
              <a:srgbClr val="000000">
                <a:alpha val="35000"/>
              </a:srgbClr>
            </a:outerShdw>
          </a:effectLst>
        </p:spPr>
      </p:sp>
      <p:sp>
        <p:nvSpPr>
          <p:cNvPr id="10" name="Text 8"/>
          <p:cNvSpPr/>
          <p:nvPr/>
        </p:nvSpPr>
        <p:spPr>
          <a:xfrm>
            <a:off x="3236976" y="1078992"/>
            <a:ext cx="2697480" cy="475488"/>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1" name="Text 9"/>
          <p:cNvSpPr/>
          <p:nvPr/>
        </p:nvSpPr>
        <p:spPr>
          <a:xfrm>
            <a:off x="3328416" y="1581912"/>
            <a:ext cx="2514600" cy="320040"/>
          </a:xfrm>
          <a:prstGeom prst="rect">
            <a:avLst/>
          </a:prstGeom>
          <a:noFill/>
          <a:ln/>
        </p:spPr>
        <p:txBody>
          <a:bodyPr wrap="square" lIns="0" tIns="0" rIns="0" bIns="0" rtlCol="0" anchor="ctr"/>
          <a:lstStyle/>
          <a:p>
            <a:pPr algn="ctr" indent="0" marL="0">
              <a:buNone/>
            </a:pPr>
            <a:r>
              <a:rPr lang="en-US" sz="1200" b="1" dirty="0">
                <a:solidFill>
                  <a:srgbClr val="FF6B35"/>
                </a:solidFill>
                <a:latin typeface="Calibri" pitchFamily="34" charset="0"/>
                <a:ea typeface="Calibri" pitchFamily="34" charset="-122"/>
                <a:cs typeface="Calibri" pitchFamily="34" charset="-120"/>
              </a:rPr>
              <a:t>ML prédictif avancé</a:t>
            </a:r>
            <a:endParaRPr lang="en-US" sz="1200" dirty="0"/>
          </a:p>
        </p:txBody>
      </p:sp>
      <p:sp>
        <p:nvSpPr>
          <p:cNvPr id="12" name="Text 10"/>
          <p:cNvSpPr/>
          <p:nvPr/>
        </p:nvSpPr>
        <p:spPr>
          <a:xfrm>
            <a:off x="3328416" y="1920240"/>
            <a:ext cx="2514600" cy="54864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LSTM trafic · MLflow pour versioning des modèles</a:t>
            </a:r>
            <a:endParaRPr lang="en-US" sz="1000" dirty="0"/>
          </a:p>
        </p:txBody>
      </p:sp>
      <p:sp>
        <p:nvSpPr>
          <p:cNvPr id="13" name="Shape 11"/>
          <p:cNvSpPr/>
          <p:nvPr/>
        </p:nvSpPr>
        <p:spPr>
          <a:xfrm>
            <a:off x="6089904" y="987552"/>
            <a:ext cx="2697480" cy="1572768"/>
          </a:xfrm>
          <a:prstGeom prst="roundRect">
            <a:avLst>
              <a:gd name="adj" fmla="val 6977"/>
            </a:avLst>
          </a:prstGeom>
          <a:solidFill>
            <a:srgbClr val="1C2333"/>
          </a:solidFill>
          <a:ln/>
          <a:effectLst>
            <a:outerShdw sx="100000" sy="100000" kx="0" ky="0" algn="bl" rotWithShape="0" blurRad="177800" dist="50800" dir="2700000">
              <a:srgbClr val="000000">
                <a:alpha val="35000"/>
              </a:srgbClr>
            </a:outerShdw>
          </a:effectLst>
        </p:spPr>
      </p:sp>
      <p:sp>
        <p:nvSpPr>
          <p:cNvPr id="14" name="Text 12"/>
          <p:cNvSpPr/>
          <p:nvPr/>
        </p:nvSpPr>
        <p:spPr>
          <a:xfrm>
            <a:off x="6089904" y="1078992"/>
            <a:ext cx="2697480" cy="475488"/>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5" name="Text 13"/>
          <p:cNvSpPr/>
          <p:nvPr/>
        </p:nvSpPr>
        <p:spPr>
          <a:xfrm>
            <a:off x="6181344" y="1581912"/>
            <a:ext cx="2514600" cy="320040"/>
          </a:xfrm>
          <a:prstGeom prst="rect">
            <a:avLst/>
          </a:prstGeom>
          <a:noFill/>
          <a:ln/>
        </p:spPr>
        <p:txBody>
          <a:bodyPr wrap="square" lIns="0" tIns="0" rIns="0" bIns="0" rtlCol="0" anchor="ctr"/>
          <a:lstStyle/>
          <a:p>
            <a:pPr algn="ctr" indent="0" marL="0">
              <a:buNone/>
            </a:pPr>
            <a:r>
              <a:rPr lang="en-US" sz="1200" b="1" dirty="0">
                <a:solidFill>
                  <a:srgbClr val="FF6B35"/>
                </a:solidFill>
                <a:latin typeface="Calibri" pitchFamily="34" charset="0"/>
                <a:ea typeface="Calibri" pitchFamily="34" charset="-122"/>
                <a:cs typeface="Calibri" pitchFamily="34" charset="-120"/>
              </a:rPr>
              <a:t>Application mobile</a:t>
            </a:r>
            <a:endParaRPr lang="en-US" sz="1200" dirty="0"/>
          </a:p>
        </p:txBody>
      </p:sp>
      <p:sp>
        <p:nvSpPr>
          <p:cNvPr id="16" name="Text 14"/>
          <p:cNvSpPr/>
          <p:nvPr/>
        </p:nvSpPr>
        <p:spPr>
          <a:xfrm>
            <a:off x="6181344" y="1920240"/>
            <a:ext cx="2514600" cy="54864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PWA React Native · notifications push zones à risque</a:t>
            </a:r>
            <a:endParaRPr lang="en-US" sz="1000" dirty="0"/>
          </a:p>
        </p:txBody>
      </p:sp>
      <p:sp>
        <p:nvSpPr>
          <p:cNvPr id="17" name="Shape 15"/>
          <p:cNvSpPr/>
          <p:nvPr/>
        </p:nvSpPr>
        <p:spPr>
          <a:xfrm>
            <a:off x="384048" y="2788920"/>
            <a:ext cx="2697480" cy="1572768"/>
          </a:xfrm>
          <a:prstGeom prst="roundRect">
            <a:avLst>
              <a:gd name="adj" fmla="val 6977"/>
            </a:avLst>
          </a:prstGeom>
          <a:solidFill>
            <a:srgbClr val="1C2333"/>
          </a:solidFill>
          <a:ln/>
          <a:effectLst>
            <a:outerShdw sx="100000" sy="100000" kx="0" ky="0" algn="bl" rotWithShape="0" blurRad="177800" dist="50800" dir="2700000">
              <a:srgbClr val="000000">
                <a:alpha val="35000"/>
              </a:srgbClr>
            </a:outerShdw>
          </a:effectLst>
        </p:spPr>
      </p:sp>
      <p:sp>
        <p:nvSpPr>
          <p:cNvPr id="18" name="Text 16"/>
          <p:cNvSpPr/>
          <p:nvPr/>
        </p:nvSpPr>
        <p:spPr>
          <a:xfrm>
            <a:off x="384048" y="2880360"/>
            <a:ext cx="2697480" cy="475488"/>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9" name="Text 17"/>
          <p:cNvSpPr/>
          <p:nvPr/>
        </p:nvSpPr>
        <p:spPr>
          <a:xfrm>
            <a:off x="475488" y="3383280"/>
            <a:ext cx="2514600" cy="320040"/>
          </a:xfrm>
          <a:prstGeom prst="rect">
            <a:avLst/>
          </a:prstGeom>
          <a:noFill/>
          <a:ln/>
        </p:spPr>
        <p:txBody>
          <a:bodyPr wrap="square" lIns="0" tIns="0" rIns="0" bIns="0" rtlCol="0" anchor="ctr"/>
          <a:lstStyle/>
          <a:p>
            <a:pPr algn="ctr" indent="0" marL="0">
              <a:buNone/>
            </a:pPr>
            <a:r>
              <a:rPr lang="en-US" sz="1200" b="1" dirty="0">
                <a:solidFill>
                  <a:srgbClr val="FF6B35"/>
                </a:solidFill>
                <a:latin typeface="Calibri" pitchFamily="34" charset="0"/>
                <a:ea typeface="Calibri" pitchFamily="34" charset="-122"/>
                <a:cs typeface="Calibri" pitchFamily="34" charset="-120"/>
              </a:rPr>
              <a:t>Extension géographique</a:t>
            </a:r>
            <a:endParaRPr lang="en-US" sz="1200" dirty="0"/>
          </a:p>
        </p:txBody>
      </p:sp>
      <p:sp>
        <p:nvSpPr>
          <p:cNvPr id="20" name="Text 18"/>
          <p:cNvSpPr/>
          <p:nvPr/>
        </p:nvSpPr>
        <p:spPr>
          <a:xfrm>
            <a:off x="475488" y="3721608"/>
            <a:ext cx="2514600" cy="54864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Autres villes du Sénégal et d'Afrique de l'Ouest</a:t>
            </a:r>
            <a:endParaRPr lang="en-US" sz="1000" dirty="0"/>
          </a:p>
        </p:txBody>
      </p:sp>
      <p:sp>
        <p:nvSpPr>
          <p:cNvPr id="21" name="Shape 19"/>
          <p:cNvSpPr/>
          <p:nvPr/>
        </p:nvSpPr>
        <p:spPr>
          <a:xfrm>
            <a:off x="3236976" y="2788920"/>
            <a:ext cx="2697480" cy="1572768"/>
          </a:xfrm>
          <a:prstGeom prst="roundRect">
            <a:avLst>
              <a:gd name="adj" fmla="val 6977"/>
            </a:avLst>
          </a:prstGeom>
          <a:solidFill>
            <a:srgbClr val="1C2333"/>
          </a:solidFill>
          <a:ln/>
          <a:effectLst>
            <a:outerShdw sx="100000" sy="100000" kx="0" ky="0" algn="bl" rotWithShape="0" blurRad="177800" dist="50800" dir="2700000">
              <a:srgbClr val="000000">
                <a:alpha val="35000"/>
              </a:srgbClr>
            </a:outerShdw>
          </a:effectLst>
        </p:spPr>
      </p:sp>
      <p:sp>
        <p:nvSpPr>
          <p:cNvPr id="22" name="Text 20"/>
          <p:cNvSpPr/>
          <p:nvPr/>
        </p:nvSpPr>
        <p:spPr>
          <a:xfrm>
            <a:off x="3236976" y="2880360"/>
            <a:ext cx="2697480" cy="475488"/>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3" name="Text 21"/>
          <p:cNvSpPr/>
          <p:nvPr/>
        </p:nvSpPr>
        <p:spPr>
          <a:xfrm>
            <a:off x="3328416" y="3383280"/>
            <a:ext cx="2514600" cy="320040"/>
          </a:xfrm>
          <a:prstGeom prst="rect">
            <a:avLst/>
          </a:prstGeom>
          <a:noFill/>
          <a:ln/>
        </p:spPr>
        <p:txBody>
          <a:bodyPr wrap="square" lIns="0" tIns="0" rIns="0" bIns="0" rtlCol="0" anchor="ctr"/>
          <a:lstStyle/>
          <a:p>
            <a:pPr algn="ctr" indent="0" marL="0">
              <a:buNone/>
            </a:pPr>
            <a:r>
              <a:rPr lang="en-US" sz="1200" b="1" dirty="0">
                <a:solidFill>
                  <a:srgbClr val="FF6B35"/>
                </a:solidFill>
                <a:latin typeface="Calibri" pitchFamily="34" charset="0"/>
                <a:ea typeface="Calibri" pitchFamily="34" charset="-122"/>
                <a:cs typeface="Calibri" pitchFamily="34" charset="-120"/>
              </a:rPr>
              <a:t>Intégration CETUD</a:t>
            </a:r>
            <a:endParaRPr lang="en-US" sz="1200" dirty="0"/>
          </a:p>
        </p:txBody>
      </p:sp>
      <p:sp>
        <p:nvSpPr>
          <p:cNvPr id="24" name="Text 22"/>
          <p:cNvSpPr/>
          <p:nvPr/>
        </p:nvSpPr>
        <p:spPr>
          <a:xfrm>
            <a:off x="3328416" y="3721608"/>
            <a:ext cx="2514600" cy="54864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API officielle · mise à jour automatique EMD</a:t>
            </a:r>
            <a:endParaRPr lang="en-US" sz="1000" dirty="0"/>
          </a:p>
        </p:txBody>
      </p:sp>
      <p:sp>
        <p:nvSpPr>
          <p:cNvPr id="25" name="Shape 23"/>
          <p:cNvSpPr/>
          <p:nvPr/>
        </p:nvSpPr>
        <p:spPr>
          <a:xfrm>
            <a:off x="6089904" y="2788920"/>
            <a:ext cx="2697480" cy="1572768"/>
          </a:xfrm>
          <a:prstGeom prst="roundRect">
            <a:avLst>
              <a:gd name="adj" fmla="val 6977"/>
            </a:avLst>
          </a:prstGeom>
          <a:solidFill>
            <a:srgbClr val="1C2333"/>
          </a:solidFill>
          <a:ln/>
          <a:effectLst>
            <a:outerShdw sx="100000" sy="100000" kx="0" ky="0" algn="bl" rotWithShape="0" blurRad="177800" dist="50800" dir="2700000">
              <a:srgbClr val="000000">
                <a:alpha val="35000"/>
              </a:srgbClr>
            </a:outerShdw>
          </a:effectLst>
        </p:spPr>
      </p:sp>
      <p:sp>
        <p:nvSpPr>
          <p:cNvPr id="26" name="Text 24"/>
          <p:cNvSpPr/>
          <p:nvPr/>
        </p:nvSpPr>
        <p:spPr>
          <a:xfrm>
            <a:off x="6089904" y="2880360"/>
            <a:ext cx="2697480" cy="475488"/>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7" name="Text 25"/>
          <p:cNvSpPr/>
          <p:nvPr/>
        </p:nvSpPr>
        <p:spPr>
          <a:xfrm>
            <a:off x="6181344" y="3383280"/>
            <a:ext cx="2514600" cy="320040"/>
          </a:xfrm>
          <a:prstGeom prst="rect">
            <a:avLst/>
          </a:prstGeom>
          <a:noFill/>
          <a:ln/>
        </p:spPr>
        <p:txBody>
          <a:bodyPr wrap="square" lIns="0" tIns="0" rIns="0" bIns="0" rtlCol="0" anchor="ctr"/>
          <a:lstStyle/>
          <a:p>
            <a:pPr algn="ctr" indent="0" marL="0">
              <a:buNone/>
            </a:pPr>
            <a:r>
              <a:rPr lang="en-US" sz="1200" b="1" dirty="0">
                <a:solidFill>
                  <a:srgbClr val="FF6B35"/>
                </a:solidFill>
                <a:latin typeface="Calibri" pitchFamily="34" charset="0"/>
                <a:ea typeface="Calibri" pitchFamily="34" charset="-122"/>
                <a:cs typeface="Calibri" pitchFamily="34" charset="-120"/>
              </a:rPr>
              <a:t>Rapports automatisés</a:t>
            </a:r>
            <a:endParaRPr lang="en-US" sz="1200" dirty="0"/>
          </a:p>
        </p:txBody>
      </p:sp>
      <p:sp>
        <p:nvSpPr>
          <p:cNvPr id="28" name="Text 26"/>
          <p:cNvSpPr/>
          <p:nvPr/>
        </p:nvSpPr>
        <p:spPr>
          <a:xfrm>
            <a:off x="6181344" y="3721608"/>
            <a:ext cx="2514600" cy="54864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Génération PDF/Excel mensuelle pour comités direction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1371600" y="2286000"/>
            <a:ext cx="4572000" cy="4572000"/>
          </a:xfrm>
          <a:prstGeom prst="ellipse">
            <a:avLst/>
          </a:prstGeom>
          <a:solidFill>
            <a:srgbClr val="FF6B35">
              <a:alpha val="10000"/>
            </a:srgbClr>
          </a:solidFill>
          <a:ln w="12700">
            <a:solidFill>
              <a:srgbClr val="FF6B35">
                <a:alpha val="20000"/>
              </a:srgbClr>
            </a:solidFill>
            <a:prstDash val="solid"/>
          </a:ln>
        </p:spPr>
      </p:sp>
      <p:sp>
        <p:nvSpPr>
          <p:cNvPr id="3" name="Shape 1"/>
          <p:cNvSpPr/>
          <p:nvPr/>
        </p:nvSpPr>
        <p:spPr>
          <a:xfrm>
            <a:off x="457200" y="256032"/>
            <a:ext cx="1005840" cy="64008"/>
          </a:xfrm>
          <a:prstGeom prst="rect">
            <a:avLst/>
          </a:prstGeom>
          <a:solidFill>
            <a:srgbClr val="FF6B35"/>
          </a:solidFill>
          <a:ln w="12700">
            <a:solidFill>
              <a:srgbClr val="FF6B35"/>
            </a:solidFill>
            <a:prstDash val="solid"/>
          </a:ln>
        </p:spPr>
      </p:sp>
      <p:sp>
        <p:nvSpPr>
          <p:cNvPr id="4" name="Text 2"/>
          <p:cNvSpPr/>
          <p:nvPr/>
        </p:nvSpPr>
        <p:spPr>
          <a:xfrm>
            <a:off x="457200" y="365760"/>
            <a:ext cx="8229600" cy="411480"/>
          </a:xfrm>
          <a:prstGeom prst="rect">
            <a:avLst/>
          </a:prstGeom>
          <a:noFill/>
          <a:ln/>
        </p:spPr>
        <p:txBody>
          <a:bodyPr wrap="square" lIns="0" tIns="0" rIns="0" bIns="0" rtlCol="0" anchor="ctr"/>
          <a:lstStyle/>
          <a:p>
            <a:pPr indent="0" marL="0">
              <a:buNone/>
            </a:pPr>
            <a:r>
              <a:rPr lang="en-US" sz="2600" b="1" dirty="0">
                <a:solidFill>
                  <a:srgbClr val="F9FAFB"/>
                </a:solidFill>
                <a:latin typeface="Calibri" pitchFamily="34" charset="0"/>
                <a:ea typeface="Calibri" pitchFamily="34" charset="-122"/>
                <a:cs typeface="Calibri" pitchFamily="34" charset="-120"/>
              </a:rPr>
              <a:t>Conclusion</a:t>
            </a:r>
            <a:endParaRPr lang="en-US" sz="2600" dirty="0"/>
          </a:p>
        </p:txBody>
      </p:sp>
      <p:sp>
        <p:nvSpPr>
          <p:cNvPr id="5" name="Text 3"/>
          <p:cNvSpPr/>
          <p:nvPr/>
        </p:nvSpPr>
        <p:spPr>
          <a:xfrm>
            <a:off x="0" y="4892040"/>
            <a:ext cx="9144000" cy="256032"/>
          </a:xfrm>
          <a:prstGeom prst="rect">
            <a:avLst/>
          </a:prstGeom>
          <a:noFill/>
          <a:ln/>
        </p:spPr>
        <p:txBody>
          <a:bodyPr wrap="square" lIns="0" tIns="0" rIns="0" bIns="0" rtlCol="0" anchor="ctr"/>
          <a:lstStyle/>
          <a:p>
            <a:pPr algn="ctr" indent="0" marL="0">
              <a:buNone/>
            </a:pPr>
            <a:r>
              <a:rPr lang="en-US" sz="800" dirty="0">
                <a:solidFill>
                  <a:srgbClr val="374151"/>
                </a:solidFill>
                <a:latin typeface="Calibri" pitchFamily="34" charset="0"/>
                <a:ea typeface="Calibri" pitchFamily="34" charset="-122"/>
                <a:cs typeface="Calibri" pitchFamily="34" charset="-120"/>
              </a:rPr>
              <a:t>ESPRIT · SIMAC · CETUD  |  14 / 18</a:t>
            </a:r>
            <a:endParaRPr lang="en-US" sz="800" dirty="0"/>
          </a:p>
        </p:txBody>
      </p:sp>
      <p:sp>
        <p:nvSpPr>
          <p:cNvPr id="6" name="Shape 4"/>
          <p:cNvSpPr/>
          <p:nvPr/>
        </p:nvSpPr>
        <p:spPr>
          <a:xfrm>
            <a:off x="457200" y="987552"/>
            <a:ext cx="8229600" cy="3200400"/>
          </a:xfrm>
          <a:prstGeom prst="roundRect">
            <a:avLst>
              <a:gd name="adj" fmla="val 3429"/>
            </a:avLst>
          </a:prstGeom>
          <a:solidFill>
            <a:srgbClr val="1C2333"/>
          </a:solidFill>
          <a:ln/>
          <a:effectLst>
            <a:outerShdw sx="100000" sy="100000" kx="0" ky="0" algn="bl" rotWithShape="0" blurRad="177800" dist="50800" dir="2700000">
              <a:srgbClr val="000000">
                <a:alpha val="35000"/>
              </a:srgbClr>
            </a:outerShdw>
          </a:effectLst>
        </p:spPr>
      </p:sp>
      <p:sp>
        <p:nvSpPr>
          <p:cNvPr id="7" name="Text 5"/>
          <p:cNvSpPr/>
          <p:nvPr/>
        </p:nvSpPr>
        <p:spPr>
          <a:xfrm>
            <a:off x="685800" y="1115568"/>
            <a:ext cx="7772400" cy="502920"/>
          </a:xfrm>
          <a:prstGeom prst="rect">
            <a:avLst/>
          </a:prstGeom>
          <a:noFill/>
          <a:ln/>
        </p:spPr>
        <p:txBody>
          <a:bodyPr wrap="square" lIns="0" tIns="0" rIns="0" bIns="0" rtlCol="0" anchor="ctr"/>
          <a:lstStyle/>
          <a:p>
            <a:pPr indent="0" marL="0">
              <a:buNone/>
            </a:pPr>
            <a:r>
              <a:rPr lang="en-US" sz="1300" dirty="0">
                <a:solidFill>
                  <a:srgbClr val="F9FAFB"/>
                </a:solidFill>
                <a:latin typeface="Calibri" pitchFamily="34" charset="0"/>
                <a:ea typeface="Calibri" pitchFamily="34" charset="-122"/>
                <a:cs typeface="Calibri" pitchFamily="34" charset="-120"/>
              </a:rPr>
              <a:t>Ce projet a permis de construire une chaîne décisionnelle complète pour le transport urbain à Dakar :</a:t>
            </a:r>
            <a:endParaRPr lang="en-US" sz="1300" dirty="0"/>
          </a:p>
        </p:txBody>
      </p:sp>
      <p:sp>
        <p:nvSpPr>
          <p:cNvPr id="8" name="Text 6"/>
          <p:cNvSpPr/>
          <p:nvPr/>
        </p:nvSpPr>
        <p:spPr>
          <a:xfrm>
            <a:off x="822960" y="1691640"/>
            <a:ext cx="7589520" cy="411480"/>
          </a:xfrm>
          <a:prstGeom prst="rect">
            <a:avLst/>
          </a:prstGeom>
          <a:noFill/>
          <a:ln/>
        </p:spPr>
        <p:txBody>
          <a:bodyPr wrap="square" lIns="0" tIns="0" rIns="0" bIns="0" rtlCol="0" anchor="ctr"/>
          <a:lstStyle/>
          <a:p>
            <a:pPr indent="0" marL="0">
              <a:buNone/>
            </a:pPr>
            <a:r>
              <a:rPr lang="en-US" sz="1200" dirty="0">
                <a:solidFill>
                  <a:srgbClr val="F9FAFB"/>
                </a:solidFill>
                <a:latin typeface="Calibri" pitchFamily="34" charset="0"/>
                <a:ea typeface="Calibri" pitchFamily="34" charset="-122"/>
                <a:cs typeface="Calibri" pitchFamily="34" charset="-120"/>
              </a:rPr>
              <a:t>🗄️  Un Data Warehouse en constellation alimenté par ETL Talend</a:t>
            </a:r>
            <a:endParaRPr lang="en-US" sz="1200" dirty="0"/>
          </a:p>
        </p:txBody>
      </p:sp>
      <p:sp>
        <p:nvSpPr>
          <p:cNvPr id="9" name="Text 7"/>
          <p:cNvSpPr/>
          <p:nvPr/>
        </p:nvSpPr>
        <p:spPr>
          <a:xfrm>
            <a:off x="822960" y="2194560"/>
            <a:ext cx="7589520" cy="411480"/>
          </a:xfrm>
          <a:prstGeom prst="rect">
            <a:avLst/>
          </a:prstGeom>
          <a:noFill/>
          <a:ln/>
        </p:spPr>
        <p:txBody>
          <a:bodyPr wrap="square" lIns="0" tIns="0" rIns="0" bIns="0" rtlCol="0" anchor="ctr"/>
          <a:lstStyle/>
          <a:p>
            <a:pPr indent="0" marL="0">
              <a:buNone/>
            </a:pPr>
            <a:r>
              <a:rPr lang="en-US" sz="1200" dirty="0">
                <a:solidFill>
                  <a:srgbClr val="F9FAFB"/>
                </a:solidFill>
                <a:latin typeface="Calibri" pitchFamily="34" charset="0"/>
                <a:ea typeface="Calibri" pitchFamily="34" charset="-122"/>
                <a:cs typeface="Calibri" pitchFamily="34" charset="-120"/>
              </a:rPr>
              <a:t>🧠  4 modèles ML atteignant jusqu'à 90.6% de performance</a:t>
            </a:r>
            <a:endParaRPr lang="en-US" sz="1200" dirty="0"/>
          </a:p>
        </p:txBody>
      </p:sp>
      <p:sp>
        <p:nvSpPr>
          <p:cNvPr id="10" name="Text 8"/>
          <p:cNvSpPr/>
          <p:nvPr/>
        </p:nvSpPr>
        <p:spPr>
          <a:xfrm>
            <a:off x="822960" y="2697480"/>
            <a:ext cx="7589520" cy="411480"/>
          </a:xfrm>
          <a:prstGeom prst="rect">
            <a:avLst/>
          </a:prstGeom>
          <a:noFill/>
          <a:ln/>
        </p:spPr>
        <p:txBody>
          <a:bodyPr wrap="square" lIns="0" tIns="0" rIns="0" bIns="0" rtlCol="0" anchor="ctr"/>
          <a:lstStyle/>
          <a:p>
            <a:pPr indent="0" marL="0">
              <a:buNone/>
            </a:pPr>
            <a:r>
              <a:rPr lang="en-US" sz="1200" dirty="0">
                <a:solidFill>
                  <a:srgbClr val="F9FAFB"/>
                </a:solidFill>
                <a:latin typeface="Calibri" pitchFamily="34" charset="0"/>
                <a:ea typeface="Calibri" pitchFamily="34" charset="-122"/>
                <a:cs typeface="Calibri" pitchFamily="34" charset="-120"/>
              </a:rPr>
              <a:t>📊  Un cockpit Knowage BI à 6 sheets thématiques interactifs</a:t>
            </a:r>
            <a:endParaRPr lang="en-US" sz="1200" dirty="0"/>
          </a:p>
        </p:txBody>
      </p:sp>
      <p:sp>
        <p:nvSpPr>
          <p:cNvPr id="11" name="Text 9"/>
          <p:cNvSpPr/>
          <p:nvPr/>
        </p:nvSpPr>
        <p:spPr>
          <a:xfrm>
            <a:off x="822960" y="3200400"/>
            <a:ext cx="7589520" cy="411480"/>
          </a:xfrm>
          <a:prstGeom prst="rect">
            <a:avLst/>
          </a:prstGeom>
          <a:noFill/>
          <a:ln/>
        </p:spPr>
        <p:txBody>
          <a:bodyPr wrap="square" lIns="0" tIns="0" rIns="0" bIns="0" rtlCol="0" anchor="ctr"/>
          <a:lstStyle/>
          <a:p>
            <a:pPr indent="0" marL="0">
              <a:buNone/>
            </a:pPr>
            <a:r>
              <a:rPr lang="en-US" sz="1200" dirty="0">
                <a:solidFill>
                  <a:srgbClr val="F9FAFB"/>
                </a:solidFill>
                <a:latin typeface="Calibri" pitchFamily="34" charset="0"/>
                <a:ea typeface="Calibri" pitchFamily="34" charset="-122"/>
                <a:cs typeface="Calibri" pitchFamily="34" charset="-120"/>
              </a:rPr>
              <a:t>🌐  Une application web complète citoyens + décideurs avec export PDF</a:t>
            </a:r>
            <a:endParaRPr lang="en-US" sz="1200" dirty="0"/>
          </a:p>
        </p:txBody>
      </p:sp>
      <p:sp>
        <p:nvSpPr>
          <p:cNvPr id="12" name="Shape 10"/>
          <p:cNvSpPr/>
          <p:nvPr/>
        </p:nvSpPr>
        <p:spPr>
          <a:xfrm>
            <a:off x="457200" y="4315968"/>
            <a:ext cx="8229600" cy="566928"/>
          </a:xfrm>
          <a:prstGeom prst="roundRect">
            <a:avLst>
              <a:gd name="adj" fmla="val 19355"/>
            </a:avLst>
          </a:prstGeom>
          <a:solidFill>
            <a:srgbClr val="1A2B1A"/>
          </a:solidFill>
          <a:ln/>
          <a:effectLst>
            <a:outerShdw sx="100000" sy="100000" kx="0" ky="0" algn="bl" rotWithShape="0" blurRad="177800" dist="50800" dir="2700000">
              <a:srgbClr val="000000">
                <a:alpha val="35000"/>
              </a:srgbClr>
            </a:outerShdw>
          </a:effectLst>
        </p:spPr>
      </p:sp>
      <p:sp>
        <p:nvSpPr>
          <p:cNvPr id="13" name="Text 11"/>
          <p:cNvSpPr/>
          <p:nvPr/>
        </p:nvSpPr>
        <p:spPr>
          <a:xfrm>
            <a:off x="640080" y="4407408"/>
            <a:ext cx="7863840" cy="384048"/>
          </a:xfrm>
          <a:prstGeom prst="rect">
            <a:avLst/>
          </a:prstGeom>
          <a:noFill/>
          <a:ln/>
        </p:spPr>
        <p:txBody>
          <a:bodyPr wrap="square" lIns="0" tIns="0" rIns="0" bIns="0" rtlCol="0" anchor="ctr"/>
          <a:lstStyle/>
          <a:p>
            <a:pPr algn="ctr" indent="0" marL="0">
              <a:buNone/>
            </a:pPr>
            <a:r>
              <a:rPr lang="en-US" sz="1200" i="1" dirty="0">
                <a:solidFill>
                  <a:srgbClr val="10B981"/>
                </a:solidFill>
                <a:latin typeface="Calibri" pitchFamily="34" charset="0"/>
                <a:ea typeface="Calibri" pitchFamily="34" charset="-122"/>
                <a:cs typeface="Calibri" pitchFamily="34" charset="-120"/>
              </a:rPr>
              <a:t>« Transformer la donnée en intelligence au service de la mobilité durable à Dakar »</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0" y="731520"/>
            <a:ext cx="3657600" cy="3657600"/>
          </a:xfrm>
          <a:prstGeom prst="ellipse">
            <a:avLst/>
          </a:prstGeom>
          <a:solidFill>
            <a:srgbClr val="FF6B35">
              <a:alpha val="8000"/>
            </a:srgbClr>
          </a:solidFill>
          <a:ln w="12700">
            <a:solidFill>
              <a:srgbClr val="FF6B35">
                <a:alpha val="25000"/>
              </a:srgbClr>
            </a:solidFill>
            <a:prstDash val="solid"/>
          </a:ln>
        </p:spPr>
      </p:sp>
      <p:sp>
        <p:nvSpPr>
          <p:cNvPr id="3" name="Shape 1"/>
          <p:cNvSpPr/>
          <p:nvPr/>
        </p:nvSpPr>
        <p:spPr>
          <a:xfrm>
            <a:off x="3474720" y="1280160"/>
            <a:ext cx="2194560" cy="2194560"/>
          </a:xfrm>
          <a:prstGeom prst="ellipse">
            <a:avLst/>
          </a:prstGeom>
          <a:solidFill>
            <a:srgbClr val="FF6B35">
              <a:alpha val="18000"/>
            </a:srgbClr>
          </a:solidFill>
          <a:ln w="12700">
            <a:solidFill>
              <a:srgbClr val="FF6B35">
                <a:alpha val="35000"/>
              </a:srgbClr>
            </a:solidFill>
            <a:prstDash val="solid"/>
          </a:ln>
        </p:spPr>
      </p:sp>
      <p:sp>
        <p:nvSpPr>
          <p:cNvPr id="4" name="Text 2"/>
          <p:cNvSpPr/>
          <p:nvPr/>
        </p:nvSpPr>
        <p:spPr>
          <a:xfrm>
            <a:off x="457200" y="1188720"/>
            <a:ext cx="8229600" cy="640080"/>
          </a:xfrm>
          <a:prstGeom prst="rect">
            <a:avLst/>
          </a:prstGeom>
          <a:noFill/>
          <a:ln/>
        </p:spPr>
        <p:txBody>
          <a:bodyPr wrap="square" lIns="0" tIns="0" rIns="0" bIns="0" rtlCol="0" anchor="ctr"/>
          <a:lstStyle/>
          <a:p>
            <a:pPr algn="ctr" indent="0" marL="0">
              <a:buNone/>
            </a:pPr>
            <a:r>
              <a:rPr lang="en-US" sz="3400" b="1" dirty="0">
                <a:solidFill>
                  <a:srgbClr val="F9FAFB"/>
                </a:solidFill>
                <a:latin typeface="Calibri" pitchFamily="34" charset="0"/>
                <a:ea typeface="Calibri" pitchFamily="34" charset="-122"/>
                <a:cs typeface="Calibri" pitchFamily="34" charset="-120"/>
              </a:rPr>
              <a:t>Merci pour votre attention</a:t>
            </a:r>
            <a:endParaRPr lang="en-US" sz="3400" dirty="0"/>
          </a:p>
        </p:txBody>
      </p:sp>
      <p:sp>
        <p:nvSpPr>
          <p:cNvPr id="5" name="Text 3"/>
          <p:cNvSpPr/>
          <p:nvPr/>
        </p:nvSpPr>
        <p:spPr>
          <a:xfrm>
            <a:off x="457200" y="1874520"/>
            <a:ext cx="8229600" cy="1005840"/>
          </a:xfrm>
          <a:prstGeom prst="rect">
            <a:avLst/>
          </a:prstGeom>
          <a:noFill/>
          <a:ln/>
        </p:spPr>
        <p:txBody>
          <a:bodyPr wrap="square" lIns="0" tIns="0" rIns="0" bIns="0" rtlCol="0" anchor="ctr"/>
          <a:lstStyle/>
          <a:p>
            <a:pPr algn="ctr" indent="0" marL="0">
              <a:buNone/>
            </a:pPr>
            <a:r>
              <a:rPr lang="en-US" sz="6800" b="1" dirty="0">
                <a:solidFill>
                  <a:srgbClr val="FF6B35"/>
                </a:solidFill>
                <a:latin typeface="Calibri" pitchFamily="34" charset="0"/>
                <a:ea typeface="Calibri" pitchFamily="34" charset="-122"/>
                <a:cs typeface="Calibri" pitchFamily="34" charset="-120"/>
              </a:rPr>
              <a:t>Questions ?</a:t>
            </a:r>
            <a:endParaRPr lang="en-US" sz="6800" dirty="0"/>
          </a:p>
        </p:txBody>
      </p:sp>
      <p:sp>
        <p:nvSpPr>
          <p:cNvPr id="6" name="Text 4"/>
          <p:cNvSpPr/>
          <p:nvPr/>
        </p:nvSpPr>
        <p:spPr>
          <a:xfrm>
            <a:off x="457200" y="4160520"/>
            <a:ext cx="8229600" cy="320040"/>
          </a:xfrm>
          <a:prstGeom prst="rect">
            <a:avLst/>
          </a:prstGeom>
          <a:noFill/>
          <a:ln/>
        </p:spPr>
        <p:txBody>
          <a:bodyPr wrap="square" lIns="0" tIns="0" rIns="0" bIns="0" rtlCol="0" anchor="ctr"/>
          <a:lstStyle/>
          <a:p>
            <a:pPr algn="ctr" indent="0" marL="0">
              <a:buNone/>
            </a:pPr>
            <a:r>
              <a:rPr lang="en-US" sz="1200" dirty="0">
                <a:solidFill>
                  <a:srgbClr val="9CA3AF"/>
                </a:solidFill>
                <a:latin typeface="Calibri" pitchFamily="34" charset="0"/>
                <a:ea typeface="Calibri" pitchFamily="34" charset="-122"/>
                <a:cs typeface="Calibri" pitchFamily="34" charset="-120"/>
              </a:rPr>
              <a:t>Ibtihel Abdellaoui  ·  ibtihelabdellaoui75@gmail.com</a:t>
            </a:r>
            <a:endParaRPr lang="en-US" sz="1200" dirty="0"/>
          </a:p>
        </p:txBody>
      </p:sp>
      <p:sp>
        <p:nvSpPr>
          <p:cNvPr id="7" name="Text 5"/>
          <p:cNvSpPr/>
          <p:nvPr/>
        </p:nvSpPr>
        <p:spPr>
          <a:xfrm>
            <a:off x="457200" y="4498848"/>
            <a:ext cx="8229600" cy="256032"/>
          </a:xfrm>
          <a:prstGeom prst="rect">
            <a:avLst/>
          </a:prstGeom>
          <a:noFill/>
          <a:ln/>
        </p:spPr>
        <p:txBody>
          <a:bodyPr wrap="square" lIns="0" tIns="0" rIns="0" bIns="0" rtlCol="0" anchor="ctr"/>
          <a:lstStyle/>
          <a:p>
            <a:pPr algn="ctr" indent="0" marL="0">
              <a:buNone/>
            </a:pPr>
            <a:r>
              <a:rPr lang="en-US" sz="1000" dirty="0">
                <a:solidFill>
                  <a:srgbClr val="374151"/>
                </a:solidFill>
                <a:latin typeface="Calibri" pitchFamily="34" charset="0"/>
                <a:ea typeface="Calibri" pitchFamily="34" charset="-122"/>
                <a:cs typeface="Calibri" pitchFamily="34" charset="-120"/>
              </a:rPr>
              <a:t>ESPRIT  ·  SIMAC  ·  CETUD  ·  2024–2025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TransportDakar — Soutenance PFE</dc:title>
  <dc:subject>PptxGenJS Presentation</dc:subject>
  <dc:creator>Ibtihel Abdellaoui</dc:creator>
  <cp:lastModifiedBy>Ibtihel Abdellaoui</cp:lastModifiedBy>
  <cp:revision>1</cp:revision>
  <dcterms:created xsi:type="dcterms:W3CDTF">2026-06-30T20:43:28Z</dcterms:created>
  <dcterms:modified xsi:type="dcterms:W3CDTF">2026-06-30T20:43:28Z</dcterms:modified>
</cp:coreProperties>
</file>